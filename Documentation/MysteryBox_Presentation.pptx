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76" r:id="rId20"/>
    <p:sldId id="277"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88FCDF7-4E71-0615-ABC0-EC910F2B5B86}">
          <p14:sldIdLst>
            <p14:sldId id="256"/>
            <p14:sldId id="257"/>
            <p14:sldId id="258"/>
            <p14:sldId id="259"/>
            <p14:sldId id="260"/>
          </p14:sldIdLst>
        </p14:section>
        <p14:section name="The Game" id="{F18E9317-F0E1-E206-F3BB-11C4C5AC0771}">
          <p14:sldIdLst>
            <p14:sldId id="261"/>
            <p14:sldId id="262"/>
            <p14:sldId id="263"/>
            <p14:sldId id="264"/>
            <p14:sldId id="265"/>
          </p14:sldIdLst>
        </p14:section>
        <p14:section name="Implementation" id="{E2C0D7AE-2AB3-0CE1-7AFC-B8AE6407596F}">
          <p14:sldIdLst>
            <p14:sldId id="266"/>
            <p14:sldId id="267"/>
            <p14:sldId id="268"/>
            <p14:sldId id="269"/>
          </p14:sldIdLst>
        </p14:section>
        <p14:section name="Results" id="{08D61E6F-B530-B1B1-D57D-382E2510AAE1}">
          <p14:sldIdLst>
            <p14:sldId id="270"/>
            <p14:sldId id="271"/>
            <p14:sldId id="272"/>
          </p14:sldIdLst>
        </p14:section>
        <p14:section name="Run and Conclusion" id="{4127841D-D94C-AC52-A753-D85974299628}">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1D2140"/>
                </a:solidFill>
                <a:latin typeface="+mn-lt"/>
              </a:defRPr>
            </a:pPr>
            <a:r>
              <a:rPr lang="en-IN" sz="1600" b="0" i="0" u="none" strike="noStrike">
                <a:solidFill>
                  <a:srgbClr val="1D2140"/>
                </a:solidFill>
                <a:latin typeface="+mn-lt"/>
              </a:rPr>
              <a:t>Points for each event</a:t>
            </a:r>
          </a:p>
        </c:rich>
      </c:tx>
      <c:overlay val="0"/>
    </c:title>
    <c:autoTitleDeleted val="0"/>
    <c:plotArea>
      <c:layout/>
      <c:barChart>
        <c:barDir val="bar"/>
        <c:grouping val="clustered"/>
        <c:varyColors val="0"/>
        <c:ser>
          <c:idx val="0"/>
          <c:order val="0"/>
          <c:tx>
            <c:strRef>
              <c:f>Sheet1!$B$1</c:f>
              <c:strCache>
                <c:ptCount val="1"/>
                <c:pt idx="0">
                  <c:v>Points</c:v>
                </c:pt>
              </c:strCache>
            </c:strRef>
          </c:tx>
          <c:spPr>
            <a:solidFill>
              <a:srgbClr val="2B3157"/>
            </a:solidFill>
            <a:effectLst/>
          </c:spPr>
          <c:invertIfNegative val="0"/>
          <c:dPt>
            <c:idx val="0"/>
            <c:invertIfNegative val="0"/>
            <c:bubble3D val="0"/>
            <c:extLst>
              <c:ext xmlns:c16="http://schemas.microsoft.com/office/drawing/2014/chart" uri="{C3380CC4-5D6E-409C-BE32-E72D297353CC}">
                <c16:uniqueId val="{00000001-BDDD-46D9-902E-5553847B5106}"/>
              </c:ext>
            </c:extLst>
          </c:dPt>
          <c:dPt>
            <c:idx val="1"/>
            <c:invertIfNegative val="0"/>
            <c:bubble3D val="0"/>
            <c:extLst>
              <c:ext xmlns:c16="http://schemas.microsoft.com/office/drawing/2014/chart" uri="{C3380CC4-5D6E-409C-BE32-E72D297353CC}">
                <c16:uniqueId val="{00000003-BDDD-46D9-902E-5553847B5106}"/>
              </c:ext>
            </c:extLst>
          </c:dPt>
          <c:dPt>
            <c:idx val="2"/>
            <c:invertIfNegative val="0"/>
            <c:bubble3D val="0"/>
            <c:extLst>
              <c:ext xmlns:c16="http://schemas.microsoft.com/office/drawing/2014/chart" uri="{C3380CC4-5D6E-409C-BE32-E72D297353CC}">
                <c16:uniqueId val="{00000005-BDDD-46D9-902E-5553847B5106}"/>
              </c:ext>
            </c:extLst>
          </c:dPt>
          <c:dPt>
            <c:idx val="3"/>
            <c:invertIfNegative val="0"/>
            <c:bubble3D val="0"/>
            <c:extLst>
              <c:ext xmlns:c16="http://schemas.microsoft.com/office/drawing/2014/chart" uri="{C3380CC4-5D6E-409C-BE32-E72D297353CC}">
                <c16:uniqueId val="{00000007-BDDD-46D9-902E-5553847B5106}"/>
              </c:ext>
            </c:extLst>
          </c:dPt>
          <c:dPt>
            <c:idx val="4"/>
            <c:invertIfNegative val="0"/>
            <c:bubble3D val="0"/>
            <c:spPr>
              <a:solidFill>
                <a:srgbClr val="D6485A"/>
              </a:solidFill>
              <a:effectLst/>
            </c:spPr>
            <c:extLst>
              <c:ext xmlns:c16="http://schemas.microsoft.com/office/drawing/2014/chart" uri="{C3380CC4-5D6E-409C-BE32-E72D297353CC}">
                <c16:uniqueId val="{00000009-BDDD-46D9-902E-5553847B5106}"/>
              </c:ext>
            </c:extLst>
          </c:dPt>
          <c:dPt>
            <c:idx val="5"/>
            <c:invertIfNegative val="0"/>
            <c:bubble3D val="0"/>
            <c:spPr>
              <a:solidFill>
                <a:srgbClr val="D6485A"/>
              </a:solidFill>
              <a:effectLst/>
            </c:spPr>
            <c:extLst>
              <c:ext xmlns:c16="http://schemas.microsoft.com/office/drawing/2014/chart" uri="{C3380CC4-5D6E-409C-BE32-E72D297353CC}">
                <c16:uniqueId val="{0000000B-BDDD-46D9-902E-5553847B5106}"/>
              </c:ext>
            </c:extLst>
          </c:dPt>
          <c:dLbls>
            <c:numFmt formatCode="#,##0" sourceLinked="0"/>
            <c:spPr>
              <a:noFill/>
              <a:ln>
                <a:noFill/>
              </a:ln>
              <a:effectLst/>
            </c:spPr>
            <c:txPr>
              <a:bodyPr/>
              <a:lstStyle/>
              <a:p>
                <a:pPr>
                  <a:defRPr sz="1400" b="0" i="0" u="none" strike="noStrike">
                    <a:solidFill>
                      <a:srgbClr val="1D214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New clue</c:v>
                </c:pt>
                <c:pt idx="1">
                  <c:v>New statement</c:v>
                </c:pt>
                <c:pt idx="2">
                  <c:v>Correct culprit</c:v>
                </c:pt>
                <c:pt idx="3">
                  <c:v>Correct quiz answer</c:v>
                </c:pt>
                <c:pt idx="4">
                  <c:v>Hint</c:v>
                </c:pt>
                <c:pt idx="5">
                  <c:v>Wrong accusation (Medium)</c:v>
                </c:pt>
              </c:strCache>
            </c:strRef>
          </c:cat>
          <c:val>
            <c:numRef>
              <c:f>Sheet1!$B$2:$B$7</c:f>
              <c:numCache>
                <c:formatCode>General</c:formatCode>
                <c:ptCount val="6"/>
                <c:pt idx="0">
                  <c:v>10</c:v>
                </c:pt>
                <c:pt idx="1">
                  <c:v>5</c:v>
                </c:pt>
                <c:pt idx="2">
                  <c:v>50</c:v>
                </c:pt>
                <c:pt idx="3">
                  <c:v>10</c:v>
                </c:pt>
                <c:pt idx="4">
                  <c:v>-5</c:v>
                </c:pt>
                <c:pt idx="5">
                  <c:v>-25</c:v>
                </c:pt>
              </c:numCache>
            </c:numRef>
          </c:val>
          <c:extLst>
            <c:ext xmlns:c16="http://schemas.microsoft.com/office/drawing/2014/chart" uri="{C3380CC4-5D6E-409C-BE32-E72D297353CC}">
              <c16:uniqueId val="{0000000C-BDDD-46D9-902E-5553847B510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D2140"/>
                </a:solidFill>
                <a:latin typeface="+mn-lt"/>
              </a:defRPr>
            </a:pPr>
            <a:endParaRPr lang="en-US"/>
          </a:p>
        </c:txPr>
        <c:crossAx val="2094734552"/>
        <c:crosses val="autoZero"/>
        <c:auto val="1"/>
        <c:lblAlgn val="ctr"/>
        <c:lblOffset val="100"/>
        <c:noMultiLvlLbl val="1"/>
      </c:catAx>
      <c:valAx>
        <c:axId val="2094734552"/>
        <c:scaling>
          <c:orientation val="minMax"/>
          <c:max val="65"/>
          <c:min val="-35"/>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9703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will present my Python mini project called MysteryBox. It is an interactive detective game with four different cases, three difficulty levels and a hint system. The player investigates, collects clues, questions suspects and names the culprit. It is built with Python and the tkinter library.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of my presentation: the introduction, the cases and difficulty levels, how the game works, the code design, scoring and testing, how to run the game, future scope and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MysteryBox is a mystery-solving game. There are four different cases, three difficulty levels, 48 clues in total across all cases, and the player gets 20 actions per game. I chose this project because it lets me use many core Python concepts together in a fun way.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objectives from the project topic: present a mystery with suspects, let players collect clues and question suspects, use their choices to unlock new clues, and calculate a score based on correct deductions. I added extra features: four cases, three difficulty levels and a hint system.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Python 3 as the language. For the window I used tkinter, which comes built into Python so nothing extra is needed. The random module is used to pick random questions and hints. The concepts from the topic are dictionaries, functions, loops, conditions and score tracking, and I also use lists.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game has four complete cases: the Missing Blue Diamond, the Stolen Painting, the Leaked Exam Paper and the Night Train Necklace. The player picks a case from a menu. Each case has its own story, 4 or 5 suspects, 5 places to search, 11 to 13 clues and a pool of final questions. All the case data is stored in dictionaries.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case as an example. During a dinner party at Rose House, the Blue Diamond is stolen from the safe in the study. The player is Detective Sam. There are four suspects: Tom the butler, Anna the niece, Leo the chef and Dr. Ray the family doctor. Only one is the real thief.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game flow. The player first chooses a case and a difficulty level. Then they search places, question suspects and check the notebook. A hint can be used but costs 5 points. When ready, they make an accusation. If the culprit is correct, the player answers final questions and gets a rank. The player has 20 actions. A wrong accusation ends the game, and when actions run out the player must accuse.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player can choose Easy, Medium or Hard. All levels give 20 actions. Easy gives 3 hints, 3 final questions and a small penalty of 10 for a wrong accusation. Medium gives 1 hint, 5 questions and a penalty of 25. Hard gives no hints, 7 questions, a penalty of 40, and every wasted move costs one extra action. The speed bonus per unused action also grows with difficulty. All these numbers are stored in a DIFFICULTY dictionary, so changing a level only means editing numbers.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game, shown for the Diamond case. Clues are not all available at the start. For example, you must first find the safe clue, then the glove. After that Tom talks about gloves, and then tells you that Dr. Ray needs money. Only then does the library desk reveal the gambling papers. Each clue has a requires list that controls this order. I tested that every clue in all four cases can be reached.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divided into five simple parts, all in one file. First the game data in dictionaries: all cases and the difficulty levels. Second the game state dictionary which tracks the score, actions and hints. Third the functions with the game logic. Fourth the window built with tkinter. And fifth the start of the game with the main loop.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functions. requirements_met checks whether a clue can be unlocked. search_location and question_suspect are the two main player actions. use_hint helps the player. build_buttons and on_setting_change make the game switch between cases and levels. check_accusation handles the final accusation and scoring. start_game resets everything for a new game.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each Python concept with a real line from my code. Dictionaries store the data and the score. Functions break the game into small parts. Loops search through clues and create buttons. Conditions decide what happens. Lists and the random module pick hints and questions. And the score changes with every action.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code. requirements_met loops through the list of required clues and returns False if any is missing. In search_location, we loop through all clues of the chosen case and pick the first one that is in this place, not yet found, and whose requirements are met. That is how the unlock system works with only simple loops and conditions. The same check is also used by the hint function.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tracked in one variable. A new clue gives 10 points and a new statement 5. A correct culprit gives 50 and each correct quiz answer 10. A hint costs 5 points. A wrong accusation costs 10, 25 or 40 points depending on the level. Unused actions give a speed bonus. At the end the score becomes a rank from Rookie to Legendary Detective, and the score needed is higher on harder levels.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of the game. On the left the Diamond case on Medium level, with the case menu, difficulty buttons, hint button, live score, the case feed and the detective's notebook. On the right one of the final questions with shuffled answers. The other cases, like the Night Train case, use the same screen.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the main situations: locked clues, clue chains, the extra penalty on Hard, hints, wrong and correct accusations on all levels, switching cases, running out of actions and random questions. I also checked with a small program that every clue and statement in all four cases can be reached. All tests passed.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can be improved in many ways: saving high scores, adding pictures and sound, loading cases from files, a real timer, a two-player mode and a random culprit each game. More cases and difficulty levels are already done.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 complete detective game in one Python file with a clean window, four cases, three difficulty levels and a hint system. I practised dictionaries, lists, functions, loops, conditions and score tracking, and learned to build a GUI and test a program. All four objectives are achieved and all test cases passed.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any questions or show a live demo of the game.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583680" cy="1371600"/>
          </a:xfrm>
          <a:prstGeom prst="rect">
            <a:avLst/>
          </a:prstGeom>
          <a:noFill/>
          <a:ln/>
        </p:spPr>
        <p:txBody>
          <a:bodyPr wrap="square" rtlCol="0"/>
          <a:lstStyle>
            <a:lvl1pPr marL="0" indent="0" algn="l">
              <a:buNone/>
              <a:defRPr lang="en-US" sz="6400" b="1" dirty="0">
                <a:solidFill>
                  <a:schemeClr val="bg1"/>
                </a:solidFill>
              </a:defRPr>
            </a:lvl1pPr>
          </a:lstStyle>
          <a:p>
            <a:pPr marL="0" indent="0" algn="l">
              <a:buNone/>
            </a:pPr>
            <a:endParaRPr lang="en-US" sz="6400" dirty="0"/>
          </a:p>
        </p:txBody>
      </p:sp>
      <p:sp>
        <p:nvSpPr>
          <p:cNvPr id="3" name="Text 0"/>
          <p:cNvSpPr>
            <a:spLocks noGrp="1"/>
          </p:cNvSpPr>
          <p:nvPr>
            <p:ph type="body" idx="101" hasCustomPrompt="1"/>
          </p:nvPr>
        </p:nvSpPr>
        <p:spPr>
          <a:xfrm>
            <a:off x="731520" y="3246120"/>
            <a:ext cx="6400800" cy="822960"/>
          </a:xfrm>
          <a:prstGeom prst="rect">
            <a:avLst/>
          </a:prstGeom>
          <a:noFill/>
          <a:ln/>
        </p:spPr>
        <p:txBody>
          <a:bodyPr wrap="square" rtlCol="0"/>
          <a:lstStyle>
            <a:lvl1pPr marL="0" indent="0" algn="l">
              <a:buNone/>
              <a:defRPr lang="en-US" sz="2800" dirty="0">
                <a:solidFill>
                  <a:schemeClr val="accent1"/>
                </a:solidFill>
              </a:defRPr>
            </a:lvl1pPr>
          </a:lstStyle>
          <a:p>
            <a:pPr marL="0" indent="0" algn="l">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MysteryBox  |  Python Mini Project</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MysteryBox  |  Python Mini Project</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12"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0.png"/><Relationship Id="rId5" Type="http://schemas.openxmlformats.org/officeDocument/2006/relationships/image" Target="../media/image1.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35.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94807" y="532638"/>
            <a:ext cx="6583680" cy="1371600"/>
          </a:xfrm>
          <a:prstGeom prst="rect">
            <a:avLst/>
          </a:prstGeom>
          <a:noFill/>
          <a:ln/>
        </p:spPr>
        <p:txBody>
          <a:bodyPr wrap="square" lIns="0" tIns="0" rIns="0" bIns="0" rtlCol="0" anchor="b"/>
          <a:lstStyle/>
          <a:p>
            <a:pPr marL="0" indent="0" algn="l">
              <a:buNone/>
            </a:pPr>
            <a:r>
              <a:rPr lang="en-US" sz="6400" b="1" dirty="0">
                <a:solidFill>
                  <a:schemeClr val="bg1"/>
                </a:solidFill>
              </a:rPr>
              <a:t>MysteryBox</a:t>
            </a:r>
            <a:endParaRPr lang="en-US" sz="6400" dirty="0"/>
          </a:p>
        </p:txBody>
      </p:sp>
      <p:sp>
        <p:nvSpPr>
          <p:cNvPr id="3" name="Text 0"/>
          <p:cNvSpPr>
            <a:spLocks noGrp="1"/>
          </p:cNvSpPr>
          <p:nvPr>
            <p:ph type="body" idx="101" hasCustomPrompt="1"/>
          </p:nvPr>
        </p:nvSpPr>
        <p:spPr>
          <a:xfrm>
            <a:off x="286247" y="2114948"/>
            <a:ext cx="6400800" cy="822960"/>
          </a:xfrm>
          <a:prstGeom prst="rect">
            <a:avLst/>
          </a:prstGeom>
          <a:noFill/>
          <a:ln/>
        </p:spPr>
        <p:txBody>
          <a:bodyPr wrap="square" lIns="0" tIns="0" rIns="0" bIns="0" rtlCol="0" anchor="t"/>
          <a:lstStyle/>
          <a:p>
            <a:pPr marL="0" indent="0" algn="l">
              <a:buNone/>
            </a:pPr>
            <a:r>
              <a:rPr lang="en-US" sz="2800" dirty="0">
                <a:solidFill>
                  <a:schemeClr val="accent1"/>
                </a:solidFill>
              </a:rPr>
              <a:t>Interactive Detective Game</a:t>
            </a:r>
            <a:endParaRPr lang="en-US" sz="2800" dirty="0"/>
          </a:p>
        </p:txBody>
      </p:sp>
      <p:sp>
        <p:nvSpPr>
          <p:cNvPr id="4" name="Project line"/>
          <p:cNvSpPr txBox="1"/>
          <p:nvPr/>
        </p:nvSpPr>
        <p:spPr>
          <a:xfrm>
            <a:off x="286247" y="3589816"/>
            <a:ext cx="6400800" cy="365760"/>
          </a:xfrm>
          <a:prstGeom prst="rect">
            <a:avLst/>
          </a:prstGeom>
          <a:noFill/>
          <a:ln/>
        </p:spPr>
        <p:txBody>
          <a:bodyPr wrap="square" lIns="0" tIns="0" rIns="0" bIns="0" rtlCol="0" anchor="t"/>
          <a:lstStyle/>
          <a:p>
            <a:pPr marL="0" indent="0">
              <a:buNone/>
            </a:pPr>
            <a:r>
              <a:rPr lang="en-US" sz="1800" dirty="0">
                <a:solidFill>
                  <a:schemeClr val="bg2"/>
                </a:solidFill>
              </a:rPr>
              <a:t>Python Mini </a:t>
            </a:r>
            <a:r>
              <a:rPr lang="en-US" sz="1800">
                <a:solidFill>
                  <a:schemeClr val="bg2"/>
                </a:solidFill>
              </a:rPr>
              <a:t>Project  </a:t>
            </a:r>
            <a:endParaRPr lang="en-US" sz="1800" dirty="0"/>
          </a:p>
        </p:txBody>
      </p:sp>
      <p:sp>
        <p:nvSpPr>
          <p:cNvPr id="5" name="Presenter line"/>
          <p:cNvSpPr txBox="1"/>
          <p:nvPr/>
        </p:nvSpPr>
        <p:spPr>
          <a:xfrm>
            <a:off x="286247" y="4703990"/>
            <a:ext cx="6766560" cy="1621372"/>
          </a:xfrm>
          <a:prstGeom prst="rect">
            <a:avLst/>
          </a:prstGeom>
          <a:noFill/>
          <a:ln/>
        </p:spPr>
        <p:txBody>
          <a:bodyPr wrap="square" lIns="0" tIns="0" rIns="0" bIns="0" rtlCol="0" anchor="t"/>
          <a:lstStyle/>
          <a:p>
            <a:pPr marL="0" indent="0">
              <a:buNone/>
            </a:pPr>
            <a:r>
              <a:rPr lang="en-US" sz="1600" dirty="0">
                <a:solidFill>
                  <a:schemeClr val="accent6"/>
                </a:solidFill>
              </a:rPr>
              <a:t>Presented by</a:t>
            </a:r>
            <a:r>
              <a:rPr lang="en-US" sz="1600">
                <a:solidFill>
                  <a:schemeClr val="accent6"/>
                </a:solidFill>
              </a:rPr>
              <a:t>: </a:t>
            </a:r>
          </a:p>
          <a:p>
            <a:pPr marL="0" indent="0">
              <a:buNone/>
            </a:pPr>
            <a:r>
              <a:rPr lang="en-US" sz="1600">
                <a:solidFill>
                  <a:schemeClr val="accent6"/>
                </a:solidFill>
              </a:rPr>
              <a:t>Name:Megha Suthar</a:t>
            </a:r>
          </a:p>
          <a:p>
            <a:pPr marL="0" indent="0">
              <a:buNone/>
            </a:pPr>
            <a:r>
              <a:rPr lang="en-US" sz="1600">
                <a:solidFill>
                  <a:schemeClr val="accent6"/>
                </a:solidFill>
              </a:rPr>
              <a:t>Enro.no.:12402080601082</a:t>
            </a:r>
          </a:p>
          <a:p>
            <a:pPr marL="0" indent="0">
              <a:buNone/>
            </a:pPr>
            <a:r>
              <a:rPr lang="en-US" sz="1600">
                <a:solidFill>
                  <a:schemeClr val="accent6"/>
                </a:solidFill>
              </a:rPr>
              <a:t>Class:IT-B</a:t>
            </a:r>
          </a:p>
          <a:p>
            <a:pPr marL="0" indent="0">
              <a:buNone/>
            </a:pPr>
            <a:r>
              <a:rPr lang="en-US" sz="1600">
                <a:solidFill>
                  <a:schemeClr val="accent6"/>
                </a:solidFill>
              </a:rPr>
              <a:t>Name:Vira Patel</a:t>
            </a:r>
          </a:p>
          <a:p>
            <a:pPr marL="0" indent="0">
              <a:buNone/>
            </a:pPr>
            <a:r>
              <a:rPr lang="en-US" sz="1600">
                <a:solidFill>
                  <a:schemeClr val="accent6"/>
                </a:solidFill>
              </a:rPr>
              <a:t>Enro.no.:12402080601151</a:t>
            </a:r>
            <a:endParaRPr lang="en-US" sz="1600" dirty="0"/>
          </a:p>
        </p:txBody>
      </p:sp>
      <p:sp>
        <p:nvSpPr>
          <p:cNvPr id="6" name="Hero circle"/>
          <p:cNvSpPr/>
          <p:nvPr/>
        </p:nvSpPr>
        <p:spPr>
          <a:xfrm>
            <a:off x="7589520" y="1234440"/>
            <a:ext cx="4114800" cy="4114800"/>
          </a:xfrm>
          <a:prstGeom prst="ellipse">
            <a:avLst/>
          </a:prstGeom>
          <a:solidFill>
            <a:schemeClr val="accent5"/>
          </a:solidFill>
          <a:ln/>
        </p:spPr>
      </p:sp>
      <p:pic>
        <p:nvPicPr>
          <p:cNvPr id="7" name="Hero magnifier" descr="preencoded.png"/>
          <p:cNvPicPr>
            <a:picLocks noChangeAspect="1"/>
          </p:cNvPicPr>
          <p:nvPr/>
        </p:nvPicPr>
        <p:blipFill>
          <a:blip r:embed="rId3"/>
          <a:stretch>
            <a:fillRect/>
          </a:stretch>
        </p:blipFill>
        <p:spPr>
          <a:xfrm>
            <a:off x="8732520" y="2377440"/>
            <a:ext cx="1828800" cy="1828800"/>
          </a:xfrm>
          <a:prstGeom prst="rect">
            <a:avLst/>
          </a:prstGeom>
        </p:spPr>
      </p:pic>
      <p:sp>
        <p:nvSpPr>
          <p:cNvPr id="8" name="Gem circle"/>
          <p:cNvSpPr/>
          <p:nvPr/>
        </p:nvSpPr>
        <p:spPr>
          <a:xfrm>
            <a:off x="10561320" y="731520"/>
            <a:ext cx="1051560" cy="1051560"/>
          </a:xfrm>
          <a:prstGeom prst="ellipse">
            <a:avLst/>
          </a:prstGeom>
          <a:solidFill>
            <a:schemeClr val="accent1"/>
          </a:solidFill>
          <a:ln/>
        </p:spPr>
      </p:sp>
      <p:pic>
        <p:nvPicPr>
          <p:cNvPr id="9" name="Gem icon" descr="preencoded.png"/>
          <p:cNvPicPr>
            <a:picLocks noChangeAspect="1"/>
          </p:cNvPicPr>
          <p:nvPr/>
        </p:nvPicPr>
        <p:blipFill>
          <a:blip r:embed="rId4"/>
          <a:stretch>
            <a:fillRect/>
          </a:stretch>
        </p:blipFill>
        <p:spPr>
          <a:xfrm>
            <a:off x="10881360" y="1051560"/>
            <a:ext cx="411480" cy="411480"/>
          </a:xfrm>
          <a:prstGeom prst="rect">
            <a:avLst/>
          </a:prstGeom>
        </p:spPr>
      </p:pic>
      <p:sp>
        <p:nvSpPr>
          <p:cNvPr id="10" name="Suspect circle"/>
          <p:cNvSpPr/>
          <p:nvPr/>
        </p:nvSpPr>
        <p:spPr>
          <a:xfrm>
            <a:off x="7406640" y="4983480"/>
            <a:ext cx="914400" cy="914400"/>
          </a:xfrm>
          <a:prstGeom prst="ellipse">
            <a:avLst/>
          </a:prstGeom>
          <a:solidFill>
            <a:schemeClr val="accent2"/>
          </a:solidFill>
          <a:ln/>
        </p:spPr>
      </p:sp>
      <p:pic>
        <p:nvPicPr>
          <p:cNvPr id="11" name="Suspect icon" descr="preencoded.png"/>
          <p:cNvPicPr>
            <a:picLocks noChangeAspect="1"/>
          </p:cNvPicPr>
          <p:nvPr/>
        </p:nvPicPr>
        <p:blipFill>
          <a:blip r:embed="rId5"/>
          <a:stretch>
            <a:fillRect/>
          </a:stretch>
        </p:blipFill>
        <p:spPr>
          <a:xfrm>
            <a:off x="7680960" y="525780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a:t>About</a:t>
            </a:r>
            <a:endParaRPr lang="en-US" sz="3600" dirty="0"/>
          </a:p>
        </p:txBody>
      </p:sp>
      <p:sp>
        <p:nvSpPr>
          <p:cNvPr id="3" name="Contents card 1"/>
          <p:cNvSpPr/>
          <p:nvPr/>
        </p:nvSpPr>
        <p:spPr>
          <a:xfrm>
            <a:off x="548640" y="1508760"/>
            <a:ext cx="2560320"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4" name="Contents number circle 1"/>
          <p:cNvSpPr/>
          <p:nvPr/>
        </p:nvSpPr>
        <p:spPr>
          <a:xfrm>
            <a:off x="777240" y="1737360"/>
            <a:ext cx="640080" cy="640080"/>
          </a:xfrm>
          <a:prstGeom prst="ellipse">
            <a:avLst/>
          </a:prstGeom>
          <a:solidFill>
            <a:schemeClr val="accent5"/>
          </a:solidFill>
          <a:ln/>
        </p:spPr>
      </p:sp>
      <p:sp>
        <p:nvSpPr>
          <p:cNvPr id="5" name="Contents number 1"/>
          <p:cNvSpPr txBox="1"/>
          <p:nvPr/>
        </p:nvSpPr>
        <p:spPr>
          <a:xfrm>
            <a:off x="777240" y="1737360"/>
            <a:ext cx="640080" cy="640080"/>
          </a:xfrm>
          <a:prstGeom prst="rect">
            <a:avLst/>
          </a:prstGeom>
          <a:noFill/>
          <a:ln/>
        </p:spPr>
        <p:txBody>
          <a:bodyPr wrap="square" lIns="0" tIns="0" rIns="0" bIns="0" rtlCol="0" anchor="ctr"/>
          <a:lstStyle/>
          <a:p>
            <a:pPr marL="0" indent="0" algn="ctr">
              <a:buNone/>
            </a:pPr>
            <a:r>
              <a:rPr lang="en-US" sz="2200" b="1" dirty="0">
                <a:solidFill>
                  <a:schemeClr val="accent1"/>
                </a:solidFill>
              </a:rPr>
              <a:t>1</a:t>
            </a:r>
            <a:endParaRPr lang="en-US" sz="2200" dirty="0"/>
          </a:p>
        </p:txBody>
      </p:sp>
      <p:sp>
        <p:nvSpPr>
          <p:cNvPr id="6" name="Contents title 1"/>
          <p:cNvSpPr txBox="1"/>
          <p:nvPr/>
        </p:nvSpPr>
        <p:spPr>
          <a:xfrm>
            <a:off x="777240" y="2514600"/>
            <a:ext cx="2103120" cy="365760"/>
          </a:xfrm>
          <a:prstGeom prst="rect">
            <a:avLst/>
          </a:prstGeom>
          <a:noFill/>
          <a:ln/>
        </p:spPr>
        <p:txBody>
          <a:bodyPr wrap="square" lIns="0" tIns="0" rIns="0" bIns="0" rtlCol="0" anchor="t"/>
          <a:lstStyle/>
          <a:p>
            <a:pPr marL="0" indent="0">
              <a:buNone/>
            </a:pPr>
            <a:r>
              <a:rPr lang="en-US" sz="1800" b="1" dirty="0">
                <a:solidFill>
                  <a:schemeClr val="tx2"/>
                </a:solidFill>
              </a:rPr>
              <a:t>Introduction</a:t>
            </a:r>
            <a:endParaRPr lang="en-US" sz="1800" dirty="0"/>
          </a:p>
        </p:txBody>
      </p:sp>
      <p:sp>
        <p:nvSpPr>
          <p:cNvPr id="7" name="Contents text 1"/>
          <p:cNvSpPr txBox="1"/>
          <p:nvPr/>
        </p:nvSpPr>
        <p:spPr>
          <a:xfrm>
            <a:off x="777240" y="2926080"/>
            <a:ext cx="2103120" cy="640080"/>
          </a:xfrm>
          <a:prstGeom prst="rect">
            <a:avLst/>
          </a:prstGeom>
          <a:noFill/>
          <a:ln/>
        </p:spPr>
        <p:txBody>
          <a:bodyPr wrap="square" lIns="0" tIns="0" rIns="0" bIns="0" rtlCol="0" anchor="t"/>
          <a:lstStyle/>
          <a:p>
            <a:pPr marL="0" indent="0">
              <a:buNone/>
            </a:pPr>
            <a:r>
              <a:rPr lang="en-US" sz="1400" dirty="0">
                <a:solidFill>
                  <a:schemeClr val="accent6"/>
                </a:solidFill>
              </a:rPr>
              <a:t>What the project is, its goals and tools</a:t>
            </a:r>
            <a:endParaRPr lang="en-US" sz="1400" dirty="0"/>
          </a:p>
        </p:txBody>
      </p:sp>
      <p:sp>
        <p:nvSpPr>
          <p:cNvPr id="8" name="Contents card 2"/>
          <p:cNvSpPr/>
          <p:nvPr/>
        </p:nvSpPr>
        <p:spPr>
          <a:xfrm>
            <a:off x="3383280" y="1508760"/>
            <a:ext cx="2560320"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9" name="Contents number circle 2"/>
          <p:cNvSpPr/>
          <p:nvPr/>
        </p:nvSpPr>
        <p:spPr>
          <a:xfrm>
            <a:off x="3611880" y="1737360"/>
            <a:ext cx="640080" cy="640080"/>
          </a:xfrm>
          <a:prstGeom prst="ellipse">
            <a:avLst/>
          </a:prstGeom>
          <a:solidFill>
            <a:schemeClr val="accent5"/>
          </a:solidFill>
          <a:ln/>
        </p:spPr>
      </p:sp>
      <p:sp>
        <p:nvSpPr>
          <p:cNvPr id="10" name="Contents number 2"/>
          <p:cNvSpPr txBox="1"/>
          <p:nvPr/>
        </p:nvSpPr>
        <p:spPr>
          <a:xfrm>
            <a:off x="3611880" y="1737360"/>
            <a:ext cx="640080" cy="640080"/>
          </a:xfrm>
          <a:prstGeom prst="rect">
            <a:avLst/>
          </a:prstGeom>
          <a:noFill/>
          <a:ln/>
        </p:spPr>
        <p:txBody>
          <a:bodyPr wrap="square" lIns="0" tIns="0" rIns="0" bIns="0" rtlCol="0" anchor="ctr"/>
          <a:lstStyle/>
          <a:p>
            <a:pPr marL="0" indent="0" algn="ctr">
              <a:buNone/>
            </a:pPr>
            <a:r>
              <a:rPr lang="en-US" sz="2200" b="1" dirty="0">
                <a:solidFill>
                  <a:schemeClr val="accent1"/>
                </a:solidFill>
              </a:rPr>
              <a:t>2</a:t>
            </a:r>
            <a:endParaRPr lang="en-US" sz="2200" dirty="0"/>
          </a:p>
        </p:txBody>
      </p:sp>
      <p:sp>
        <p:nvSpPr>
          <p:cNvPr id="11" name="Contents title 2"/>
          <p:cNvSpPr txBox="1"/>
          <p:nvPr/>
        </p:nvSpPr>
        <p:spPr>
          <a:xfrm>
            <a:off x="3611880" y="2514600"/>
            <a:ext cx="2103120" cy="365760"/>
          </a:xfrm>
          <a:prstGeom prst="rect">
            <a:avLst/>
          </a:prstGeom>
          <a:noFill/>
          <a:ln/>
        </p:spPr>
        <p:txBody>
          <a:bodyPr wrap="square" lIns="0" tIns="0" rIns="0" bIns="0" rtlCol="0" anchor="t"/>
          <a:lstStyle/>
          <a:p>
            <a:pPr marL="0" indent="0">
              <a:buNone/>
            </a:pPr>
            <a:r>
              <a:rPr lang="en-US" sz="1800" b="1" dirty="0">
                <a:solidFill>
                  <a:schemeClr val="tx2"/>
                </a:solidFill>
              </a:rPr>
              <a:t>Cases and Levels</a:t>
            </a:r>
            <a:endParaRPr lang="en-US" sz="1800" dirty="0"/>
          </a:p>
        </p:txBody>
      </p:sp>
      <p:sp>
        <p:nvSpPr>
          <p:cNvPr id="12" name="Contents text 2"/>
          <p:cNvSpPr txBox="1"/>
          <p:nvPr/>
        </p:nvSpPr>
        <p:spPr>
          <a:xfrm>
            <a:off x="3611880" y="2926080"/>
            <a:ext cx="2103120" cy="640080"/>
          </a:xfrm>
          <a:prstGeom prst="rect">
            <a:avLst/>
          </a:prstGeom>
          <a:noFill/>
          <a:ln/>
        </p:spPr>
        <p:txBody>
          <a:bodyPr wrap="square" lIns="0" tIns="0" rIns="0" bIns="0" rtlCol="0" anchor="t"/>
          <a:lstStyle/>
          <a:p>
            <a:pPr marL="0" indent="0">
              <a:buNone/>
            </a:pPr>
            <a:r>
              <a:rPr lang="en-US" sz="1400" dirty="0">
                <a:solidFill>
                  <a:schemeClr val="accent6"/>
                </a:solidFill>
              </a:rPr>
              <a:t>Four mysteries and three difficulty levels</a:t>
            </a:r>
            <a:endParaRPr lang="en-US" sz="1400" dirty="0"/>
          </a:p>
        </p:txBody>
      </p:sp>
      <p:sp>
        <p:nvSpPr>
          <p:cNvPr id="13" name="Contents card 3"/>
          <p:cNvSpPr/>
          <p:nvPr/>
        </p:nvSpPr>
        <p:spPr>
          <a:xfrm>
            <a:off x="6217920" y="1508760"/>
            <a:ext cx="2560320"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14" name="Contents number circle 3"/>
          <p:cNvSpPr/>
          <p:nvPr/>
        </p:nvSpPr>
        <p:spPr>
          <a:xfrm>
            <a:off x="6446520" y="1737360"/>
            <a:ext cx="640080" cy="640080"/>
          </a:xfrm>
          <a:prstGeom prst="ellipse">
            <a:avLst/>
          </a:prstGeom>
          <a:solidFill>
            <a:schemeClr val="accent5"/>
          </a:solidFill>
          <a:ln/>
        </p:spPr>
      </p:sp>
      <p:sp>
        <p:nvSpPr>
          <p:cNvPr id="15" name="Contents number 3"/>
          <p:cNvSpPr txBox="1"/>
          <p:nvPr/>
        </p:nvSpPr>
        <p:spPr>
          <a:xfrm>
            <a:off x="6446520" y="1737360"/>
            <a:ext cx="640080" cy="640080"/>
          </a:xfrm>
          <a:prstGeom prst="rect">
            <a:avLst/>
          </a:prstGeom>
          <a:noFill/>
          <a:ln/>
        </p:spPr>
        <p:txBody>
          <a:bodyPr wrap="square" lIns="0" tIns="0" rIns="0" bIns="0" rtlCol="0" anchor="ctr"/>
          <a:lstStyle/>
          <a:p>
            <a:pPr marL="0" indent="0" algn="ctr">
              <a:buNone/>
            </a:pPr>
            <a:r>
              <a:rPr lang="en-US" sz="2200" b="1" dirty="0">
                <a:solidFill>
                  <a:schemeClr val="accent1"/>
                </a:solidFill>
              </a:rPr>
              <a:t>3</a:t>
            </a:r>
            <a:endParaRPr lang="en-US" sz="2200" dirty="0"/>
          </a:p>
        </p:txBody>
      </p:sp>
      <p:sp>
        <p:nvSpPr>
          <p:cNvPr id="16" name="Contents title 3"/>
          <p:cNvSpPr txBox="1"/>
          <p:nvPr/>
        </p:nvSpPr>
        <p:spPr>
          <a:xfrm>
            <a:off x="6446520" y="2514600"/>
            <a:ext cx="2103120" cy="365760"/>
          </a:xfrm>
          <a:prstGeom prst="rect">
            <a:avLst/>
          </a:prstGeom>
          <a:noFill/>
          <a:ln/>
        </p:spPr>
        <p:txBody>
          <a:bodyPr wrap="square" lIns="0" tIns="0" rIns="0" bIns="0" rtlCol="0" anchor="t"/>
          <a:lstStyle/>
          <a:p>
            <a:pPr marL="0" indent="0">
              <a:buNone/>
            </a:pPr>
            <a:r>
              <a:rPr lang="en-US" sz="1800" b="1" dirty="0">
                <a:solidFill>
                  <a:schemeClr val="tx2"/>
                </a:solidFill>
              </a:rPr>
              <a:t>Gameplay</a:t>
            </a:r>
            <a:endParaRPr lang="en-US" sz="1800" dirty="0"/>
          </a:p>
        </p:txBody>
      </p:sp>
      <p:sp>
        <p:nvSpPr>
          <p:cNvPr id="17" name="Contents text 3"/>
          <p:cNvSpPr txBox="1"/>
          <p:nvPr/>
        </p:nvSpPr>
        <p:spPr>
          <a:xfrm>
            <a:off x="6446520" y="2926080"/>
            <a:ext cx="2103120" cy="640080"/>
          </a:xfrm>
          <a:prstGeom prst="rect">
            <a:avLst/>
          </a:prstGeom>
          <a:noFill/>
          <a:ln/>
        </p:spPr>
        <p:txBody>
          <a:bodyPr wrap="square" lIns="0" tIns="0" rIns="0" bIns="0" rtlCol="0" anchor="t"/>
          <a:lstStyle/>
          <a:p>
            <a:pPr marL="0" indent="0">
              <a:buNone/>
            </a:pPr>
            <a:r>
              <a:rPr lang="en-US" sz="1400" dirty="0">
                <a:solidFill>
                  <a:schemeClr val="accent6"/>
                </a:solidFill>
              </a:rPr>
              <a:t>Game flow and the clue unlock system</a:t>
            </a:r>
            <a:endParaRPr lang="en-US" sz="1400" dirty="0"/>
          </a:p>
        </p:txBody>
      </p:sp>
      <p:sp>
        <p:nvSpPr>
          <p:cNvPr id="18" name="Contents card 4"/>
          <p:cNvSpPr/>
          <p:nvPr/>
        </p:nvSpPr>
        <p:spPr>
          <a:xfrm>
            <a:off x="9052560" y="1508760"/>
            <a:ext cx="2560320"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19" name="Contents number circle 4"/>
          <p:cNvSpPr/>
          <p:nvPr/>
        </p:nvSpPr>
        <p:spPr>
          <a:xfrm>
            <a:off x="9281160" y="1737360"/>
            <a:ext cx="640080" cy="640080"/>
          </a:xfrm>
          <a:prstGeom prst="ellipse">
            <a:avLst/>
          </a:prstGeom>
          <a:solidFill>
            <a:schemeClr val="accent5"/>
          </a:solidFill>
          <a:ln/>
        </p:spPr>
      </p:sp>
      <p:sp>
        <p:nvSpPr>
          <p:cNvPr id="20" name="Contents number 4"/>
          <p:cNvSpPr txBox="1"/>
          <p:nvPr/>
        </p:nvSpPr>
        <p:spPr>
          <a:xfrm>
            <a:off x="9281160" y="1737360"/>
            <a:ext cx="640080" cy="640080"/>
          </a:xfrm>
          <a:prstGeom prst="rect">
            <a:avLst/>
          </a:prstGeom>
          <a:noFill/>
          <a:ln/>
        </p:spPr>
        <p:txBody>
          <a:bodyPr wrap="square" lIns="0" tIns="0" rIns="0" bIns="0" rtlCol="0" anchor="ctr"/>
          <a:lstStyle/>
          <a:p>
            <a:pPr marL="0" indent="0" algn="ctr">
              <a:buNone/>
            </a:pPr>
            <a:r>
              <a:rPr lang="en-US" sz="2200" b="1" dirty="0">
                <a:solidFill>
                  <a:schemeClr val="accent1"/>
                </a:solidFill>
              </a:rPr>
              <a:t>4</a:t>
            </a:r>
            <a:endParaRPr lang="en-US" sz="2200" dirty="0"/>
          </a:p>
        </p:txBody>
      </p:sp>
      <p:sp>
        <p:nvSpPr>
          <p:cNvPr id="21" name="Contents title 4"/>
          <p:cNvSpPr txBox="1"/>
          <p:nvPr/>
        </p:nvSpPr>
        <p:spPr>
          <a:xfrm>
            <a:off x="9281160" y="2514600"/>
            <a:ext cx="2103120" cy="365760"/>
          </a:xfrm>
          <a:prstGeom prst="rect">
            <a:avLst/>
          </a:prstGeom>
          <a:noFill/>
          <a:ln/>
        </p:spPr>
        <p:txBody>
          <a:bodyPr wrap="square" lIns="0" tIns="0" rIns="0" bIns="0" rtlCol="0" anchor="t"/>
          <a:lstStyle/>
          <a:p>
            <a:pPr marL="0" indent="0">
              <a:buNone/>
            </a:pPr>
            <a:r>
              <a:rPr lang="en-US" sz="1800" b="1" dirty="0">
                <a:solidFill>
                  <a:schemeClr val="tx2"/>
                </a:solidFill>
              </a:rPr>
              <a:t>Code Design</a:t>
            </a:r>
            <a:endParaRPr lang="en-US" sz="1800" dirty="0"/>
          </a:p>
        </p:txBody>
      </p:sp>
      <p:sp>
        <p:nvSpPr>
          <p:cNvPr id="22" name="Contents text 4"/>
          <p:cNvSpPr txBox="1"/>
          <p:nvPr/>
        </p:nvSpPr>
        <p:spPr>
          <a:xfrm>
            <a:off x="9281160" y="2926080"/>
            <a:ext cx="2103120" cy="640080"/>
          </a:xfrm>
          <a:prstGeom prst="rect">
            <a:avLst/>
          </a:prstGeom>
          <a:noFill/>
          <a:ln/>
        </p:spPr>
        <p:txBody>
          <a:bodyPr wrap="square" lIns="0" tIns="0" rIns="0" bIns="0" rtlCol="0" anchor="t"/>
          <a:lstStyle/>
          <a:p>
            <a:pPr marL="0" indent="0">
              <a:buNone/>
            </a:pPr>
            <a:r>
              <a:rPr lang="en-US" sz="1400" dirty="0">
                <a:solidFill>
                  <a:schemeClr val="accent6"/>
                </a:solidFill>
              </a:rPr>
              <a:t>Program structure and key functions</a:t>
            </a:r>
            <a:endParaRPr lang="en-US" sz="1400" dirty="0"/>
          </a:p>
        </p:txBody>
      </p:sp>
      <p:sp>
        <p:nvSpPr>
          <p:cNvPr id="23" name="Contents card 5"/>
          <p:cNvSpPr/>
          <p:nvPr/>
        </p:nvSpPr>
        <p:spPr>
          <a:xfrm>
            <a:off x="548640" y="3977640"/>
            <a:ext cx="2560320"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24" name="Contents number circle 5"/>
          <p:cNvSpPr/>
          <p:nvPr/>
        </p:nvSpPr>
        <p:spPr>
          <a:xfrm>
            <a:off x="777240" y="4206240"/>
            <a:ext cx="640080" cy="640080"/>
          </a:xfrm>
          <a:prstGeom prst="ellipse">
            <a:avLst/>
          </a:prstGeom>
          <a:solidFill>
            <a:schemeClr val="accent5"/>
          </a:solidFill>
          <a:ln/>
        </p:spPr>
      </p:sp>
      <p:sp>
        <p:nvSpPr>
          <p:cNvPr id="25" name="Contents number 5"/>
          <p:cNvSpPr txBox="1"/>
          <p:nvPr/>
        </p:nvSpPr>
        <p:spPr>
          <a:xfrm>
            <a:off x="777240" y="4206240"/>
            <a:ext cx="640080" cy="640080"/>
          </a:xfrm>
          <a:prstGeom prst="rect">
            <a:avLst/>
          </a:prstGeom>
          <a:noFill/>
          <a:ln/>
        </p:spPr>
        <p:txBody>
          <a:bodyPr wrap="square" lIns="0" tIns="0" rIns="0" bIns="0" rtlCol="0" anchor="ctr"/>
          <a:lstStyle/>
          <a:p>
            <a:pPr marL="0" indent="0" algn="ctr">
              <a:buNone/>
            </a:pPr>
            <a:r>
              <a:rPr lang="en-US" sz="2200" b="1" dirty="0">
                <a:solidFill>
                  <a:schemeClr val="accent1"/>
                </a:solidFill>
              </a:rPr>
              <a:t>5</a:t>
            </a:r>
            <a:endParaRPr lang="en-US" sz="2200" dirty="0"/>
          </a:p>
        </p:txBody>
      </p:sp>
      <p:sp>
        <p:nvSpPr>
          <p:cNvPr id="26" name="Contents title 5"/>
          <p:cNvSpPr txBox="1"/>
          <p:nvPr/>
        </p:nvSpPr>
        <p:spPr>
          <a:xfrm>
            <a:off x="777240" y="4983480"/>
            <a:ext cx="2103120" cy="365760"/>
          </a:xfrm>
          <a:prstGeom prst="rect">
            <a:avLst/>
          </a:prstGeom>
          <a:noFill/>
          <a:ln/>
        </p:spPr>
        <p:txBody>
          <a:bodyPr wrap="square" lIns="0" tIns="0" rIns="0" bIns="0" rtlCol="0" anchor="t"/>
          <a:lstStyle/>
          <a:p>
            <a:pPr marL="0" indent="0">
              <a:buNone/>
            </a:pPr>
            <a:r>
              <a:rPr lang="en-US" sz="1800" b="1" dirty="0">
                <a:solidFill>
                  <a:schemeClr val="tx2"/>
                </a:solidFill>
              </a:rPr>
              <a:t>Scoring and Testing</a:t>
            </a:r>
            <a:endParaRPr lang="en-US" sz="1800" dirty="0"/>
          </a:p>
        </p:txBody>
      </p:sp>
      <p:sp>
        <p:nvSpPr>
          <p:cNvPr id="27" name="Contents text 5"/>
          <p:cNvSpPr txBox="1"/>
          <p:nvPr/>
        </p:nvSpPr>
        <p:spPr>
          <a:xfrm>
            <a:off x="777240" y="5394960"/>
            <a:ext cx="2103120" cy="640080"/>
          </a:xfrm>
          <a:prstGeom prst="rect">
            <a:avLst/>
          </a:prstGeom>
          <a:noFill/>
          <a:ln/>
        </p:spPr>
        <p:txBody>
          <a:bodyPr wrap="square" lIns="0" tIns="0" rIns="0" bIns="0" rtlCol="0" anchor="t"/>
          <a:lstStyle/>
          <a:p>
            <a:pPr marL="0" indent="0">
              <a:buNone/>
            </a:pPr>
            <a:r>
              <a:rPr lang="en-US" sz="1400" dirty="0">
                <a:solidFill>
                  <a:schemeClr val="accent6"/>
                </a:solidFill>
              </a:rPr>
              <a:t>Points, ranks, screenshots and tests</a:t>
            </a:r>
            <a:endParaRPr lang="en-US" sz="1400" dirty="0"/>
          </a:p>
        </p:txBody>
      </p:sp>
      <p:sp>
        <p:nvSpPr>
          <p:cNvPr id="28" name="Contents card 6"/>
          <p:cNvSpPr/>
          <p:nvPr/>
        </p:nvSpPr>
        <p:spPr>
          <a:xfrm>
            <a:off x="3383280" y="3977640"/>
            <a:ext cx="2560320"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29" name="Contents number circle 6"/>
          <p:cNvSpPr/>
          <p:nvPr/>
        </p:nvSpPr>
        <p:spPr>
          <a:xfrm>
            <a:off x="3611880" y="4206240"/>
            <a:ext cx="640080" cy="640080"/>
          </a:xfrm>
          <a:prstGeom prst="ellipse">
            <a:avLst/>
          </a:prstGeom>
          <a:solidFill>
            <a:schemeClr val="accent5"/>
          </a:solidFill>
          <a:ln/>
        </p:spPr>
      </p:sp>
      <p:sp>
        <p:nvSpPr>
          <p:cNvPr id="30" name="Contents number 6"/>
          <p:cNvSpPr txBox="1"/>
          <p:nvPr/>
        </p:nvSpPr>
        <p:spPr>
          <a:xfrm>
            <a:off x="3611880" y="4206240"/>
            <a:ext cx="640080" cy="640080"/>
          </a:xfrm>
          <a:prstGeom prst="rect">
            <a:avLst/>
          </a:prstGeom>
          <a:noFill/>
          <a:ln/>
        </p:spPr>
        <p:txBody>
          <a:bodyPr wrap="square" lIns="0" tIns="0" rIns="0" bIns="0" rtlCol="0" anchor="ctr"/>
          <a:lstStyle/>
          <a:p>
            <a:pPr marL="0" indent="0" algn="ctr">
              <a:buNone/>
            </a:pPr>
            <a:r>
              <a:rPr lang="en-US" sz="2200" b="1" dirty="0">
                <a:solidFill>
                  <a:schemeClr val="accent1"/>
                </a:solidFill>
              </a:rPr>
              <a:t>6</a:t>
            </a:r>
            <a:endParaRPr lang="en-US" sz="2200" dirty="0"/>
          </a:p>
        </p:txBody>
      </p:sp>
      <p:sp>
        <p:nvSpPr>
          <p:cNvPr id="31" name="Contents title 6"/>
          <p:cNvSpPr txBox="1"/>
          <p:nvPr/>
        </p:nvSpPr>
        <p:spPr>
          <a:xfrm>
            <a:off x="3611880" y="4983480"/>
            <a:ext cx="2103120" cy="365760"/>
          </a:xfrm>
          <a:prstGeom prst="rect">
            <a:avLst/>
          </a:prstGeom>
          <a:noFill/>
          <a:ln/>
        </p:spPr>
        <p:txBody>
          <a:bodyPr wrap="square" lIns="0" tIns="0" rIns="0" bIns="0" rtlCol="0" anchor="t"/>
          <a:lstStyle/>
          <a:p>
            <a:pPr marL="0" indent="0">
              <a:buNone/>
            </a:pPr>
            <a:r>
              <a:rPr lang="en-US" sz="1800" b="1" dirty="0">
                <a:solidFill>
                  <a:schemeClr val="tx2"/>
                </a:solidFill>
              </a:rPr>
              <a:t>How to Run</a:t>
            </a:r>
            <a:endParaRPr lang="en-US" sz="1800" dirty="0"/>
          </a:p>
        </p:txBody>
      </p:sp>
      <p:sp>
        <p:nvSpPr>
          <p:cNvPr id="32" name="Contents text 6"/>
          <p:cNvSpPr txBox="1"/>
          <p:nvPr/>
        </p:nvSpPr>
        <p:spPr>
          <a:xfrm>
            <a:off x="3611880" y="5394960"/>
            <a:ext cx="2103120" cy="640080"/>
          </a:xfrm>
          <a:prstGeom prst="rect">
            <a:avLst/>
          </a:prstGeom>
          <a:noFill/>
          <a:ln/>
        </p:spPr>
        <p:txBody>
          <a:bodyPr wrap="square" lIns="0" tIns="0" rIns="0" bIns="0" rtlCol="0" anchor="t"/>
          <a:lstStyle/>
          <a:p>
            <a:pPr marL="0" indent="0">
              <a:buNone/>
            </a:pPr>
            <a:r>
              <a:rPr lang="en-US" sz="1400" dirty="0">
                <a:solidFill>
                  <a:schemeClr val="accent6"/>
                </a:solidFill>
              </a:rPr>
              <a:t>Step-by-step commands and fixes</a:t>
            </a:r>
            <a:endParaRPr lang="en-US" sz="1400" dirty="0"/>
          </a:p>
        </p:txBody>
      </p:sp>
      <p:sp>
        <p:nvSpPr>
          <p:cNvPr id="33" name="Contents card 7"/>
          <p:cNvSpPr/>
          <p:nvPr/>
        </p:nvSpPr>
        <p:spPr>
          <a:xfrm>
            <a:off x="6217920" y="3977640"/>
            <a:ext cx="2560320"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34" name="Contents number circle 7"/>
          <p:cNvSpPr/>
          <p:nvPr/>
        </p:nvSpPr>
        <p:spPr>
          <a:xfrm>
            <a:off x="6446520" y="4206240"/>
            <a:ext cx="640080" cy="640080"/>
          </a:xfrm>
          <a:prstGeom prst="ellipse">
            <a:avLst/>
          </a:prstGeom>
          <a:solidFill>
            <a:schemeClr val="accent5"/>
          </a:solidFill>
          <a:ln/>
        </p:spPr>
      </p:sp>
      <p:sp>
        <p:nvSpPr>
          <p:cNvPr id="35" name="Contents number 7"/>
          <p:cNvSpPr txBox="1"/>
          <p:nvPr/>
        </p:nvSpPr>
        <p:spPr>
          <a:xfrm>
            <a:off x="6446520" y="4206240"/>
            <a:ext cx="640080" cy="640080"/>
          </a:xfrm>
          <a:prstGeom prst="rect">
            <a:avLst/>
          </a:prstGeom>
          <a:noFill/>
          <a:ln/>
        </p:spPr>
        <p:txBody>
          <a:bodyPr wrap="square" lIns="0" tIns="0" rIns="0" bIns="0" rtlCol="0" anchor="ctr"/>
          <a:lstStyle/>
          <a:p>
            <a:pPr marL="0" indent="0" algn="ctr">
              <a:buNone/>
            </a:pPr>
            <a:r>
              <a:rPr lang="en-US" sz="2200" b="1" dirty="0">
                <a:solidFill>
                  <a:schemeClr val="accent1"/>
                </a:solidFill>
              </a:rPr>
              <a:t>7</a:t>
            </a:r>
            <a:endParaRPr lang="en-US" sz="2200" dirty="0"/>
          </a:p>
        </p:txBody>
      </p:sp>
      <p:sp>
        <p:nvSpPr>
          <p:cNvPr id="36" name="Contents title 7"/>
          <p:cNvSpPr txBox="1"/>
          <p:nvPr/>
        </p:nvSpPr>
        <p:spPr>
          <a:xfrm>
            <a:off x="6446520" y="4983480"/>
            <a:ext cx="2103120" cy="365760"/>
          </a:xfrm>
          <a:prstGeom prst="rect">
            <a:avLst/>
          </a:prstGeom>
          <a:noFill/>
          <a:ln/>
        </p:spPr>
        <p:txBody>
          <a:bodyPr wrap="square" lIns="0" tIns="0" rIns="0" bIns="0" rtlCol="0" anchor="t"/>
          <a:lstStyle/>
          <a:p>
            <a:pPr marL="0" indent="0">
              <a:buNone/>
            </a:pPr>
            <a:r>
              <a:rPr lang="en-US" sz="1800" b="1" dirty="0">
                <a:solidFill>
                  <a:schemeClr val="tx2"/>
                </a:solidFill>
              </a:rPr>
              <a:t>Future Scope</a:t>
            </a:r>
            <a:endParaRPr lang="en-US" sz="1800" dirty="0"/>
          </a:p>
        </p:txBody>
      </p:sp>
      <p:sp>
        <p:nvSpPr>
          <p:cNvPr id="37" name="Contents text 7"/>
          <p:cNvSpPr txBox="1"/>
          <p:nvPr/>
        </p:nvSpPr>
        <p:spPr>
          <a:xfrm>
            <a:off x="6446520" y="5394960"/>
            <a:ext cx="2103120" cy="640080"/>
          </a:xfrm>
          <a:prstGeom prst="rect">
            <a:avLst/>
          </a:prstGeom>
          <a:noFill/>
          <a:ln/>
        </p:spPr>
        <p:txBody>
          <a:bodyPr wrap="square" lIns="0" tIns="0" rIns="0" bIns="0" rtlCol="0" anchor="t"/>
          <a:lstStyle/>
          <a:p>
            <a:pPr marL="0" indent="0">
              <a:buNone/>
            </a:pPr>
            <a:r>
              <a:rPr lang="en-US" sz="1400" dirty="0">
                <a:solidFill>
                  <a:schemeClr val="accent6"/>
                </a:solidFill>
              </a:rPr>
              <a:t>Ideas to make the game even better</a:t>
            </a:r>
            <a:endParaRPr lang="en-US" sz="1400" dirty="0"/>
          </a:p>
        </p:txBody>
      </p:sp>
      <p:sp>
        <p:nvSpPr>
          <p:cNvPr id="38" name="Contents card 8"/>
          <p:cNvSpPr/>
          <p:nvPr/>
        </p:nvSpPr>
        <p:spPr>
          <a:xfrm>
            <a:off x="9052560" y="3977640"/>
            <a:ext cx="2560320"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39" name="Contents number circle 8"/>
          <p:cNvSpPr/>
          <p:nvPr/>
        </p:nvSpPr>
        <p:spPr>
          <a:xfrm>
            <a:off x="9281160" y="4206240"/>
            <a:ext cx="640080" cy="640080"/>
          </a:xfrm>
          <a:prstGeom prst="ellipse">
            <a:avLst/>
          </a:prstGeom>
          <a:solidFill>
            <a:schemeClr val="accent5"/>
          </a:solidFill>
          <a:ln/>
        </p:spPr>
      </p:sp>
      <p:sp>
        <p:nvSpPr>
          <p:cNvPr id="40" name="Contents number 8"/>
          <p:cNvSpPr txBox="1"/>
          <p:nvPr/>
        </p:nvSpPr>
        <p:spPr>
          <a:xfrm>
            <a:off x="9281160" y="4206240"/>
            <a:ext cx="640080" cy="640080"/>
          </a:xfrm>
          <a:prstGeom prst="rect">
            <a:avLst/>
          </a:prstGeom>
          <a:noFill/>
          <a:ln/>
        </p:spPr>
        <p:txBody>
          <a:bodyPr wrap="square" lIns="0" tIns="0" rIns="0" bIns="0" rtlCol="0" anchor="ctr"/>
          <a:lstStyle/>
          <a:p>
            <a:pPr marL="0" indent="0" algn="ctr">
              <a:buNone/>
            </a:pPr>
            <a:r>
              <a:rPr lang="en-US" sz="2200" b="1" dirty="0">
                <a:solidFill>
                  <a:schemeClr val="accent1"/>
                </a:solidFill>
              </a:rPr>
              <a:t>8</a:t>
            </a:r>
            <a:endParaRPr lang="en-US" sz="2200" dirty="0"/>
          </a:p>
        </p:txBody>
      </p:sp>
      <p:sp>
        <p:nvSpPr>
          <p:cNvPr id="41" name="Contents title 8"/>
          <p:cNvSpPr txBox="1"/>
          <p:nvPr/>
        </p:nvSpPr>
        <p:spPr>
          <a:xfrm>
            <a:off x="9281160" y="4983480"/>
            <a:ext cx="2103120" cy="365760"/>
          </a:xfrm>
          <a:prstGeom prst="rect">
            <a:avLst/>
          </a:prstGeom>
          <a:noFill/>
          <a:ln/>
        </p:spPr>
        <p:txBody>
          <a:bodyPr wrap="square" lIns="0" tIns="0" rIns="0" bIns="0" rtlCol="0" anchor="t"/>
          <a:lstStyle/>
          <a:p>
            <a:pPr marL="0" indent="0">
              <a:buNone/>
            </a:pPr>
            <a:r>
              <a:rPr lang="en-US" sz="1800" b="1" dirty="0">
                <a:solidFill>
                  <a:schemeClr val="tx2"/>
                </a:solidFill>
              </a:rPr>
              <a:t>Conclusion</a:t>
            </a:r>
            <a:endParaRPr lang="en-US" sz="1800" dirty="0"/>
          </a:p>
        </p:txBody>
      </p:sp>
      <p:sp>
        <p:nvSpPr>
          <p:cNvPr id="42" name="Contents text 8"/>
          <p:cNvSpPr txBox="1"/>
          <p:nvPr/>
        </p:nvSpPr>
        <p:spPr>
          <a:xfrm>
            <a:off x="9281160" y="5394960"/>
            <a:ext cx="2103120" cy="640080"/>
          </a:xfrm>
          <a:prstGeom prst="rect">
            <a:avLst/>
          </a:prstGeom>
          <a:noFill/>
          <a:ln/>
        </p:spPr>
        <p:txBody>
          <a:bodyPr wrap="square" lIns="0" tIns="0" rIns="0" bIns="0" rtlCol="0" anchor="t"/>
          <a:lstStyle/>
          <a:p>
            <a:pPr marL="0" indent="0">
              <a:buNone/>
            </a:pPr>
            <a:r>
              <a:rPr lang="en-US" sz="1400" dirty="0">
                <a:solidFill>
                  <a:schemeClr val="accent6"/>
                </a:solidFill>
              </a:rPr>
              <a:t>What we built and what we learned</a:t>
            </a:r>
            <a:endParaRPr lang="en-US" sz="1400" dirty="0"/>
          </a:p>
        </p:txBody>
      </p:sp>
      <p:sp>
        <p:nvSpPr>
          <p:cNvPr id="43"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What is MysteryBox?</a:t>
            </a:r>
            <a:endParaRPr lang="en-US" sz="3600" dirty="0"/>
          </a:p>
        </p:txBody>
      </p:sp>
      <p:sp>
        <p:nvSpPr>
          <p:cNvPr id="3" name="Intro paragraph"/>
          <p:cNvSpPr txBox="1"/>
          <p:nvPr/>
        </p:nvSpPr>
        <p:spPr>
          <a:xfrm>
            <a:off x="548640" y="1508760"/>
            <a:ext cx="6126480" cy="1554480"/>
          </a:xfrm>
          <a:prstGeom prst="rect">
            <a:avLst/>
          </a:prstGeom>
          <a:noFill/>
          <a:ln/>
        </p:spPr>
        <p:txBody>
          <a:bodyPr wrap="square" lIns="0" tIns="0" rIns="0" bIns="0" rtlCol="0" anchor="t"/>
          <a:lstStyle/>
          <a:p>
            <a:pPr marL="0" indent="0">
              <a:buNone/>
            </a:pPr>
            <a:r>
              <a:rPr lang="en-US" sz="1800" dirty="0">
                <a:solidFill>
                  <a:schemeClr val="tx1"/>
                </a:solidFill>
              </a:rPr>
              <a:t>MysteryBox is a desktop detective game made in Python. The player becomes Detective Sam, chooses one of four cases, searches places, questions suspects, collects clues and names the culprit.</a:t>
            </a:r>
            <a:endParaRPr lang="en-US" sz="1800" dirty="0"/>
          </a:p>
        </p:txBody>
      </p:sp>
      <p:sp>
        <p:nvSpPr>
          <p:cNvPr id="4" name="Why heading"/>
          <p:cNvSpPr txBox="1"/>
          <p:nvPr/>
        </p:nvSpPr>
        <p:spPr>
          <a:xfrm>
            <a:off x="548640" y="3291840"/>
            <a:ext cx="6126480" cy="365760"/>
          </a:xfrm>
          <a:prstGeom prst="rect">
            <a:avLst/>
          </a:prstGeom>
          <a:noFill/>
          <a:ln/>
        </p:spPr>
        <p:txBody>
          <a:bodyPr wrap="square" lIns="0" tIns="0" rIns="0" bIns="0" rtlCol="0" anchor="t"/>
          <a:lstStyle/>
          <a:p>
            <a:pPr marL="0" indent="0">
              <a:buNone/>
            </a:pPr>
            <a:r>
              <a:rPr lang="en-US" sz="2200" b="1" dirty="0">
                <a:solidFill>
                  <a:schemeClr val="tx2"/>
                </a:solidFill>
              </a:rPr>
              <a:t>Why this project?</a:t>
            </a:r>
            <a:endParaRPr lang="en-US" sz="2200" dirty="0"/>
          </a:p>
        </p:txBody>
      </p:sp>
      <p:sp>
        <p:nvSpPr>
          <p:cNvPr id="5" name="Why bullets"/>
          <p:cNvSpPr txBox="1"/>
          <p:nvPr/>
        </p:nvSpPr>
        <p:spPr>
          <a:xfrm>
            <a:off x="548640" y="3794760"/>
            <a:ext cx="6126480" cy="20116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Makes learning Python fun and practical</a:t>
            </a:r>
            <a:endParaRPr lang="en-US" sz="1800" dirty="0"/>
          </a:p>
          <a:p>
            <a:pPr marL="342900" indent="-342900">
              <a:spcAft>
                <a:spcPts val="1000"/>
              </a:spcAft>
              <a:buSzPct val="100000"/>
              <a:buChar char="•"/>
            </a:pPr>
            <a:r>
              <a:rPr lang="en-US" sz="1800" dirty="0">
                <a:solidFill>
                  <a:schemeClr val="tx1"/>
                </a:solidFill>
              </a:rPr>
              <a:t>Uses dictionaries, functions, loops and conditions together</a:t>
            </a:r>
            <a:endParaRPr lang="en-US" sz="1800" dirty="0"/>
          </a:p>
          <a:p>
            <a:pPr marL="342900" indent="-342900">
              <a:spcAft>
                <a:spcPts val="1000"/>
              </a:spcAft>
              <a:buSzPct val="100000"/>
              <a:buChar char="•"/>
            </a:pPr>
            <a:r>
              <a:rPr lang="en-US" sz="1800" dirty="0">
                <a:solidFill>
                  <a:schemeClr val="tx1"/>
                </a:solidFill>
              </a:rPr>
              <a:t>Has a real window (GUI), so it feels like a real game</a:t>
            </a:r>
            <a:endParaRPr lang="en-US" sz="1800" dirty="0"/>
          </a:p>
        </p:txBody>
      </p:sp>
      <p:sp>
        <p:nvSpPr>
          <p:cNvPr id="6" name="Stat card 1"/>
          <p:cNvSpPr/>
          <p:nvPr/>
        </p:nvSpPr>
        <p:spPr>
          <a:xfrm>
            <a:off x="7223760" y="1554480"/>
            <a:ext cx="2103120" cy="2057400"/>
          </a:xfrm>
          <a:prstGeom prst="roundRect">
            <a:avLst>
              <a:gd name="adj" fmla="val 5333"/>
            </a:avLst>
          </a:prstGeom>
          <a:solidFill>
            <a:schemeClr val="tx2"/>
          </a:solidFill>
          <a:ln/>
        </p:spPr>
      </p:sp>
      <p:sp>
        <p:nvSpPr>
          <p:cNvPr id="7" name="Stat number 1"/>
          <p:cNvSpPr txBox="1"/>
          <p:nvPr/>
        </p:nvSpPr>
        <p:spPr>
          <a:xfrm>
            <a:off x="7223760" y="1828800"/>
            <a:ext cx="2103120" cy="1005840"/>
          </a:xfrm>
          <a:prstGeom prst="rect">
            <a:avLst/>
          </a:prstGeom>
          <a:noFill/>
          <a:ln/>
        </p:spPr>
        <p:txBody>
          <a:bodyPr wrap="square" lIns="0" tIns="0" rIns="0" bIns="0" rtlCol="0" anchor="ctr"/>
          <a:lstStyle/>
          <a:p>
            <a:pPr marL="0" indent="0" algn="ctr">
              <a:buNone/>
            </a:pPr>
            <a:r>
              <a:rPr lang="en-US" sz="6000" b="1" dirty="0">
                <a:solidFill>
                  <a:schemeClr val="accent1"/>
                </a:solidFill>
              </a:rPr>
              <a:t>4</a:t>
            </a:r>
            <a:endParaRPr lang="en-US" sz="6000" dirty="0"/>
          </a:p>
        </p:txBody>
      </p:sp>
      <p:sp>
        <p:nvSpPr>
          <p:cNvPr id="8" name="Stat label 1"/>
          <p:cNvSpPr txBox="1"/>
          <p:nvPr/>
        </p:nvSpPr>
        <p:spPr>
          <a:xfrm>
            <a:off x="7223760" y="2926080"/>
            <a:ext cx="2103120" cy="411480"/>
          </a:xfrm>
          <a:prstGeom prst="rect">
            <a:avLst/>
          </a:prstGeom>
          <a:noFill/>
          <a:ln/>
        </p:spPr>
        <p:txBody>
          <a:bodyPr wrap="square" lIns="0" tIns="0" rIns="0" bIns="0" rtlCol="0" anchor="t"/>
          <a:lstStyle/>
          <a:p>
            <a:pPr marL="0" indent="0" algn="ctr">
              <a:buNone/>
            </a:pPr>
            <a:r>
              <a:rPr lang="en-US" sz="1600" dirty="0">
                <a:solidFill>
                  <a:schemeClr val="bg1"/>
                </a:solidFill>
              </a:rPr>
              <a:t>Mystery cases</a:t>
            </a:r>
            <a:endParaRPr lang="en-US" sz="1600" dirty="0"/>
          </a:p>
        </p:txBody>
      </p:sp>
      <p:sp>
        <p:nvSpPr>
          <p:cNvPr id="9" name="Stat card 2"/>
          <p:cNvSpPr/>
          <p:nvPr/>
        </p:nvSpPr>
        <p:spPr>
          <a:xfrm>
            <a:off x="9537192" y="1554480"/>
            <a:ext cx="2103120" cy="2057400"/>
          </a:xfrm>
          <a:prstGeom prst="roundRect">
            <a:avLst>
              <a:gd name="adj" fmla="val 5333"/>
            </a:avLst>
          </a:prstGeom>
          <a:solidFill>
            <a:schemeClr val="tx2"/>
          </a:solidFill>
          <a:ln/>
        </p:spPr>
      </p:sp>
      <p:sp>
        <p:nvSpPr>
          <p:cNvPr id="10" name="Stat number 2"/>
          <p:cNvSpPr txBox="1"/>
          <p:nvPr/>
        </p:nvSpPr>
        <p:spPr>
          <a:xfrm>
            <a:off x="9537192" y="1828800"/>
            <a:ext cx="2103120" cy="1005840"/>
          </a:xfrm>
          <a:prstGeom prst="rect">
            <a:avLst/>
          </a:prstGeom>
          <a:noFill/>
          <a:ln/>
        </p:spPr>
        <p:txBody>
          <a:bodyPr wrap="square" lIns="0" tIns="0" rIns="0" bIns="0" rtlCol="0" anchor="ctr"/>
          <a:lstStyle/>
          <a:p>
            <a:pPr marL="0" indent="0" algn="ctr">
              <a:buNone/>
            </a:pPr>
            <a:r>
              <a:rPr lang="en-US" sz="6000" b="1" dirty="0">
                <a:solidFill>
                  <a:schemeClr val="accent1"/>
                </a:solidFill>
              </a:rPr>
              <a:t>3</a:t>
            </a:r>
            <a:endParaRPr lang="en-US" sz="6000" dirty="0"/>
          </a:p>
        </p:txBody>
      </p:sp>
      <p:sp>
        <p:nvSpPr>
          <p:cNvPr id="11" name="Stat label 2"/>
          <p:cNvSpPr txBox="1"/>
          <p:nvPr/>
        </p:nvSpPr>
        <p:spPr>
          <a:xfrm>
            <a:off x="9537192" y="2926080"/>
            <a:ext cx="2103120" cy="411480"/>
          </a:xfrm>
          <a:prstGeom prst="rect">
            <a:avLst/>
          </a:prstGeom>
          <a:noFill/>
          <a:ln/>
        </p:spPr>
        <p:txBody>
          <a:bodyPr wrap="square" lIns="0" tIns="0" rIns="0" bIns="0" rtlCol="0" anchor="t"/>
          <a:lstStyle/>
          <a:p>
            <a:pPr marL="0" indent="0" algn="ctr">
              <a:buNone/>
            </a:pPr>
            <a:r>
              <a:rPr lang="en-US" sz="1600" dirty="0">
                <a:solidFill>
                  <a:schemeClr val="bg1"/>
                </a:solidFill>
              </a:rPr>
              <a:t>Difficulty levels</a:t>
            </a:r>
            <a:endParaRPr lang="en-US" sz="1600" dirty="0"/>
          </a:p>
        </p:txBody>
      </p:sp>
      <p:sp>
        <p:nvSpPr>
          <p:cNvPr id="12" name="Stat card 3"/>
          <p:cNvSpPr/>
          <p:nvPr/>
        </p:nvSpPr>
        <p:spPr>
          <a:xfrm>
            <a:off x="7223760" y="3840480"/>
            <a:ext cx="2103120" cy="2057400"/>
          </a:xfrm>
          <a:prstGeom prst="roundRect">
            <a:avLst>
              <a:gd name="adj" fmla="val 5333"/>
            </a:avLst>
          </a:prstGeom>
          <a:solidFill>
            <a:schemeClr val="tx2"/>
          </a:solidFill>
          <a:ln/>
        </p:spPr>
      </p:sp>
      <p:sp>
        <p:nvSpPr>
          <p:cNvPr id="13" name="Stat number 3"/>
          <p:cNvSpPr txBox="1"/>
          <p:nvPr/>
        </p:nvSpPr>
        <p:spPr>
          <a:xfrm>
            <a:off x="7223760" y="4114800"/>
            <a:ext cx="2103120" cy="1005840"/>
          </a:xfrm>
          <a:prstGeom prst="rect">
            <a:avLst/>
          </a:prstGeom>
          <a:noFill/>
          <a:ln/>
        </p:spPr>
        <p:txBody>
          <a:bodyPr wrap="square" lIns="0" tIns="0" rIns="0" bIns="0" rtlCol="0" anchor="ctr"/>
          <a:lstStyle/>
          <a:p>
            <a:pPr marL="0" indent="0" algn="ctr">
              <a:buNone/>
            </a:pPr>
            <a:r>
              <a:rPr lang="en-US" sz="6000" b="1" dirty="0">
                <a:solidFill>
                  <a:schemeClr val="accent1"/>
                </a:solidFill>
              </a:rPr>
              <a:t>48</a:t>
            </a:r>
            <a:endParaRPr lang="en-US" sz="6000" dirty="0"/>
          </a:p>
        </p:txBody>
      </p:sp>
      <p:sp>
        <p:nvSpPr>
          <p:cNvPr id="14" name="Stat label 3"/>
          <p:cNvSpPr txBox="1"/>
          <p:nvPr/>
        </p:nvSpPr>
        <p:spPr>
          <a:xfrm>
            <a:off x="7223760" y="5212080"/>
            <a:ext cx="2103120" cy="411480"/>
          </a:xfrm>
          <a:prstGeom prst="rect">
            <a:avLst/>
          </a:prstGeom>
          <a:noFill/>
          <a:ln/>
        </p:spPr>
        <p:txBody>
          <a:bodyPr wrap="square" lIns="0" tIns="0" rIns="0" bIns="0" rtlCol="0" anchor="t"/>
          <a:lstStyle/>
          <a:p>
            <a:pPr marL="0" indent="0" algn="ctr">
              <a:buNone/>
            </a:pPr>
            <a:r>
              <a:rPr lang="en-US" sz="1600" dirty="0">
                <a:solidFill>
                  <a:schemeClr val="bg1"/>
                </a:solidFill>
              </a:rPr>
              <a:t>Clues in total</a:t>
            </a:r>
            <a:endParaRPr lang="en-US" sz="1600" dirty="0"/>
          </a:p>
        </p:txBody>
      </p:sp>
      <p:sp>
        <p:nvSpPr>
          <p:cNvPr id="15" name="Stat card 4"/>
          <p:cNvSpPr/>
          <p:nvPr/>
        </p:nvSpPr>
        <p:spPr>
          <a:xfrm>
            <a:off x="9537192" y="3840480"/>
            <a:ext cx="2103120" cy="2057400"/>
          </a:xfrm>
          <a:prstGeom prst="roundRect">
            <a:avLst>
              <a:gd name="adj" fmla="val 5333"/>
            </a:avLst>
          </a:prstGeom>
          <a:solidFill>
            <a:schemeClr val="tx2"/>
          </a:solidFill>
          <a:ln/>
        </p:spPr>
      </p:sp>
      <p:sp>
        <p:nvSpPr>
          <p:cNvPr id="16" name="Stat number 4"/>
          <p:cNvSpPr txBox="1"/>
          <p:nvPr/>
        </p:nvSpPr>
        <p:spPr>
          <a:xfrm>
            <a:off x="9537192" y="4114800"/>
            <a:ext cx="2103120" cy="1005840"/>
          </a:xfrm>
          <a:prstGeom prst="rect">
            <a:avLst/>
          </a:prstGeom>
          <a:noFill/>
          <a:ln/>
        </p:spPr>
        <p:txBody>
          <a:bodyPr wrap="square" lIns="0" tIns="0" rIns="0" bIns="0" rtlCol="0" anchor="ctr"/>
          <a:lstStyle/>
          <a:p>
            <a:pPr marL="0" indent="0" algn="ctr">
              <a:buNone/>
            </a:pPr>
            <a:r>
              <a:rPr lang="en-US" sz="6000" b="1" dirty="0">
                <a:solidFill>
                  <a:schemeClr val="accent1"/>
                </a:solidFill>
              </a:rPr>
              <a:t>20</a:t>
            </a:r>
            <a:endParaRPr lang="en-US" sz="6000" dirty="0"/>
          </a:p>
        </p:txBody>
      </p:sp>
      <p:sp>
        <p:nvSpPr>
          <p:cNvPr id="17" name="Stat label 4"/>
          <p:cNvSpPr txBox="1"/>
          <p:nvPr/>
        </p:nvSpPr>
        <p:spPr>
          <a:xfrm>
            <a:off x="9537192" y="5212080"/>
            <a:ext cx="2103120" cy="411480"/>
          </a:xfrm>
          <a:prstGeom prst="rect">
            <a:avLst/>
          </a:prstGeom>
          <a:noFill/>
          <a:ln/>
        </p:spPr>
        <p:txBody>
          <a:bodyPr wrap="square" lIns="0" tIns="0" rIns="0" bIns="0" rtlCol="0" anchor="t"/>
          <a:lstStyle/>
          <a:p>
            <a:pPr marL="0" indent="0" algn="ctr">
              <a:buNone/>
            </a:pPr>
            <a:r>
              <a:rPr lang="en-US" sz="1600" dirty="0">
                <a:solidFill>
                  <a:schemeClr val="bg1"/>
                </a:solidFill>
              </a:rPr>
              <a:t>Actions per game</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Project objectives</a:t>
            </a:r>
            <a:endParaRPr lang="en-US" sz="3600" dirty="0"/>
          </a:p>
        </p:txBody>
      </p:sp>
      <p:sp>
        <p:nvSpPr>
          <p:cNvPr id="3" name="Objective card 1"/>
          <p:cNvSpPr/>
          <p:nvPr/>
        </p:nvSpPr>
        <p:spPr>
          <a:xfrm>
            <a:off x="548640" y="1463040"/>
            <a:ext cx="5408676" cy="1920240"/>
          </a:xfrm>
          <a:prstGeom prst="roundRect">
            <a:avLst>
              <a:gd name="adj" fmla="val 5714"/>
            </a:avLst>
          </a:prstGeom>
          <a:solidFill>
            <a:schemeClr val="bg1"/>
          </a:solidFill>
          <a:ln/>
          <a:effectLst>
            <a:outerShdw blurRad="101600" dist="25400" dir="5400000" algn="bl" rotWithShape="0">
              <a:srgbClr val="000000">
                <a:alpha val="12000"/>
              </a:srgbClr>
            </a:outerShdw>
          </a:effectLst>
        </p:spPr>
      </p:sp>
      <p:sp>
        <p:nvSpPr>
          <p:cNvPr id="4" name="Objective 1 circle"/>
          <p:cNvSpPr/>
          <p:nvPr/>
        </p:nvSpPr>
        <p:spPr>
          <a:xfrm>
            <a:off x="868680" y="1828800"/>
            <a:ext cx="868680" cy="868680"/>
          </a:xfrm>
          <a:prstGeom prst="ellipse">
            <a:avLst/>
          </a:prstGeom>
          <a:solidFill>
            <a:schemeClr val="tx2"/>
          </a:solidFill>
          <a:ln/>
        </p:spPr>
      </p:sp>
      <p:pic>
        <p:nvPicPr>
          <p:cNvPr id="5" name="Objective 1 icon" descr="preencoded.png"/>
          <p:cNvPicPr>
            <a:picLocks noChangeAspect="1"/>
          </p:cNvPicPr>
          <p:nvPr/>
        </p:nvPicPr>
        <p:blipFill>
          <a:blip r:embed="rId3"/>
          <a:stretch>
            <a:fillRect/>
          </a:stretch>
        </p:blipFill>
        <p:spPr>
          <a:xfrm>
            <a:off x="1085850" y="2045970"/>
            <a:ext cx="434340" cy="434340"/>
          </a:xfrm>
          <a:prstGeom prst="rect">
            <a:avLst/>
          </a:prstGeom>
        </p:spPr>
      </p:pic>
      <p:sp>
        <p:nvSpPr>
          <p:cNvPr id="6" name="Objective title 1"/>
          <p:cNvSpPr txBox="1"/>
          <p:nvPr/>
        </p:nvSpPr>
        <p:spPr>
          <a:xfrm>
            <a:off x="2057400" y="1645920"/>
            <a:ext cx="3657600" cy="685800"/>
          </a:xfrm>
          <a:prstGeom prst="rect">
            <a:avLst/>
          </a:prstGeom>
          <a:noFill/>
          <a:ln/>
        </p:spPr>
        <p:txBody>
          <a:bodyPr wrap="square" lIns="0" tIns="0" rIns="0" bIns="0" rtlCol="0" anchor="ctr"/>
          <a:lstStyle/>
          <a:p>
            <a:pPr marL="0" indent="0">
              <a:buNone/>
            </a:pPr>
            <a:r>
              <a:rPr lang="en-US" sz="2000" b="1" dirty="0">
                <a:solidFill>
                  <a:schemeClr val="tx2"/>
                </a:solidFill>
              </a:rPr>
              <a:t>Present a mystery</a:t>
            </a:r>
            <a:endParaRPr lang="en-US" sz="2000" dirty="0"/>
          </a:p>
        </p:txBody>
      </p:sp>
      <p:sp>
        <p:nvSpPr>
          <p:cNvPr id="7" name="Objective text 1"/>
          <p:cNvSpPr txBox="1"/>
          <p:nvPr/>
        </p:nvSpPr>
        <p:spPr>
          <a:xfrm>
            <a:off x="2057400" y="2377440"/>
            <a:ext cx="3657600" cy="914400"/>
          </a:xfrm>
          <a:prstGeom prst="rect">
            <a:avLst/>
          </a:prstGeom>
          <a:noFill/>
          <a:ln/>
        </p:spPr>
        <p:txBody>
          <a:bodyPr wrap="square" lIns="0" tIns="0" rIns="0" bIns="0" rtlCol="0" anchor="t"/>
          <a:lstStyle/>
          <a:p>
            <a:pPr marL="0" indent="0">
              <a:buNone/>
            </a:pPr>
            <a:r>
              <a:rPr lang="en-US" sz="1500" dirty="0">
                <a:solidFill>
                  <a:schemeClr val="tx1"/>
                </a:solidFill>
              </a:rPr>
              <a:t>A crime case with a story and several suspects, each with something to say.</a:t>
            </a:r>
            <a:endParaRPr lang="en-US" sz="1500" dirty="0"/>
          </a:p>
        </p:txBody>
      </p:sp>
      <p:sp>
        <p:nvSpPr>
          <p:cNvPr id="8" name="Objective card 2"/>
          <p:cNvSpPr/>
          <p:nvPr/>
        </p:nvSpPr>
        <p:spPr>
          <a:xfrm>
            <a:off x="6231636" y="1463040"/>
            <a:ext cx="5408676" cy="1920240"/>
          </a:xfrm>
          <a:prstGeom prst="roundRect">
            <a:avLst>
              <a:gd name="adj" fmla="val 5714"/>
            </a:avLst>
          </a:prstGeom>
          <a:solidFill>
            <a:schemeClr val="bg1"/>
          </a:solidFill>
          <a:ln/>
          <a:effectLst>
            <a:outerShdw blurRad="101600" dist="25400" dir="5400000" algn="bl" rotWithShape="0">
              <a:srgbClr val="000000">
                <a:alpha val="12000"/>
              </a:srgbClr>
            </a:outerShdw>
          </a:effectLst>
        </p:spPr>
      </p:sp>
      <p:sp>
        <p:nvSpPr>
          <p:cNvPr id="9" name="Objective 2 circle"/>
          <p:cNvSpPr/>
          <p:nvPr/>
        </p:nvSpPr>
        <p:spPr>
          <a:xfrm>
            <a:off x="6551676" y="1828800"/>
            <a:ext cx="868680" cy="868680"/>
          </a:xfrm>
          <a:prstGeom prst="ellipse">
            <a:avLst/>
          </a:prstGeom>
          <a:solidFill>
            <a:schemeClr val="tx2"/>
          </a:solidFill>
          <a:ln/>
        </p:spPr>
      </p:sp>
      <p:pic>
        <p:nvPicPr>
          <p:cNvPr id="10" name="Objective 2 icon" descr="preencoded.png"/>
          <p:cNvPicPr>
            <a:picLocks noChangeAspect="1"/>
          </p:cNvPicPr>
          <p:nvPr/>
        </p:nvPicPr>
        <p:blipFill>
          <a:blip r:embed="rId4"/>
          <a:stretch>
            <a:fillRect/>
          </a:stretch>
        </p:blipFill>
        <p:spPr>
          <a:xfrm>
            <a:off x="6768846" y="2045970"/>
            <a:ext cx="434340" cy="434340"/>
          </a:xfrm>
          <a:prstGeom prst="rect">
            <a:avLst/>
          </a:prstGeom>
        </p:spPr>
      </p:pic>
      <p:sp>
        <p:nvSpPr>
          <p:cNvPr id="11" name="Objective title 2"/>
          <p:cNvSpPr txBox="1"/>
          <p:nvPr/>
        </p:nvSpPr>
        <p:spPr>
          <a:xfrm>
            <a:off x="7740396" y="1645920"/>
            <a:ext cx="3657600" cy="685800"/>
          </a:xfrm>
          <a:prstGeom prst="rect">
            <a:avLst/>
          </a:prstGeom>
          <a:noFill/>
          <a:ln/>
        </p:spPr>
        <p:txBody>
          <a:bodyPr wrap="square" lIns="0" tIns="0" rIns="0" bIns="0" rtlCol="0" anchor="ctr"/>
          <a:lstStyle/>
          <a:p>
            <a:pPr marL="0" indent="0">
              <a:buNone/>
            </a:pPr>
            <a:r>
              <a:rPr lang="en-US" sz="2000" b="1" dirty="0">
                <a:solidFill>
                  <a:schemeClr val="tx2"/>
                </a:solidFill>
              </a:rPr>
              <a:t>Collect clues and question suspects</a:t>
            </a:r>
            <a:endParaRPr lang="en-US" sz="2000" dirty="0"/>
          </a:p>
        </p:txBody>
      </p:sp>
      <p:sp>
        <p:nvSpPr>
          <p:cNvPr id="12" name="Objective text 2"/>
          <p:cNvSpPr txBox="1"/>
          <p:nvPr/>
        </p:nvSpPr>
        <p:spPr>
          <a:xfrm>
            <a:off x="7740396" y="2377440"/>
            <a:ext cx="3657600" cy="914400"/>
          </a:xfrm>
          <a:prstGeom prst="rect">
            <a:avLst/>
          </a:prstGeom>
          <a:noFill/>
          <a:ln/>
        </p:spPr>
        <p:txBody>
          <a:bodyPr wrap="square" lIns="0" tIns="0" rIns="0" bIns="0" rtlCol="0" anchor="t"/>
          <a:lstStyle/>
          <a:p>
            <a:pPr marL="0" indent="0">
              <a:buNone/>
            </a:pPr>
            <a:r>
              <a:rPr lang="en-US" sz="1500" dirty="0">
                <a:solidFill>
                  <a:schemeClr val="tx1"/>
                </a:solidFill>
              </a:rPr>
              <a:t>Players search places and talk to suspects. Everything is saved in a notebook.</a:t>
            </a:r>
            <a:endParaRPr lang="en-US" sz="1500" dirty="0"/>
          </a:p>
        </p:txBody>
      </p:sp>
      <p:sp>
        <p:nvSpPr>
          <p:cNvPr id="13" name="Objective card 3"/>
          <p:cNvSpPr/>
          <p:nvPr/>
        </p:nvSpPr>
        <p:spPr>
          <a:xfrm>
            <a:off x="548640" y="3566160"/>
            <a:ext cx="5408676" cy="1920240"/>
          </a:xfrm>
          <a:prstGeom prst="roundRect">
            <a:avLst>
              <a:gd name="adj" fmla="val 5714"/>
            </a:avLst>
          </a:prstGeom>
          <a:solidFill>
            <a:schemeClr val="bg1"/>
          </a:solidFill>
          <a:ln/>
          <a:effectLst>
            <a:outerShdw blurRad="101600" dist="25400" dir="5400000" algn="bl" rotWithShape="0">
              <a:srgbClr val="000000">
                <a:alpha val="12000"/>
              </a:srgbClr>
            </a:outerShdw>
          </a:effectLst>
        </p:spPr>
      </p:sp>
      <p:sp>
        <p:nvSpPr>
          <p:cNvPr id="14" name="Objective 3 circle"/>
          <p:cNvSpPr/>
          <p:nvPr/>
        </p:nvSpPr>
        <p:spPr>
          <a:xfrm>
            <a:off x="868680" y="3931920"/>
            <a:ext cx="868680" cy="868680"/>
          </a:xfrm>
          <a:prstGeom prst="ellipse">
            <a:avLst/>
          </a:prstGeom>
          <a:solidFill>
            <a:schemeClr val="tx2"/>
          </a:solidFill>
          <a:ln/>
        </p:spPr>
      </p:sp>
      <p:pic>
        <p:nvPicPr>
          <p:cNvPr id="15" name="Objective 3 icon" descr="preencoded.png"/>
          <p:cNvPicPr>
            <a:picLocks noChangeAspect="1"/>
          </p:cNvPicPr>
          <p:nvPr/>
        </p:nvPicPr>
        <p:blipFill>
          <a:blip r:embed="rId5"/>
          <a:stretch>
            <a:fillRect/>
          </a:stretch>
        </p:blipFill>
        <p:spPr>
          <a:xfrm>
            <a:off x="1085850" y="4149090"/>
            <a:ext cx="434340" cy="434340"/>
          </a:xfrm>
          <a:prstGeom prst="rect">
            <a:avLst/>
          </a:prstGeom>
        </p:spPr>
      </p:pic>
      <p:sp>
        <p:nvSpPr>
          <p:cNvPr id="16" name="Objective title 3"/>
          <p:cNvSpPr txBox="1"/>
          <p:nvPr/>
        </p:nvSpPr>
        <p:spPr>
          <a:xfrm>
            <a:off x="2057400" y="3749040"/>
            <a:ext cx="3657600" cy="685800"/>
          </a:xfrm>
          <a:prstGeom prst="rect">
            <a:avLst/>
          </a:prstGeom>
          <a:noFill/>
          <a:ln/>
        </p:spPr>
        <p:txBody>
          <a:bodyPr wrap="square" lIns="0" tIns="0" rIns="0" bIns="0" rtlCol="0" anchor="ctr"/>
          <a:lstStyle/>
          <a:p>
            <a:pPr marL="0" indent="0">
              <a:buNone/>
            </a:pPr>
            <a:r>
              <a:rPr lang="en-US" sz="2000" b="1" dirty="0">
                <a:solidFill>
                  <a:schemeClr val="tx2"/>
                </a:solidFill>
              </a:rPr>
              <a:t>Unlock new clues</a:t>
            </a:r>
            <a:endParaRPr lang="en-US" sz="2000" dirty="0"/>
          </a:p>
        </p:txBody>
      </p:sp>
      <p:sp>
        <p:nvSpPr>
          <p:cNvPr id="17" name="Objective text 3"/>
          <p:cNvSpPr txBox="1"/>
          <p:nvPr/>
        </p:nvSpPr>
        <p:spPr>
          <a:xfrm>
            <a:off x="2057400" y="4480560"/>
            <a:ext cx="3657600" cy="914400"/>
          </a:xfrm>
          <a:prstGeom prst="rect">
            <a:avLst/>
          </a:prstGeom>
          <a:noFill/>
          <a:ln/>
        </p:spPr>
        <p:txBody>
          <a:bodyPr wrap="square" lIns="0" tIns="0" rIns="0" bIns="0" rtlCol="0" anchor="t"/>
          <a:lstStyle/>
          <a:p>
            <a:pPr marL="0" indent="0">
              <a:buNone/>
            </a:pPr>
            <a:r>
              <a:rPr lang="en-US" sz="1500" dirty="0">
                <a:solidFill>
                  <a:schemeClr val="tx1"/>
                </a:solidFill>
              </a:rPr>
              <a:t>Choices matter. Some clues appear only after earlier clues or statements are found.</a:t>
            </a:r>
            <a:endParaRPr lang="en-US" sz="1500" dirty="0"/>
          </a:p>
        </p:txBody>
      </p:sp>
      <p:sp>
        <p:nvSpPr>
          <p:cNvPr id="18" name="Objective card 4"/>
          <p:cNvSpPr/>
          <p:nvPr/>
        </p:nvSpPr>
        <p:spPr>
          <a:xfrm>
            <a:off x="6231636" y="3566160"/>
            <a:ext cx="5408676" cy="1920240"/>
          </a:xfrm>
          <a:prstGeom prst="roundRect">
            <a:avLst>
              <a:gd name="adj" fmla="val 5714"/>
            </a:avLst>
          </a:prstGeom>
          <a:solidFill>
            <a:schemeClr val="bg1"/>
          </a:solidFill>
          <a:ln/>
          <a:effectLst>
            <a:outerShdw blurRad="101600" dist="25400" dir="5400000" algn="bl" rotWithShape="0">
              <a:srgbClr val="000000">
                <a:alpha val="12000"/>
              </a:srgbClr>
            </a:outerShdw>
          </a:effectLst>
        </p:spPr>
      </p:sp>
      <p:sp>
        <p:nvSpPr>
          <p:cNvPr id="19" name="Objective 4 circle"/>
          <p:cNvSpPr/>
          <p:nvPr/>
        </p:nvSpPr>
        <p:spPr>
          <a:xfrm>
            <a:off x="6551676" y="3931920"/>
            <a:ext cx="868680" cy="868680"/>
          </a:xfrm>
          <a:prstGeom prst="ellipse">
            <a:avLst/>
          </a:prstGeom>
          <a:solidFill>
            <a:schemeClr val="tx2"/>
          </a:solidFill>
          <a:ln/>
        </p:spPr>
      </p:sp>
      <p:pic>
        <p:nvPicPr>
          <p:cNvPr id="20" name="Objective 4 icon" descr="preencoded.png"/>
          <p:cNvPicPr>
            <a:picLocks noChangeAspect="1"/>
          </p:cNvPicPr>
          <p:nvPr/>
        </p:nvPicPr>
        <p:blipFill>
          <a:blip r:embed="rId6"/>
          <a:stretch>
            <a:fillRect/>
          </a:stretch>
        </p:blipFill>
        <p:spPr>
          <a:xfrm>
            <a:off x="6768846" y="4149090"/>
            <a:ext cx="434340" cy="434340"/>
          </a:xfrm>
          <a:prstGeom prst="rect">
            <a:avLst/>
          </a:prstGeom>
        </p:spPr>
      </p:pic>
      <p:sp>
        <p:nvSpPr>
          <p:cNvPr id="21" name="Objective title 4"/>
          <p:cNvSpPr txBox="1"/>
          <p:nvPr/>
        </p:nvSpPr>
        <p:spPr>
          <a:xfrm>
            <a:off x="7740396" y="3749040"/>
            <a:ext cx="3657600" cy="685800"/>
          </a:xfrm>
          <a:prstGeom prst="rect">
            <a:avLst/>
          </a:prstGeom>
          <a:noFill/>
          <a:ln/>
        </p:spPr>
        <p:txBody>
          <a:bodyPr wrap="square" lIns="0" tIns="0" rIns="0" bIns="0" rtlCol="0" anchor="ctr"/>
          <a:lstStyle/>
          <a:p>
            <a:pPr marL="0" indent="0">
              <a:buNone/>
            </a:pPr>
            <a:r>
              <a:rPr lang="en-US" sz="2000" b="1" dirty="0">
                <a:solidFill>
                  <a:schemeClr val="tx2"/>
                </a:solidFill>
              </a:rPr>
              <a:t>Score correct deductions</a:t>
            </a:r>
            <a:endParaRPr lang="en-US" sz="2000" dirty="0"/>
          </a:p>
        </p:txBody>
      </p:sp>
      <p:sp>
        <p:nvSpPr>
          <p:cNvPr id="22" name="Objective text 4"/>
          <p:cNvSpPr txBox="1"/>
          <p:nvPr/>
        </p:nvSpPr>
        <p:spPr>
          <a:xfrm>
            <a:off x="7740396" y="4480560"/>
            <a:ext cx="3657600" cy="914400"/>
          </a:xfrm>
          <a:prstGeom prst="rect">
            <a:avLst/>
          </a:prstGeom>
          <a:noFill/>
          <a:ln/>
        </p:spPr>
        <p:txBody>
          <a:bodyPr wrap="square" lIns="0" tIns="0" rIns="0" bIns="0" rtlCol="0" anchor="t"/>
          <a:lstStyle/>
          <a:p>
            <a:pPr marL="0" indent="0">
              <a:buNone/>
            </a:pPr>
            <a:r>
              <a:rPr lang="en-US" sz="1500" dirty="0">
                <a:solidFill>
                  <a:schemeClr val="tx1"/>
                </a:solidFill>
              </a:rPr>
              <a:t>Points for clues, the right culprit and quiz answers. A wrong accusation costs points.</a:t>
            </a:r>
            <a:endParaRPr lang="en-US" sz="1500" dirty="0"/>
          </a:p>
        </p:txBody>
      </p:sp>
      <p:sp>
        <p:nvSpPr>
          <p:cNvPr id="23" name="Extras strip"/>
          <p:cNvSpPr/>
          <p:nvPr/>
        </p:nvSpPr>
        <p:spPr>
          <a:xfrm>
            <a:off x="548640" y="5760720"/>
            <a:ext cx="11091672" cy="502920"/>
          </a:xfrm>
          <a:prstGeom prst="roundRect">
            <a:avLst>
              <a:gd name="adj" fmla="val 21818"/>
            </a:avLst>
          </a:prstGeom>
          <a:solidFill>
            <a:schemeClr val="tx2"/>
          </a:solidFill>
          <a:ln/>
        </p:spPr>
      </p:sp>
      <p:sp>
        <p:nvSpPr>
          <p:cNvPr id="24" name="Extras text"/>
          <p:cNvSpPr txBox="1"/>
          <p:nvPr/>
        </p:nvSpPr>
        <p:spPr>
          <a:xfrm>
            <a:off x="548640" y="5760720"/>
            <a:ext cx="11091672" cy="502920"/>
          </a:xfrm>
          <a:prstGeom prst="rect">
            <a:avLst/>
          </a:prstGeom>
          <a:noFill/>
          <a:ln/>
        </p:spPr>
        <p:txBody>
          <a:bodyPr wrap="square" lIns="0" tIns="0" rIns="0" bIns="0" rtlCol="0" anchor="ctr"/>
          <a:lstStyle/>
          <a:p>
            <a:pPr marL="0" indent="0" algn="ctr">
              <a:buNone/>
            </a:pPr>
            <a:r>
              <a:rPr lang="en-US" sz="1600" b="1" dirty="0">
                <a:solidFill>
                  <a:schemeClr val="accent1"/>
                </a:solidFill>
              </a:rPr>
              <a:t>Extra features:  4 different cases   |   Easy, Medium and Hard levels   |   Hint system</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Tools and Python concepts</a:t>
            </a:r>
            <a:endParaRPr lang="en-US" sz="3600" dirty="0"/>
          </a:p>
        </p:txBody>
      </p:sp>
      <p:sp>
        <p:nvSpPr>
          <p:cNvPr id="3" name="Tool card 1"/>
          <p:cNvSpPr/>
          <p:nvPr/>
        </p:nvSpPr>
        <p:spPr>
          <a:xfrm>
            <a:off x="548640" y="1508760"/>
            <a:ext cx="3511296" cy="2286000"/>
          </a:xfrm>
          <a:prstGeom prst="roundRect">
            <a:avLst>
              <a:gd name="adj" fmla="val 4800"/>
            </a:avLst>
          </a:prstGeom>
          <a:solidFill>
            <a:schemeClr val="bg1"/>
          </a:solidFill>
          <a:ln/>
          <a:effectLst>
            <a:outerShdw blurRad="101600" dist="25400" dir="5400000" algn="bl" rotWithShape="0">
              <a:srgbClr val="000000">
                <a:alpha val="12000"/>
              </a:srgbClr>
            </a:outerShdw>
          </a:effectLst>
        </p:spPr>
      </p:sp>
      <p:sp>
        <p:nvSpPr>
          <p:cNvPr id="4" name="Tool 1 circle"/>
          <p:cNvSpPr/>
          <p:nvPr/>
        </p:nvSpPr>
        <p:spPr>
          <a:xfrm>
            <a:off x="822960" y="1783080"/>
            <a:ext cx="777240" cy="777240"/>
          </a:xfrm>
          <a:prstGeom prst="ellipse">
            <a:avLst/>
          </a:prstGeom>
          <a:solidFill>
            <a:schemeClr val="tx2"/>
          </a:solidFill>
          <a:ln/>
        </p:spPr>
      </p:sp>
      <p:pic>
        <p:nvPicPr>
          <p:cNvPr id="5" name="Tool 1 icon" descr="preencoded.png"/>
          <p:cNvPicPr>
            <a:picLocks noChangeAspect="1"/>
          </p:cNvPicPr>
          <p:nvPr/>
        </p:nvPicPr>
        <p:blipFill>
          <a:blip r:embed="rId3"/>
          <a:stretch>
            <a:fillRect/>
          </a:stretch>
        </p:blipFill>
        <p:spPr>
          <a:xfrm>
            <a:off x="1017270" y="1977390"/>
            <a:ext cx="388620" cy="388620"/>
          </a:xfrm>
          <a:prstGeom prst="rect">
            <a:avLst/>
          </a:prstGeom>
        </p:spPr>
      </p:pic>
      <p:sp>
        <p:nvSpPr>
          <p:cNvPr id="6" name="Tool title 1"/>
          <p:cNvSpPr txBox="1"/>
          <p:nvPr/>
        </p:nvSpPr>
        <p:spPr>
          <a:xfrm>
            <a:off x="1828800" y="1783080"/>
            <a:ext cx="2011680" cy="777240"/>
          </a:xfrm>
          <a:prstGeom prst="rect">
            <a:avLst/>
          </a:prstGeom>
          <a:noFill/>
          <a:ln/>
        </p:spPr>
        <p:txBody>
          <a:bodyPr wrap="square" lIns="0" tIns="0" rIns="0" bIns="0" rtlCol="0" anchor="ctr"/>
          <a:lstStyle/>
          <a:p>
            <a:pPr marL="0" indent="0">
              <a:buNone/>
            </a:pPr>
            <a:r>
              <a:rPr lang="en-US" sz="2000" b="1" dirty="0">
                <a:solidFill>
                  <a:schemeClr val="tx2"/>
                </a:solidFill>
              </a:rPr>
              <a:t>Python 3</a:t>
            </a:r>
            <a:endParaRPr lang="en-US" sz="2000" dirty="0"/>
          </a:p>
        </p:txBody>
      </p:sp>
      <p:sp>
        <p:nvSpPr>
          <p:cNvPr id="7" name="Tool text 1"/>
          <p:cNvSpPr txBox="1"/>
          <p:nvPr/>
        </p:nvSpPr>
        <p:spPr>
          <a:xfrm>
            <a:off x="822960" y="2743200"/>
            <a:ext cx="2971800" cy="914400"/>
          </a:xfrm>
          <a:prstGeom prst="rect">
            <a:avLst/>
          </a:prstGeom>
          <a:noFill/>
          <a:ln/>
        </p:spPr>
        <p:txBody>
          <a:bodyPr wrap="square" lIns="0" tIns="0" rIns="0" bIns="0" rtlCol="0" anchor="t"/>
          <a:lstStyle/>
          <a:p>
            <a:pPr marL="0" indent="0">
              <a:buNone/>
            </a:pPr>
            <a:r>
              <a:rPr lang="en-US" sz="1500" dirty="0">
                <a:solidFill>
                  <a:schemeClr val="tx1"/>
                </a:solidFill>
              </a:rPr>
              <a:t>The main language. Easy to read and perfect for logic-based games.</a:t>
            </a:r>
            <a:endParaRPr lang="en-US" sz="1500" dirty="0"/>
          </a:p>
        </p:txBody>
      </p:sp>
      <p:sp>
        <p:nvSpPr>
          <p:cNvPr id="8" name="Tool card 2"/>
          <p:cNvSpPr/>
          <p:nvPr/>
        </p:nvSpPr>
        <p:spPr>
          <a:xfrm>
            <a:off x="4338828" y="1508760"/>
            <a:ext cx="3511296" cy="2286000"/>
          </a:xfrm>
          <a:prstGeom prst="roundRect">
            <a:avLst>
              <a:gd name="adj" fmla="val 4800"/>
            </a:avLst>
          </a:prstGeom>
          <a:solidFill>
            <a:schemeClr val="bg1"/>
          </a:solidFill>
          <a:ln/>
          <a:effectLst>
            <a:outerShdw blurRad="101600" dist="25400" dir="5400000" algn="bl" rotWithShape="0">
              <a:srgbClr val="000000">
                <a:alpha val="12000"/>
              </a:srgbClr>
            </a:outerShdw>
          </a:effectLst>
        </p:spPr>
      </p:sp>
      <p:sp>
        <p:nvSpPr>
          <p:cNvPr id="9" name="Tool 2 circle"/>
          <p:cNvSpPr/>
          <p:nvPr/>
        </p:nvSpPr>
        <p:spPr>
          <a:xfrm>
            <a:off x="4613148" y="1783080"/>
            <a:ext cx="777240" cy="777240"/>
          </a:xfrm>
          <a:prstGeom prst="ellipse">
            <a:avLst/>
          </a:prstGeom>
          <a:solidFill>
            <a:schemeClr val="tx2"/>
          </a:solidFill>
          <a:ln/>
        </p:spPr>
      </p:sp>
      <p:pic>
        <p:nvPicPr>
          <p:cNvPr id="10" name="Tool 2 icon" descr="preencoded.png"/>
          <p:cNvPicPr>
            <a:picLocks noChangeAspect="1"/>
          </p:cNvPicPr>
          <p:nvPr/>
        </p:nvPicPr>
        <p:blipFill>
          <a:blip r:embed="rId4"/>
          <a:stretch>
            <a:fillRect/>
          </a:stretch>
        </p:blipFill>
        <p:spPr>
          <a:xfrm>
            <a:off x="4807458" y="1977390"/>
            <a:ext cx="388620" cy="388620"/>
          </a:xfrm>
          <a:prstGeom prst="rect">
            <a:avLst/>
          </a:prstGeom>
        </p:spPr>
      </p:pic>
      <p:sp>
        <p:nvSpPr>
          <p:cNvPr id="11" name="Tool title 2"/>
          <p:cNvSpPr txBox="1"/>
          <p:nvPr/>
        </p:nvSpPr>
        <p:spPr>
          <a:xfrm>
            <a:off x="5618988" y="1783080"/>
            <a:ext cx="2011680" cy="777240"/>
          </a:xfrm>
          <a:prstGeom prst="rect">
            <a:avLst/>
          </a:prstGeom>
          <a:noFill/>
          <a:ln/>
        </p:spPr>
        <p:txBody>
          <a:bodyPr wrap="square" lIns="0" tIns="0" rIns="0" bIns="0" rtlCol="0" anchor="ctr"/>
          <a:lstStyle/>
          <a:p>
            <a:pPr marL="0" indent="0">
              <a:buNone/>
            </a:pPr>
            <a:r>
              <a:rPr lang="en-US" sz="2000" b="1" dirty="0">
                <a:solidFill>
                  <a:schemeClr val="tx2"/>
                </a:solidFill>
              </a:rPr>
              <a:t>tkinter</a:t>
            </a:r>
            <a:endParaRPr lang="en-US" sz="2000" dirty="0"/>
          </a:p>
        </p:txBody>
      </p:sp>
      <p:sp>
        <p:nvSpPr>
          <p:cNvPr id="12" name="Tool text 2"/>
          <p:cNvSpPr txBox="1"/>
          <p:nvPr/>
        </p:nvSpPr>
        <p:spPr>
          <a:xfrm>
            <a:off x="4613148" y="2743200"/>
            <a:ext cx="2971800" cy="914400"/>
          </a:xfrm>
          <a:prstGeom prst="rect">
            <a:avLst/>
          </a:prstGeom>
          <a:noFill/>
          <a:ln/>
        </p:spPr>
        <p:txBody>
          <a:bodyPr wrap="square" lIns="0" tIns="0" rIns="0" bIns="0" rtlCol="0" anchor="t"/>
          <a:lstStyle/>
          <a:p>
            <a:pPr marL="0" indent="0">
              <a:buNone/>
            </a:pPr>
            <a:r>
              <a:rPr lang="en-US" sz="1500" dirty="0">
                <a:solidFill>
                  <a:schemeClr val="tx1"/>
                </a:solidFill>
              </a:rPr>
              <a:t>Built-in GUI library. Makes windows, buttons, menus, text boxes and pop-ups.</a:t>
            </a:r>
            <a:endParaRPr lang="en-US" sz="1500" dirty="0"/>
          </a:p>
        </p:txBody>
      </p:sp>
      <p:sp>
        <p:nvSpPr>
          <p:cNvPr id="13" name="Tool card 3"/>
          <p:cNvSpPr/>
          <p:nvPr/>
        </p:nvSpPr>
        <p:spPr>
          <a:xfrm>
            <a:off x="8129016" y="1508760"/>
            <a:ext cx="3511296" cy="2286000"/>
          </a:xfrm>
          <a:prstGeom prst="roundRect">
            <a:avLst>
              <a:gd name="adj" fmla="val 4800"/>
            </a:avLst>
          </a:prstGeom>
          <a:solidFill>
            <a:schemeClr val="bg1"/>
          </a:solidFill>
          <a:ln/>
          <a:effectLst>
            <a:outerShdw blurRad="101600" dist="25400" dir="5400000" algn="bl" rotWithShape="0">
              <a:srgbClr val="000000">
                <a:alpha val="12000"/>
              </a:srgbClr>
            </a:outerShdw>
          </a:effectLst>
        </p:spPr>
      </p:sp>
      <p:sp>
        <p:nvSpPr>
          <p:cNvPr id="14" name="Tool 3 circle"/>
          <p:cNvSpPr/>
          <p:nvPr/>
        </p:nvSpPr>
        <p:spPr>
          <a:xfrm>
            <a:off x="8403336" y="1783080"/>
            <a:ext cx="777240" cy="777240"/>
          </a:xfrm>
          <a:prstGeom prst="ellipse">
            <a:avLst/>
          </a:prstGeom>
          <a:solidFill>
            <a:schemeClr val="tx2"/>
          </a:solidFill>
          <a:ln/>
        </p:spPr>
      </p:sp>
      <p:pic>
        <p:nvPicPr>
          <p:cNvPr id="15" name="Tool 3 icon" descr="preencoded.png"/>
          <p:cNvPicPr>
            <a:picLocks noChangeAspect="1"/>
          </p:cNvPicPr>
          <p:nvPr/>
        </p:nvPicPr>
        <p:blipFill>
          <a:blip r:embed="rId5"/>
          <a:stretch>
            <a:fillRect/>
          </a:stretch>
        </p:blipFill>
        <p:spPr>
          <a:xfrm>
            <a:off x="8597646" y="1977390"/>
            <a:ext cx="388620" cy="388620"/>
          </a:xfrm>
          <a:prstGeom prst="rect">
            <a:avLst/>
          </a:prstGeom>
        </p:spPr>
      </p:pic>
      <p:sp>
        <p:nvSpPr>
          <p:cNvPr id="16" name="Tool title 3"/>
          <p:cNvSpPr txBox="1"/>
          <p:nvPr/>
        </p:nvSpPr>
        <p:spPr>
          <a:xfrm>
            <a:off x="9409176" y="1783080"/>
            <a:ext cx="2011680" cy="777240"/>
          </a:xfrm>
          <a:prstGeom prst="rect">
            <a:avLst/>
          </a:prstGeom>
          <a:noFill/>
          <a:ln/>
        </p:spPr>
        <p:txBody>
          <a:bodyPr wrap="square" lIns="0" tIns="0" rIns="0" bIns="0" rtlCol="0" anchor="ctr"/>
          <a:lstStyle/>
          <a:p>
            <a:pPr marL="0" indent="0">
              <a:buNone/>
            </a:pPr>
            <a:r>
              <a:rPr lang="en-US" sz="2000" b="1" dirty="0">
                <a:solidFill>
                  <a:schemeClr val="tx2"/>
                </a:solidFill>
              </a:rPr>
              <a:t>random module</a:t>
            </a:r>
            <a:endParaRPr lang="en-US" sz="2000" dirty="0"/>
          </a:p>
        </p:txBody>
      </p:sp>
      <p:sp>
        <p:nvSpPr>
          <p:cNvPr id="17" name="Tool text 3"/>
          <p:cNvSpPr txBox="1"/>
          <p:nvPr/>
        </p:nvSpPr>
        <p:spPr>
          <a:xfrm>
            <a:off x="8403336" y="2743200"/>
            <a:ext cx="2971800" cy="914400"/>
          </a:xfrm>
          <a:prstGeom prst="rect">
            <a:avLst/>
          </a:prstGeom>
          <a:noFill/>
          <a:ln/>
        </p:spPr>
        <p:txBody>
          <a:bodyPr wrap="square" lIns="0" tIns="0" rIns="0" bIns="0" rtlCol="0" anchor="t"/>
          <a:lstStyle/>
          <a:p>
            <a:pPr marL="0" indent="0">
              <a:buNone/>
            </a:pPr>
            <a:r>
              <a:rPr lang="en-US" sz="1500" dirty="0">
                <a:solidFill>
                  <a:schemeClr val="tx1"/>
                </a:solidFill>
              </a:rPr>
              <a:t>Picks random questions, shuffles answers and chooses hints.</a:t>
            </a:r>
            <a:endParaRPr lang="en-US" sz="1500" dirty="0"/>
          </a:p>
        </p:txBody>
      </p:sp>
      <p:sp>
        <p:nvSpPr>
          <p:cNvPr id="18" name="Concepts heading"/>
          <p:cNvSpPr txBox="1"/>
          <p:nvPr/>
        </p:nvSpPr>
        <p:spPr>
          <a:xfrm>
            <a:off x="548640" y="4114800"/>
            <a:ext cx="7315200" cy="411480"/>
          </a:xfrm>
          <a:prstGeom prst="rect">
            <a:avLst/>
          </a:prstGeom>
          <a:noFill/>
          <a:ln/>
        </p:spPr>
        <p:txBody>
          <a:bodyPr wrap="square" lIns="0" tIns="0" rIns="0" bIns="0" rtlCol="0" anchor="t"/>
          <a:lstStyle/>
          <a:p>
            <a:pPr marL="0" indent="0">
              <a:buNone/>
            </a:pPr>
            <a:r>
              <a:rPr lang="en-US" sz="2200" b="1" dirty="0">
                <a:solidFill>
                  <a:schemeClr val="tx2"/>
                </a:solidFill>
              </a:rPr>
              <a:t>Python concepts used</a:t>
            </a:r>
            <a:endParaRPr lang="en-US" sz="2200" dirty="0"/>
          </a:p>
        </p:txBody>
      </p:sp>
      <p:sp>
        <p:nvSpPr>
          <p:cNvPr id="19" name="Concept chip 1"/>
          <p:cNvSpPr/>
          <p:nvPr/>
        </p:nvSpPr>
        <p:spPr>
          <a:xfrm>
            <a:off x="548640" y="4709160"/>
            <a:ext cx="1691640" cy="594360"/>
          </a:xfrm>
          <a:prstGeom prst="roundRect">
            <a:avLst>
              <a:gd name="adj" fmla="val 46154"/>
            </a:avLst>
          </a:prstGeom>
          <a:solidFill>
            <a:schemeClr val="tx2"/>
          </a:solidFill>
          <a:ln/>
        </p:spPr>
      </p:sp>
      <p:sp>
        <p:nvSpPr>
          <p:cNvPr id="20" name="Concept chip text 1"/>
          <p:cNvSpPr txBox="1"/>
          <p:nvPr/>
        </p:nvSpPr>
        <p:spPr>
          <a:xfrm>
            <a:off x="548640" y="4709160"/>
            <a:ext cx="1691640" cy="594360"/>
          </a:xfrm>
          <a:prstGeom prst="rect">
            <a:avLst/>
          </a:prstGeom>
          <a:noFill/>
          <a:ln/>
        </p:spPr>
        <p:txBody>
          <a:bodyPr wrap="square" lIns="0" tIns="0" rIns="0" bIns="0" rtlCol="0" anchor="ctr"/>
          <a:lstStyle/>
          <a:p>
            <a:pPr marL="0" indent="0" algn="ctr">
              <a:buNone/>
            </a:pPr>
            <a:r>
              <a:rPr lang="en-US" sz="1500" b="1" dirty="0">
                <a:solidFill>
                  <a:schemeClr val="bg1"/>
                </a:solidFill>
              </a:rPr>
              <a:t>Dictionaries</a:t>
            </a:r>
            <a:endParaRPr lang="en-US" sz="1500" dirty="0"/>
          </a:p>
        </p:txBody>
      </p:sp>
      <p:sp>
        <p:nvSpPr>
          <p:cNvPr id="21" name="Concept chip 2"/>
          <p:cNvSpPr/>
          <p:nvPr/>
        </p:nvSpPr>
        <p:spPr>
          <a:xfrm>
            <a:off x="2423160" y="4709160"/>
            <a:ext cx="1691640" cy="594360"/>
          </a:xfrm>
          <a:prstGeom prst="roundRect">
            <a:avLst>
              <a:gd name="adj" fmla="val 46154"/>
            </a:avLst>
          </a:prstGeom>
          <a:solidFill>
            <a:schemeClr val="tx2"/>
          </a:solidFill>
          <a:ln/>
        </p:spPr>
      </p:sp>
      <p:sp>
        <p:nvSpPr>
          <p:cNvPr id="22" name="Concept chip text 2"/>
          <p:cNvSpPr txBox="1"/>
          <p:nvPr/>
        </p:nvSpPr>
        <p:spPr>
          <a:xfrm>
            <a:off x="2423160" y="4709160"/>
            <a:ext cx="1691640" cy="594360"/>
          </a:xfrm>
          <a:prstGeom prst="rect">
            <a:avLst/>
          </a:prstGeom>
          <a:noFill/>
          <a:ln/>
        </p:spPr>
        <p:txBody>
          <a:bodyPr wrap="square" lIns="0" tIns="0" rIns="0" bIns="0" rtlCol="0" anchor="ctr"/>
          <a:lstStyle/>
          <a:p>
            <a:pPr marL="0" indent="0" algn="ctr">
              <a:buNone/>
            </a:pPr>
            <a:r>
              <a:rPr lang="en-US" sz="1500" b="1" dirty="0">
                <a:solidFill>
                  <a:schemeClr val="bg1"/>
                </a:solidFill>
              </a:rPr>
              <a:t>Lists</a:t>
            </a:r>
            <a:endParaRPr lang="en-US" sz="1500" dirty="0"/>
          </a:p>
        </p:txBody>
      </p:sp>
      <p:sp>
        <p:nvSpPr>
          <p:cNvPr id="23" name="Concept chip 3"/>
          <p:cNvSpPr/>
          <p:nvPr/>
        </p:nvSpPr>
        <p:spPr>
          <a:xfrm>
            <a:off x="4297680" y="4709160"/>
            <a:ext cx="1691640" cy="594360"/>
          </a:xfrm>
          <a:prstGeom prst="roundRect">
            <a:avLst>
              <a:gd name="adj" fmla="val 46154"/>
            </a:avLst>
          </a:prstGeom>
          <a:solidFill>
            <a:schemeClr val="tx2"/>
          </a:solidFill>
          <a:ln/>
        </p:spPr>
      </p:sp>
      <p:sp>
        <p:nvSpPr>
          <p:cNvPr id="24" name="Concept chip text 3"/>
          <p:cNvSpPr txBox="1"/>
          <p:nvPr/>
        </p:nvSpPr>
        <p:spPr>
          <a:xfrm>
            <a:off x="4297680" y="4732020"/>
            <a:ext cx="1691640" cy="594360"/>
          </a:xfrm>
          <a:prstGeom prst="rect">
            <a:avLst/>
          </a:prstGeom>
          <a:noFill/>
          <a:ln/>
        </p:spPr>
        <p:txBody>
          <a:bodyPr wrap="square" lIns="0" tIns="0" rIns="0" bIns="0" rtlCol="0" anchor="ctr"/>
          <a:lstStyle/>
          <a:p>
            <a:pPr marL="0" indent="0" algn="ctr">
              <a:buNone/>
            </a:pPr>
            <a:r>
              <a:rPr lang="en-US" sz="1500" b="1" dirty="0">
                <a:solidFill>
                  <a:schemeClr val="bg1"/>
                </a:solidFill>
              </a:rPr>
              <a:t>Functions</a:t>
            </a:r>
            <a:endParaRPr lang="en-US" sz="1500" dirty="0"/>
          </a:p>
        </p:txBody>
      </p:sp>
      <p:sp>
        <p:nvSpPr>
          <p:cNvPr id="25" name="Concept chip 4"/>
          <p:cNvSpPr/>
          <p:nvPr/>
        </p:nvSpPr>
        <p:spPr>
          <a:xfrm>
            <a:off x="6172200" y="4709160"/>
            <a:ext cx="1691640" cy="594360"/>
          </a:xfrm>
          <a:prstGeom prst="roundRect">
            <a:avLst>
              <a:gd name="adj" fmla="val 46154"/>
            </a:avLst>
          </a:prstGeom>
          <a:solidFill>
            <a:schemeClr val="tx2"/>
          </a:solidFill>
          <a:ln/>
        </p:spPr>
      </p:sp>
      <p:sp>
        <p:nvSpPr>
          <p:cNvPr id="26" name="Concept chip text 4"/>
          <p:cNvSpPr txBox="1"/>
          <p:nvPr/>
        </p:nvSpPr>
        <p:spPr>
          <a:xfrm>
            <a:off x="6172200" y="4709160"/>
            <a:ext cx="1691640" cy="594360"/>
          </a:xfrm>
          <a:prstGeom prst="rect">
            <a:avLst/>
          </a:prstGeom>
          <a:noFill/>
          <a:ln/>
        </p:spPr>
        <p:txBody>
          <a:bodyPr wrap="square" lIns="0" tIns="0" rIns="0" bIns="0" rtlCol="0" anchor="ctr"/>
          <a:lstStyle/>
          <a:p>
            <a:pPr marL="0" indent="0" algn="ctr">
              <a:buNone/>
            </a:pPr>
            <a:r>
              <a:rPr lang="en-US" sz="1500" b="1" dirty="0">
                <a:solidFill>
                  <a:schemeClr val="bg1"/>
                </a:solidFill>
              </a:rPr>
              <a:t>Loops</a:t>
            </a:r>
            <a:endParaRPr lang="en-US" sz="1500" dirty="0"/>
          </a:p>
        </p:txBody>
      </p:sp>
      <p:sp>
        <p:nvSpPr>
          <p:cNvPr id="27" name="Concept chip 5"/>
          <p:cNvSpPr/>
          <p:nvPr/>
        </p:nvSpPr>
        <p:spPr>
          <a:xfrm>
            <a:off x="8046720" y="4709160"/>
            <a:ext cx="1691640" cy="594360"/>
          </a:xfrm>
          <a:prstGeom prst="roundRect">
            <a:avLst>
              <a:gd name="adj" fmla="val 46154"/>
            </a:avLst>
          </a:prstGeom>
          <a:solidFill>
            <a:schemeClr val="tx2"/>
          </a:solidFill>
          <a:ln/>
        </p:spPr>
      </p:sp>
      <p:sp>
        <p:nvSpPr>
          <p:cNvPr id="28" name="Concept chip text 5"/>
          <p:cNvSpPr txBox="1"/>
          <p:nvPr/>
        </p:nvSpPr>
        <p:spPr>
          <a:xfrm>
            <a:off x="8046720" y="4709160"/>
            <a:ext cx="1691640" cy="594360"/>
          </a:xfrm>
          <a:prstGeom prst="rect">
            <a:avLst/>
          </a:prstGeom>
          <a:noFill/>
          <a:ln/>
        </p:spPr>
        <p:txBody>
          <a:bodyPr wrap="square" lIns="0" tIns="0" rIns="0" bIns="0" rtlCol="0" anchor="ctr"/>
          <a:lstStyle/>
          <a:p>
            <a:pPr marL="0" indent="0" algn="ctr">
              <a:buNone/>
            </a:pPr>
            <a:r>
              <a:rPr lang="en-US" sz="1500" b="1" dirty="0">
                <a:solidFill>
                  <a:schemeClr val="bg1"/>
                </a:solidFill>
              </a:rPr>
              <a:t>Conditions</a:t>
            </a:r>
            <a:endParaRPr lang="en-US" sz="1500" dirty="0"/>
          </a:p>
        </p:txBody>
      </p:sp>
      <p:sp>
        <p:nvSpPr>
          <p:cNvPr id="29" name="Concept chip 6"/>
          <p:cNvSpPr/>
          <p:nvPr/>
        </p:nvSpPr>
        <p:spPr>
          <a:xfrm>
            <a:off x="9921240" y="4709160"/>
            <a:ext cx="1691640" cy="594360"/>
          </a:xfrm>
          <a:prstGeom prst="roundRect">
            <a:avLst>
              <a:gd name="adj" fmla="val 46154"/>
            </a:avLst>
          </a:prstGeom>
          <a:solidFill>
            <a:schemeClr val="tx2"/>
          </a:solidFill>
          <a:ln/>
        </p:spPr>
      </p:sp>
      <p:sp>
        <p:nvSpPr>
          <p:cNvPr id="30" name="Concept chip text 6"/>
          <p:cNvSpPr txBox="1"/>
          <p:nvPr/>
        </p:nvSpPr>
        <p:spPr>
          <a:xfrm>
            <a:off x="9921240" y="4709160"/>
            <a:ext cx="1691640" cy="594360"/>
          </a:xfrm>
          <a:prstGeom prst="rect">
            <a:avLst/>
          </a:prstGeom>
          <a:noFill/>
          <a:ln/>
        </p:spPr>
        <p:txBody>
          <a:bodyPr wrap="square" lIns="0" tIns="0" rIns="0" bIns="0" rtlCol="0" anchor="ctr"/>
          <a:lstStyle/>
          <a:p>
            <a:pPr marL="0" indent="0" algn="ctr">
              <a:buNone/>
            </a:pPr>
            <a:r>
              <a:rPr lang="en-US" sz="1500" b="1" dirty="0">
                <a:solidFill>
                  <a:schemeClr val="bg1"/>
                </a:solidFill>
              </a:rPr>
              <a:t>Score tracking</a:t>
            </a:r>
            <a:endParaRPr lang="en-US" sz="1500" dirty="0"/>
          </a:p>
        </p:txBody>
      </p:sp>
      <p:sp>
        <p:nvSpPr>
          <p:cNvPr id="31" name="Single file note"/>
          <p:cNvSpPr txBox="1"/>
          <p:nvPr/>
        </p:nvSpPr>
        <p:spPr>
          <a:xfrm>
            <a:off x="548640" y="5623560"/>
            <a:ext cx="10972800" cy="365760"/>
          </a:xfrm>
          <a:prstGeom prst="rect">
            <a:avLst/>
          </a:prstGeom>
          <a:noFill/>
          <a:ln/>
        </p:spPr>
        <p:txBody>
          <a:bodyPr wrap="square" lIns="0" tIns="0" rIns="0" bIns="0" rtlCol="0" anchor="t"/>
          <a:lstStyle/>
          <a:p>
            <a:pPr marL="0" indent="0">
              <a:buNone/>
            </a:pPr>
            <a:endParaRPr lang="en-US" sz="1600" dirty="0"/>
          </a:p>
        </p:txBody>
      </p:sp>
      <p:sp>
        <p:nvSpPr>
          <p:cNvPr id="32"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Four mystery cases</a:t>
            </a:r>
            <a:endParaRPr lang="en-US" sz="3600" dirty="0"/>
          </a:p>
        </p:txBody>
      </p:sp>
      <p:sp>
        <p:nvSpPr>
          <p:cNvPr id="3" name="Case card 1"/>
          <p:cNvSpPr/>
          <p:nvPr/>
        </p:nvSpPr>
        <p:spPr>
          <a:xfrm>
            <a:off x="548640" y="1463040"/>
            <a:ext cx="2560320" cy="4069080"/>
          </a:xfrm>
          <a:prstGeom prst="roundRect">
            <a:avLst>
              <a:gd name="adj" fmla="val 4286"/>
            </a:avLst>
          </a:prstGeom>
          <a:solidFill>
            <a:schemeClr val="bg1"/>
          </a:solidFill>
          <a:ln/>
          <a:effectLst>
            <a:outerShdw blurRad="101600" dist="25400" dir="5400000" algn="bl" rotWithShape="0">
              <a:srgbClr val="000000">
                <a:alpha val="12000"/>
              </a:srgbClr>
            </a:outerShdw>
          </a:effectLst>
        </p:spPr>
      </p:sp>
      <p:sp>
        <p:nvSpPr>
          <p:cNvPr id="4" name="Case 1 circle"/>
          <p:cNvSpPr/>
          <p:nvPr/>
        </p:nvSpPr>
        <p:spPr>
          <a:xfrm>
            <a:off x="1371600" y="1737360"/>
            <a:ext cx="914400" cy="914400"/>
          </a:xfrm>
          <a:prstGeom prst="ellipse">
            <a:avLst/>
          </a:prstGeom>
          <a:solidFill>
            <a:schemeClr val="tx2"/>
          </a:solidFill>
          <a:ln/>
        </p:spPr>
      </p:sp>
      <p:pic>
        <p:nvPicPr>
          <p:cNvPr id="5" name="Case 1 icon" descr="preencoded.png"/>
          <p:cNvPicPr>
            <a:picLocks noChangeAspect="1"/>
          </p:cNvPicPr>
          <p:nvPr/>
        </p:nvPicPr>
        <p:blipFill>
          <a:blip r:embed="rId3"/>
          <a:stretch>
            <a:fillRect/>
          </a:stretch>
        </p:blipFill>
        <p:spPr>
          <a:xfrm>
            <a:off x="1600200" y="1965960"/>
            <a:ext cx="457200" cy="457200"/>
          </a:xfrm>
          <a:prstGeom prst="rect">
            <a:avLst/>
          </a:prstGeom>
        </p:spPr>
      </p:pic>
      <p:sp>
        <p:nvSpPr>
          <p:cNvPr id="6" name="Case title 1"/>
          <p:cNvSpPr txBox="1"/>
          <p:nvPr/>
        </p:nvSpPr>
        <p:spPr>
          <a:xfrm>
            <a:off x="731520" y="2834640"/>
            <a:ext cx="2194560" cy="777240"/>
          </a:xfrm>
          <a:prstGeom prst="rect">
            <a:avLst/>
          </a:prstGeom>
          <a:noFill/>
          <a:ln/>
        </p:spPr>
        <p:txBody>
          <a:bodyPr wrap="square" lIns="0" tIns="0" rIns="0" bIns="0" rtlCol="0" anchor="ctr"/>
          <a:lstStyle/>
          <a:p>
            <a:pPr marL="0" indent="0" algn="ctr">
              <a:buNone/>
            </a:pPr>
            <a:r>
              <a:rPr lang="en-US" sz="1800" b="1" dirty="0">
                <a:solidFill>
                  <a:schemeClr val="tx2"/>
                </a:solidFill>
              </a:rPr>
              <a:t>The Missing Blue Diamond</a:t>
            </a:r>
            <a:endParaRPr lang="en-US" sz="1800" dirty="0"/>
          </a:p>
        </p:txBody>
      </p:sp>
      <p:sp>
        <p:nvSpPr>
          <p:cNvPr id="7" name="Case setting 1"/>
          <p:cNvSpPr txBox="1"/>
          <p:nvPr/>
        </p:nvSpPr>
        <p:spPr>
          <a:xfrm>
            <a:off x="731520" y="3657600"/>
            <a:ext cx="2194560" cy="640080"/>
          </a:xfrm>
          <a:prstGeom prst="rect">
            <a:avLst/>
          </a:prstGeom>
          <a:noFill/>
          <a:ln/>
        </p:spPr>
        <p:txBody>
          <a:bodyPr wrap="square" lIns="0" tIns="0" rIns="0" bIns="0" rtlCol="0" anchor="t"/>
          <a:lstStyle/>
          <a:p>
            <a:pPr marL="0" indent="0" algn="ctr">
              <a:buNone/>
            </a:pPr>
            <a:r>
              <a:rPr lang="en-US" sz="1400" dirty="0">
                <a:solidFill>
                  <a:schemeClr val="accent6"/>
                </a:solidFill>
              </a:rPr>
              <a:t>A dinner party at Rose House</a:t>
            </a:r>
            <a:endParaRPr lang="en-US" sz="1400" dirty="0"/>
          </a:p>
        </p:txBody>
      </p:sp>
      <p:sp>
        <p:nvSpPr>
          <p:cNvPr id="8" name="Case stat 1-1"/>
          <p:cNvSpPr txBox="1"/>
          <p:nvPr/>
        </p:nvSpPr>
        <p:spPr>
          <a:xfrm>
            <a:off x="731520" y="4343400"/>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4 suspects</a:t>
            </a:r>
            <a:endParaRPr lang="en-US" sz="1500" dirty="0"/>
          </a:p>
        </p:txBody>
      </p:sp>
      <p:sp>
        <p:nvSpPr>
          <p:cNvPr id="9" name="Case stat 1-2"/>
          <p:cNvSpPr txBox="1"/>
          <p:nvPr/>
        </p:nvSpPr>
        <p:spPr>
          <a:xfrm>
            <a:off x="731520" y="4690872"/>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5 places</a:t>
            </a:r>
            <a:endParaRPr lang="en-US" sz="1500" dirty="0"/>
          </a:p>
        </p:txBody>
      </p:sp>
      <p:sp>
        <p:nvSpPr>
          <p:cNvPr id="10" name="Case stat 1-3"/>
          <p:cNvSpPr txBox="1"/>
          <p:nvPr/>
        </p:nvSpPr>
        <p:spPr>
          <a:xfrm>
            <a:off x="731520" y="5038344"/>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11 clues</a:t>
            </a:r>
            <a:endParaRPr lang="en-US" sz="1500" dirty="0"/>
          </a:p>
        </p:txBody>
      </p:sp>
      <p:sp>
        <p:nvSpPr>
          <p:cNvPr id="11" name="Case card 2"/>
          <p:cNvSpPr/>
          <p:nvPr/>
        </p:nvSpPr>
        <p:spPr>
          <a:xfrm>
            <a:off x="3383280" y="1463040"/>
            <a:ext cx="2560320" cy="4069080"/>
          </a:xfrm>
          <a:prstGeom prst="roundRect">
            <a:avLst>
              <a:gd name="adj" fmla="val 4286"/>
            </a:avLst>
          </a:prstGeom>
          <a:solidFill>
            <a:schemeClr val="bg1"/>
          </a:solidFill>
          <a:ln/>
          <a:effectLst>
            <a:outerShdw blurRad="101600" dist="25400" dir="5400000" algn="bl" rotWithShape="0">
              <a:srgbClr val="000000">
                <a:alpha val="12000"/>
              </a:srgbClr>
            </a:outerShdw>
          </a:effectLst>
        </p:spPr>
      </p:sp>
      <p:sp>
        <p:nvSpPr>
          <p:cNvPr id="12" name="Case 2 circle"/>
          <p:cNvSpPr/>
          <p:nvPr/>
        </p:nvSpPr>
        <p:spPr>
          <a:xfrm>
            <a:off x="4206240" y="1737360"/>
            <a:ext cx="914400" cy="914400"/>
          </a:xfrm>
          <a:prstGeom prst="ellipse">
            <a:avLst/>
          </a:prstGeom>
          <a:solidFill>
            <a:schemeClr val="tx2"/>
          </a:solidFill>
          <a:ln/>
        </p:spPr>
      </p:sp>
      <p:pic>
        <p:nvPicPr>
          <p:cNvPr id="13" name="Case 2 icon" descr="preencoded.png"/>
          <p:cNvPicPr>
            <a:picLocks noChangeAspect="1"/>
          </p:cNvPicPr>
          <p:nvPr/>
        </p:nvPicPr>
        <p:blipFill>
          <a:blip r:embed="rId4"/>
          <a:stretch>
            <a:fillRect/>
          </a:stretch>
        </p:blipFill>
        <p:spPr>
          <a:xfrm>
            <a:off x="4434840" y="1965960"/>
            <a:ext cx="457200" cy="457200"/>
          </a:xfrm>
          <a:prstGeom prst="rect">
            <a:avLst/>
          </a:prstGeom>
        </p:spPr>
      </p:pic>
      <p:sp>
        <p:nvSpPr>
          <p:cNvPr id="14" name="Case title 2"/>
          <p:cNvSpPr txBox="1"/>
          <p:nvPr/>
        </p:nvSpPr>
        <p:spPr>
          <a:xfrm>
            <a:off x="3566160" y="2834640"/>
            <a:ext cx="2194560" cy="777240"/>
          </a:xfrm>
          <a:prstGeom prst="rect">
            <a:avLst/>
          </a:prstGeom>
          <a:noFill/>
          <a:ln/>
        </p:spPr>
        <p:txBody>
          <a:bodyPr wrap="square" lIns="0" tIns="0" rIns="0" bIns="0" rtlCol="0" anchor="ctr"/>
          <a:lstStyle/>
          <a:p>
            <a:pPr marL="0" indent="0" algn="ctr">
              <a:buNone/>
            </a:pPr>
            <a:r>
              <a:rPr lang="en-US" sz="1800" b="1" dirty="0">
                <a:solidFill>
                  <a:schemeClr val="tx2"/>
                </a:solidFill>
              </a:rPr>
              <a:t>The Stolen Painting</a:t>
            </a:r>
            <a:endParaRPr lang="en-US" sz="1800" dirty="0"/>
          </a:p>
        </p:txBody>
      </p:sp>
      <p:sp>
        <p:nvSpPr>
          <p:cNvPr id="15" name="Case setting 2"/>
          <p:cNvSpPr txBox="1"/>
          <p:nvPr/>
        </p:nvSpPr>
        <p:spPr>
          <a:xfrm>
            <a:off x="3566160" y="3657600"/>
            <a:ext cx="2194560" cy="640080"/>
          </a:xfrm>
          <a:prstGeom prst="rect">
            <a:avLst/>
          </a:prstGeom>
          <a:noFill/>
          <a:ln/>
        </p:spPr>
        <p:txBody>
          <a:bodyPr wrap="square" lIns="0" tIns="0" rIns="0" bIns="0" rtlCol="0" anchor="t"/>
          <a:lstStyle/>
          <a:p>
            <a:pPr marL="0" indent="0" algn="ctr">
              <a:buNone/>
            </a:pPr>
            <a:r>
              <a:rPr lang="en-US" sz="1400" dirty="0">
                <a:solidFill>
                  <a:schemeClr val="accent6"/>
                </a:solidFill>
              </a:rPr>
              <a:t>A night exhibition at the City Art Museum</a:t>
            </a:r>
            <a:endParaRPr lang="en-US" sz="1400" dirty="0"/>
          </a:p>
        </p:txBody>
      </p:sp>
      <p:sp>
        <p:nvSpPr>
          <p:cNvPr id="16" name="Case stat 2-1"/>
          <p:cNvSpPr txBox="1"/>
          <p:nvPr/>
        </p:nvSpPr>
        <p:spPr>
          <a:xfrm>
            <a:off x="3566160" y="4343400"/>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5 suspects</a:t>
            </a:r>
            <a:endParaRPr lang="en-US" sz="1500" dirty="0"/>
          </a:p>
        </p:txBody>
      </p:sp>
      <p:sp>
        <p:nvSpPr>
          <p:cNvPr id="17" name="Case stat 2-2"/>
          <p:cNvSpPr txBox="1"/>
          <p:nvPr/>
        </p:nvSpPr>
        <p:spPr>
          <a:xfrm>
            <a:off x="3566160" y="4690872"/>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5 places</a:t>
            </a:r>
            <a:endParaRPr lang="en-US" sz="1500" dirty="0"/>
          </a:p>
        </p:txBody>
      </p:sp>
      <p:sp>
        <p:nvSpPr>
          <p:cNvPr id="18" name="Case stat 2-3"/>
          <p:cNvSpPr txBox="1"/>
          <p:nvPr/>
        </p:nvSpPr>
        <p:spPr>
          <a:xfrm>
            <a:off x="3566160" y="5038344"/>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13 clues</a:t>
            </a:r>
            <a:endParaRPr lang="en-US" sz="1500" dirty="0"/>
          </a:p>
        </p:txBody>
      </p:sp>
      <p:sp>
        <p:nvSpPr>
          <p:cNvPr id="19" name="Case card 3"/>
          <p:cNvSpPr/>
          <p:nvPr/>
        </p:nvSpPr>
        <p:spPr>
          <a:xfrm>
            <a:off x="6217920" y="1463040"/>
            <a:ext cx="2560320" cy="4069080"/>
          </a:xfrm>
          <a:prstGeom prst="roundRect">
            <a:avLst>
              <a:gd name="adj" fmla="val 4286"/>
            </a:avLst>
          </a:prstGeom>
          <a:solidFill>
            <a:schemeClr val="bg1"/>
          </a:solidFill>
          <a:ln/>
          <a:effectLst>
            <a:outerShdw blurRad="101600" dist="25400" dir="5400000" algn="bl" rotWithShape="0">
              <a:srgbClr val="000000">
                <a:alpha val="12000"/>
              </a:srgbClr>
            </a:outerShdw>
          </a:effectLst>
        </p:spPr>
      </p:sp>
      <p:sp>
        <p:nvSpPr>
          <p:cNvPr id="20" name="Case 3 circle"/>
          <p:cNvSpPr/>
          <p:nvPr/>
        </p:nvSpPr>
        <p:spPr>
          <a:xfrm>
            <a:off x="7040880" y="1737360"/>
            <a:ext cx="914400" cy="914400"/>
          </a:xfrm>
          <a:prstGeom prst="ellipse">
            <a:avLst/>
          </a:prstGeom>
          <a:solidFill>
            <a:schemeClr val="tx2"/>
          </a:solidFill>
          <a:ln/>
        </p:spPr>
      </p:sp>
      <p:pic>
        <p:nvPicPr>
          <p:cNvPr id="21" name="Case 3 icon" descr="preencoded.png"/>
          <p:cNvPicPr>
            <a:picLocks noChangeAspect="1"/>
          </p:cNvPicPr>
          <p:nvPr/>
        </p:nvPicPr>
        <p:blipFill>
          <a:blip r:embed="rId5"/>
          <a:stretch>
            <a:fillRect/>
          </a:stretch>
        </p:blipFill>
        <p:spPr>
          <a:xfrm>
            <a:off x="7269480" y="1965960"/>
            <a:ext cx="457200" cy="457200"/>
          </a:xfrm>
          <a:prstGeom prst="rect">
            <a:avLst/>
          </a:prstGeom>
        </p:spPr>
      </p:pic>
      <p:sp>
        <p:nvSpPr>
          <p:cNvPr id="22" name="Case title 3"/>
          <p:cNvSpPr txBox="1"/>
          <p:nvPr/>
        </p:nvSpPr>
        <p:spPr>
          <a:xfrm>
            <a:off x="6400800" y="2834640"/>
            <a:ext cx="2194560" cy="777240"/>
          </a:xfrm>
          <a:prstGeom prst="rect">
            <a:avLst/>
          </a:prstGeom>
          <a:noFill/>
          <a:ln/>
        </p:spPr>
        <p:txBody>
          <a:bodyPr wrap="square" lIns="0" tIns="0" rIns="0" bIns="0" rtlCol="0" anchor="ctr"/>
          <a:lstStyle/>
          <a:p>
            <a:pPr marL="0" indent="0" algn="ctr">
              <a:buNone/>
            </a:pPr>
            <a:r>
              <a:rPr lang="en-US" sz="1800" b="1" dirty="0">
                <a:solidFill>
                  <a:schemeClr val="tx2"/>
                </a:solidFill>
              </a:rPr>
              <a:t>The Leaked Exam Paper</a:t>
            </a:r>
            <a:endParaRPr lang="en-US" sz="1800" dirty="0"/>
          </a:p>
        </p:txBody>
      </p:sp>
      <p:sp>
        <p:nvSpPr>
          <p:cNvPr id="23" name="Case setting 3"/>
          <p:cNvSpPr txBox="1"/>
          <p:nvPr/>
        </p:nvSpPr>
        <p:spPr>
          <a:xfrm>
            <a:off x="6400800" y="3657600"/>
            <a:ext cx="2194560" cy="640080"/>
          </a:xfrm>
          <a:prstGeom prst="rect">
            <a:avLst/>
          </a:prstGeom>
          <a:noFill/>
          <a:ln/>
        </p:spPr>
        <p:txBody>
          <a:bodyPr wrap="square" lIns="0" tIns="0" rIns="0" bIns="0" rtlCol="0" anchor="t"/>
          <a:lstStyle/>
          <a:p>
            <a:pPr marL="0" indent="0" algn="ctr">
              <a:buNone/>
            </a:pPr>
            <a:r>
              <a:rPr lang="en-US" sz="1400" dirty="0">
                <a:solidFill>
                  <a:schemeClr val="accent6"/>
                </a:solidFill>
              </a:rPr>
              <a:t>Final exam night at Sunrise College</a:t>
            </a:r>
            <a:endParaRPr lang="en-US" sz="1400" dirty="0"/>
          </a:p>
        </p:txBody>
      </p:sp>
      <p:sp>
        <p:nvSpPr>
          <p:cNvPr id="24" name="Case stat 3-1"/>
          <p:cNvSpPr txBox="1"/>
          <p:nvPr/>
        </p:nvSpPr>
        <p:spPr>
          <a:xfrm>
            <a:off x="6400800" y="4343400"/>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5 suspects</a:t>
            </a:r>
            <a:endParaRPr lang="en-US" sz="1500" dirty="0"/>
          </a:p>
        </p:txBody>
      </p:sp>
      <p:sp>
        <p:nvSpPr>
          <p:cNvPr id="25" name="Case stat 3-2"/>
          <p:cNvSpPr txBox="1"/>
          <p:nvPr/>
        </p:nvSpPr>
        <p:spPr>
          <a:xfrm>
            <a:off x="6400800" y="4690872"/>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5 places</a:t>
            </a:r>
            <a:endParaRPr lang="en-US" sz="1500" dirty="0"/>
          </a:p>
        </p:txBody>
      </p:sp>
      <p:sp>
        <p:nvSpPr>
          <p:cNvPr id="26" name="Case stat 3-3"/>
          <p:cNvSpPr txBox="1"/>
          <p:nvPr/>
        </p:nvSpPr>
        <p:spPr>
          <a:xfrm>
            <a:off x="6400800" y="5038344"/>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12 clues</a:t>
            </a:r>
            <a:endParaRPr lang="en-US" sz="1500" dirty="0"/>
          </a:p>
        </p:txBody>
      </p:sp>
      <p:sp>
        <p:nvSpPr>
          <p:cNvPr id="27" name="Case card 4"/>
          <p:cNvSpPr/>
          <p:nvPr/>
        </p:nvSpPr>
        <p:spPr>
          <a:xfrm>
            <a:off x="9052560" y="1463040"/>
            <a:ext cx="2560320" cy="4069080"/>
          </a:xfrm>
          <a:prstGeom prst="roundRect">
            <a:avLst>
              <a:gd name="adj" fmla="val 4286"/>
            </a:avLst>
          </a:prstGeom>
          <a:solidFill>
            <a:schemeClr val="bg1"/>
          </a:solidFill>
          <a:ln/>
          <a:effectLst>
            <a:outerShdw blurRad="101600" dist="25400" dir="5400000" algn="bl" rotWithShape="0">
              <a:srgbClr val="000000">
                <a:alpha val="12000"/>
              </a:srgbClr>
            </a:outerShdw>
          </a:effectLst>
        </p:spPr>
      </p:sp>
      <p:sp>
        <p:nvSpPr>
          <p:cNvPr id="28" name="Case 4 circle"/>
          <p:cNvSpPr/>
          <p:nvPr/>
        </p:nvSpPr>
        <p:spPr>
          <a:xfrm>
            <a:off x="9875520" y="1737360"/>
            <a:ext cx="914400" cy="914400"/>
          </a:xfrm>
          <a:prstGeom prst="ellipse">
            <a:avLst/>
          </a:prstGeom>
          <a:solidFill>
            <a:schemeClr val="tx2"/>
          </a:solidFill>
          <a:ln/>
        </p:spPr>
      </p:sp>
      <p:pic>
        <p:nvPicPr>
          <p:cNvPr id="29" name="Case 4 icon" descr="preencoded.png"/>
          <p:cNvPicPr>
            <a:picLocks noChangeAspect="1"/>
          </p:cNvPicPr>
          <p:nvPr/>
        </p:nvPicPr>
        <p:blipFill>
          <a:blip r:embed="rId6"/>
          <a:stretch>
            <a:fillRect/>
          </a:stretch>
        </p:blipFill>
        <p:spPr>
          <a:xfrm>
            <a:off x="10104120" y="1965960"/>
            <a:ext cx="457200" cy="457200"/>
          </a:xfrm>
          <a:prstGeom prst="rect">
            <a:avLst/>
          </a:prstGeom>
        </p:spPr>
      </p:pic>
      <p:sp>
        <p:nvSpPr>
          <p:cNvPr id="30" name="Case title 4"/>
          <p:cNvSpPr txBox="1"/>
          <p:nvPr/>
        </p:nvSpPr>
        <p:spPr>
          <a:xfrm>
            <a:off x="9235440" y="2834640"/>
            <a:ext cx="2194560" cy="777240"/>
          </a:xfrm>
          <a:prstGeom prst="rect">
            <a:avLst/>
          </a:prstGeom>
          <a:noFill/>
          <a:ln/>
        </p:spPr>
        <p:txBody>
          <a:bodyPr wrap="square" lIns="0" tIns="0" rIns="0" bIns="0" rtlCol="0" anchor="ctr"/>
          <a:lstStyle/>
          <a:p>
            <a:pPr marL="0" indent="0" algn="ctr">
              <a:buNone/>
            </a:pPr>
            <a:r>
              <a:rPr lang="en-US" sz="1800" b="1" dirty="0">
                <a:solidFill>
                  <a:schemeClr val="tx2"/>
                </a:solidFill>
              </a:rPr>
              <a:t>The Night Train Necklace</a:t>
            </a:r>
            <a:endParaRPr lang="en-US" sz="1800" dirty="0"/>
          </a:p>
        </p:txBody>
      </p:sp>
      <p:sp>
        <p:nvSpPr>
          <p:cNvPr id="31" name="Case setting 4"/>
          <p:cNvSpPr txBox="1"/>
          <p:nvPr/>
        </p:nvSpPr>
        <p:spPr>
          <a:xfrm>
            <a:off x="9235440" y="3657600"/>
            <a:ext cx="2194560" cy="640080"/>
          </a:xfrm>
          <a:prstGeom prst="rect">
            <a:avLst/>
          </a:prstGeom>
          <a:noFill/>
          <a:ln/>
        </p:spPr>
        <p:txBody>
          <a:bodyPr wrap="square" lIns="0" tIns="0" rIns="0" bIns="0" rtlCol="0" anchor="t"/>
          <a:lstStyle/>
          <a:p>
            <a:pPr marL="0" indent="0" algn="ctr">
              <a:buNone/>
            </a:pPr>
            <a:r>
              <a:rPr lang="en-US" sz="1400" dirty="0">
                <a:solidFill>
                  <a:schemeClr val="accent6"/>
                </a:solidFill>
              </a:rPr>
              <a:t>A theft on the Night Express</a:t>
            </a:r>
            <a:endParaRPr lang="en-US" sz="1400" dirty="0"/>
          </a:p>
        </p:txBody>
      </p:sp>
      <p:sp>
        <p:nvSpPr>
          <p:cNvPr id="32" name="Case stat 4-1"/>
          <p:cNvSpPr txBox="1"/>
          <p:nvPr/>
        </p:nvSpPr>
        <p:spPr>
          <a:xfrm>
            <a:off x="9235440" y="4343400"/>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5 suspects</a:t>
            </a:r>
            <a:endParaRPr lang="en-US" sz="1500" dirty="0"/>
          </a:p>
        </p:txBody>
      </p:sp>
      <p:sp>
        <p:nvSpPr>
          <p:cNvPr id="33" name="Case stat 4-2"/>
          <p:cNvSpPr txBox="1"/>
          <p:nvPr/>
        </p:nvSpPr>
        <p:spPr>
          <a:xfrm>
            <a:off x="9235440" y="4690872"/>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5 places</a:t>
            </a:r>
            <a:endParaRPr lang="en-US" sz="1500" dirty="0"/>
          </a:p>
        </p:txBody>
      </p:sp>
      <p:sp>
        <p:nvSpPr>
          <p:cNvPr id="34" name="Case stat 4-3"/>
          <p:cNvSpPr txBox="1"/>
          <p:nvPr/>
        </p:nvSpPr>
        <p:spPr>
          <a:xfrm>
            <a:off x="9235440" y="5038344"/>
            <a:ext cx="2194560" cy="320040"/>
          </a:xfrm>
          <a:prstGeom prst="rect">
            <a:avLst/>
          </a:prstGeom>
          <a:noFill/>
          <a:ln/>
        </p:spPr>
        <p:txBody>
          <a:bodyPr wrap="square" lIns="0" tIns="0" rIns="0" bIns="0" rtlCol="0" anchor="t"/>
          <a:lstStyle/>
          <a:p>
            <a:pPr marL="0" indent="0" algn="ctr">
              <a:buNone/>
            </a:pPr>
            <a:r>
              <a:rPr lang="en-US" sz="1500" b="1" dirty="0">
                <a:solidFill>
                  <a:schemeClr val="tx1"/>
                </a:solidFill>
              </a:rPr>
              <a:t>12 clues</a:t>
            </a:r>
            <a:endParaRPr lang="en-US" sz="1500" dirty="0"/>
          </a:p>
        </p:txBody>
      </p:sp>
      <p:sp>
        <p:nvSpPr>
          <p:cNvPr id="35" name="Cases note"/>
          <p:cNvSpPr txBox="1"/>
          <p:nvPr/>
        </p:nvSpPr>
        <p:spPr>
          <a:xfrm>
            <a:off x="548640" y="5760720"/>
            <a:ext cx="11091672" cy="457200"/>
          </a:xfrm>
          <a:prstGeom prst="rect">
            <a:avLst/>
          </a:prstGeom>
          <a:noFill/>
          <a:ln/>
        </p:spPr>
        <p:txBody>
          <a:bodyPr wrap="square" lIns="0" tIns="0" rIns="0" bIns="0" rtlCol="0" anchor="t"/>
          <a:lstStyle/>
          <a:p>
            <a:pPr marL="0" indent="0" algn="ctr">
              <a:buNone/>
            </a:pPr>
            <a:r>
              <a:rPr lang="en-US" sz="1800" i="1" dirty="0">
                <a:solidFill>
                  <a:schemeClr val="accent6"/>
                </a:solidFill>
              </a:rPr>
              <a:t>Pick a case from the menu. Each case has its own story, suspects, clues and final questions.</a:t>
            </a:r>
            <a:endParaRPr lang="en-US" sz="1800" dirty="0"/>
          </a:p>
        </p:txBody>
      </p:sp>
      <p:sp>
        <p:nvSpPr>
          <p:cNvPr id="36"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Example: The Missing Blue Diamond</a:t>
            </a:r>
            <a:endParaRPr lang="en-US" sz="3600" dirty="0"/>
          </a:p>
        </p:txBody>
      </p:sp>
      <p:sp>
        <p:nvSpPr>
          <p:cNvPr id="3" name="Story panel"/>
          <p:cNvSpPr/>
          <p:nvPr/>
        </p:nvSpPr>
        <p:spPr>
          <a:xfrm>
            <a:off x="548640" y="1508760"/>
            <a:ext cx="4754880" cy="4572000"/>
          </a:xfrm>
          <a:prstGeom prst="roundRect">
            <a:avLst>
              <a:gd name="adj" fmla="val 2400"/>
            </a:avLst>
          </a:prstGeom>
          <a:solidFill>
            <a:schemeClr val="tx2"/>
          </a:solidFill>
          <a:ln/>
        </p:spPr>
      </p:sp>
      <p:sp>
        <p:nvSpPr>
          <p:cNvPr id="4" name="Story gem circle"/>
          <p:cNvSpPr/>
          <p:nvPr/>
        </p:nvSpPr>
        <p:spPr>
          <a:xfrm>
            <a:off x="868680" y="1828800"/>
            <a:ext cx="868680" cy="868680"/>
          </a:xfrm>
          <a:prstGeom prst="ellipse">
            <a:avLst/>
          </a:prstGeom>
          <a:solidFill>
            <a:schemeClr val="accent5"/>
          </a:solidFill>
          <a:ln/>
        </p:spPr>
      </p:sp>
      <p:pic>
        <p:nvPicPr>
          <p:cNvPr id="5" name="Story gem icon" descr="preencoded.png"/>
          <p:cNvPicPr>
            <a:picLocks noChangeAspect="1"/>
          </p:cNvPicPr>
          <p:nvPr/>
        </p:nvPicPr>
        <p:blipFill>
          <a:blip r:embed="rId3"/>
          <a:stretch>
            <a:fillRect/>
          </a:stretch>
        </p:blipFill>
        <p:spPr>
          <a:xfrm>
            <a:off x="1085850" y="2045970"/>
            <a:ext cx="434340" cy="434340"/>
          </a:xfrm>
          <a:prstGeom prst="rect">
            <a:avLst/>
          </a:prstGeom>
        </p:spPr>
      </p:pic>
      <p:sp>
        <p:nvSpPr>
          <p:cNvPr id="6" name="Story heading"/>
          <p:cNvSpPr txBox="1"/>
          <p:nvPr/>
        </p:nvSpPr>
        <p:spPr>
          <a:xfrm>
            <a:off x="1920240" y="1828800"/>
            <a:ext cx="3108960" cy="868680"/>
          </a:xfrm>
          <a:prstGeom prst="rect">
            <a:avLst/>
          </a:prstGeom>
          <a:noFill/>
          <a:ln/>
        </p:spPr>
        <p:txBody>
          <a:bodyPr wrap="square" lIns="0" tIns="0" rIns="0" bIns="0" rtlCol="0" anchor="ctr"/>
          <a:lstStyle/>
          <a:p>
            <a:pPr marL="0" indent="0">
              <a:buNone/>
            </a:pPr>
            <a:r>
              <a:rPr lang="en-US" sz="2400" b="1" dirty="0">
                <a:solidFill>
                  <a:schemeClr val="accent1"/>
                </a:solidFill>
              </a:rPr>
              <a:t>The story</a:t>
            </a:r>
            <a:endParaRPr lang="en-US" sz="2400" dirty="0"/>
          </a:p>
        </p:txBody>
      </p:sp>
      <p:sp>
        <p:nvSpPr>
          <p:cNvPr id="7" name="Story text"/>
          <p:cNvSpPr txBox="1"/>
          <p:nvPr/>
        </p:nvSpPr>
        <p:spPr>
          <a:xfrm>
            <a:off x="868680" y="3017520"/>
            <a:ext cx="4114800" cy="2834640"/>
          </a:xfrm>
          <a:prstGeom prst="rect">
            <a:avLst/>
          </a:prstGeom>
          <a:noFill/>
          <a:ln/>
        </p:spPr>
        <p:txBody>
          <a:bodyPr wrap="square" lIns="0" tIns="0" rIns="0" bIns="0" rtlCol="0" anchor="t"/>
          <a:lstStyle/>
          <a:p>
            <a:pPr marL="0" indent="0">
              <a:buNone/>
            </a:pPr>
            <a:r>
              <a:rPr lang="en-US" sz="1800" dirty="0">
                <a:solidFill>
                  <a:schemeClr val="bg1"/>
                </a:solidFill>
              </a:rPr>
              <a:t>Rose House, 9:00 PM. Lord Brown is having a dinner party. Suddenly, his Blue Diamond is gone from the safe in his study!</a:t>
            </a:r>
            <a:endParaRPr lang="en-US" sz="1800" dirty="0"/>
          </a:p>
          <a:p>
            <a:pPr marL="0" indent="0">
              <a:buNone/>
            </a:pPr>
            <a:endParaRPr lang="en-US" sz="1800" dirty="0"/>
          </a:p>
          <a:p>
            <a:pPr marL="0" indent="0">
              <a:buNone/>
            </a:pPr>
            <a:r>
              <a:rPr lang="en-US" sz="1800" dirty="0">
                <a:solidFill>
                  <a:schemeClr val="bg1"/>
                </a:solidFill>
              </a:rPr>
              <a:t>You are Detective Sam. Find the thief before time runs out.</a:t>
            </a:r>
            <a:endParaRPr lang="en-US" sz="1800" dirty="0"/>
          </a:p>
        </p:txBody>
      </p:sp>
      <p:sp>
        <p:nvSpPr>
          <p:cNvPr id="8" name="Suspect card 1"/>
          <p:cNvSpPr/>
          <p:nvPr/>
        </p:nvSpPr>
        <p:spPr>
          <a:xfrm>
            <a:off x="5577840" y="1508760"/>
            <a:ext cx="2953512"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9" name="Suspect avatar 1"/>
          <p:cNvSpPr/>
          <p:nvPr/>
        </p:nvSpPr>
        <p:spPr>
          <a:xfrm>
            <a:off x="5806440" y="1737360"/>
            <a:ext cx="685800" cy="685800"/>
          </a:xfrm>
          <a:prstGeom prst="ellipse">
            <a:avLst/>
          </a:prstGeom>
          <a:solidFill>
            <a:schemeClr val="accent4"/>
          </a:solidFill>
          <a:ln/>
        </p:spPr>
      </p:sp>
      <p:sp>
        <p:nvSpPr>
          <p:cNvPr id="10" name="Suspect initial 1"/>
          <p:cNvSpPr txBox="1"/>
          <p:nvPr/>
        </p:nvSpPr>
        <p:spPr>
          <a:xfrm>
            <a:off x="5806440" y="1737360"/>
            <a:ext cx="685800" cy="685800"/>
          </a:xfrm>
          <a:prstGeom prst="rect">
            <a:avLst/>
          </a:prstGeom>
          <a:noFill/>
          <a:ln/>
        </p:spPr>
        <p:txBody>
          <a:bodyPr wrap="square" lIns="0" tIns="0" rIns="0" bIns="0" rtlCol="0" anchor="ctr"/>
          <a:lstStyle/>
          <a:p>
            <a:pPr marL="0" indent="0" algn="ctr">
              <a:buNone/>
            </a:pPr>
            <a:r>
              <a:rPr lang="en-US" sz="2400" b="1" dirty="0">
                <a:solidFill>
                  <a:schemeClr val="tx2"/>
                </a:solidFill>
              </a:rPr>
              <a:t>T</a:t>
            </a:r>
            <a:endParaRPr lang="en-US" sz="2400" dirty="0"/>
          </a:p>
        </p:txBody>
      </p:sp>
      <p:sp>
        <p:nvSpPr>
          <p:cNvPr id="11" name="Suspect name 1"/>
          <p:cNvSpPr txBox="1"/>
          <p:nvPr/>
        </p:nvSpPr>
        <p:spPr>
          <a:xfrm>
            <a:off x="6629400" y="1737360"/>
            <a:ext cx="1783080" cy="365760"/>
          </a:xfrm>
          <a:prstGeom prst="rect">
            <a:avLst/>
          </a:prstGeom>
          <a:noFill/>
          <a:ln/>
        </p:spPr>
        <p:txBody>
          <a:bodyPr wrap="square" lIns="0" tIns="0" rIns="0" bIns="0" rtlCol="0" anchor="t"/>
          <a:lstStyle/>
          <a:p>
            <a:pPr marL="0" indent="0">
              <a:buNone/>
            </a:pPr>
            <a:r>
              <a:rPr lang="en-US" sz="2000" b="1" dirty="0">
                <a:solidFill>
                  <a:schemeClr val="tx2"/>
                </a:solidFill>
              </a:rPr>
              <a:t>Tom</a:t>
            </a:r>
            <a:endParaRPr lang="en-US" sz="2000" dirty="0"/>
          </a:p>
        </p:txBody>
      </p:sp>
      <p:sp>
        <p:nvSpPr>
          <p:cNvPr id="12" name="Suspect role 1"/>
          <p:cNvSpPr txBox="1"/>
          <p:nvPr/>
        </p:nvSpPr>
        <p:spPr>
          <a:xfrm>
            <a:off x="6629400" y="2103120"/>
            <a:ext cx="1783080" cy="320040"/>
          </a:xfrm>
          <a:prstGeom prst="rect">
            <a:avLst/>
          </a:prstGeom>
          <a:noFill/>
          <a:ln/>
        </p:spPr>
        <p:txBody>
          <a:bodyPr wrap="square" lIns="0" tIns="0" rIns="0" bIns="0" rtlCol="0" anchor="t"/>
          <a:lstStyle/>
          <a:p>
            <a:pPr marL="0" indent="0">
              <a:buNone/>
            </a:pPr>
            <a:r>
              <a:rPr lang="en-US" sz="1400" dirty="0">
                <a:solidFill>
                  <a:schemeClr val="accent6"/>
                </a:solidFill>
              </a:rPr>
              <a:t>Butler</a:t>
            </a:r>
            <a:endParaRPr lang="en-US" sz="1400" dirty="0"/>
          </a:p>
        </p:txBody>
      </p:sp>
      <p:sp>
        <p:nvSpPr>
          <p:cNvPr id="13" name="Suspect text 1"/>
          <p:cNvSpPr txBox="1"/>
          <p:nvPr/>
        </p:nvSpPr>
        <p:spPr>
          <a:xfrm>
            <a:off x="5806440" y="2651760"/>
            <a:ext cx="2560320" cy="914400"/>
          </a:xfrm>
          <a:prstGeom prst="rect">
            <a:avLst/>
          </a:prstGeom>
          <a:noFill/>
          <a:ln/>
        </p:spPr>
        <p:txBody>
          <a:bodyPr wrap="square" lIns="0" tIns="0" rIns="0" bIns="0" rtlCol="0" anchor="t"/>
          <a:lstStyle/>
          <a:p>
            <a:pPr marL="0" indent="0">
              <a:buNone/>
            </a:pPr>
            <a:r>
              <a:rPr lang="en-US" sz="1500" dirty="0">
                <a:solidFill>
                  <a:schemeClr val="tx1"/>
                </a:solidFill>
              </a:rPr>
              <a:t>Works for the family for 30 years.</a:t>
            </a:r>
            <a:endParaRPr lang="en-US" sz="1500" dirty="0"/>
          </a:p>
        </p:txBody>
      </p:sp>
      <p:sp>
        <p:nvSpPr>
          <p:cNvPr id="14" name="Suspect card 2"/>
          <p:cNvSpPr/>
          <p:nvPr/>
        </p:nvSpPr>
        <p:spPr>
          <a:xfrm>
            <a:off x="8686800" y="1508760"/>
            <a:ext cx="2953512"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15" name="Suspect avatar 2"/>
          <p:cNvSpPr/>
          <p:nvPr/>
        </p:nvSpPr>
        <p:spPr>
          <a:xfrm>
            <a:off x="8915400" y="1737360"/>
            <a:ext cx="685800" cy="685800"/>
          </a:xfrm>
          <a:prstGeom prst="ellipse">
            <a:avLst/>
          </a:prstGeom>
          <a:solidFill>
            <a:schemeClr val="accent2"/>
          </a:solidFill>
          <a:ln/>
        </p:spPr>
      </p:sp>
      <p:sp>
        <p:nvSpPr>
          <p:cNvPr id="16" name="Suspect initial 2"/>
          <p:cNvSpPr txBox="1"/>
          <p:nvPr/>
        </p:nvSpPr>
        <p:spPr>
          <a:xfrm>
            <a:off x="8915400" y="1737360"/>
            <a:ext cx="685800" cy="685800"/>
          </a:xfrm>
          <a:prstGeom prst="rect">
            <a:avLst/>
          </a:prstGeom>
          <a:noFill/>
          <a:ln/>
        </p:spPr>
        <p:txBody>
          <a:bodyPr wrap="square" lIns="0" tIns="0" rIns="0" bIns="0" rtlCol="0" anchor="ctr"/>
          <a:lstStyle/>
          <a:p>
            <a:pPr marL="0" indent="0" algn="ctr">
              <a:buNone/>
            </a:pPr>
            <a:r>
              <a:rPr lang="en-US" sz="2400" b="1" dirty="0">
                <a:solidFill>
                  <a:schemeClr val="tx2"/>
                </a:solidFill>
              </a:rPr>
              <a:t>A</a:t>
            </a:r>
            <a:endParaRPr lang="en-US" sz="2400" dirty="0"/>
          </a:p>
        </p:txBody>
      </p:sp>
      <p:sp>
        <p:nvSpPr>
          <p:cNvPr id="17" name="Suspect name 2"/>
          <p:cNvSpPr txBox="1"/>
          <p:nvPr/>
        </p:nvSpPr>
        <p:spPr>
          <a:xfrm>
            <a:off x="9738360" y="1737360"/>
            <a:ext cx="1783080" cy="365760"/>
          </a:xfrm>
          <a:prstGeom prst="rect">
            <a:avLst/>
          </a:prstGeom>
          <a:noFill/>
          <a:ln/>
        </p:spPr>
        <p:txBody>
          <a:bodyPr wrap="square" lIns="0" tIns="0" rIns="0" bIns="0" rtlCol="0" anchor="t"/>
          <a:lstStyle/>
          <a:p>
            <a:pPr marL="0" indent="0">
              <a:buNone/>
            </a:pPr>
            <a:r>
              <a:rPr lang="en-US" sz="2000" b="1" dirty="0">
                <a:solidFill>
                  <a:schemeClr val="tx2"/>
                </a:solidFill>
              </a:rPr>
              <a:t>Anna</a:t>
            </a:r>
            <a:endParaRPr lang="en-US" sz="2000" dirty="0"/>
          </a:p>
        </p:txBody>
      </p:sp>
      <p:sp>
        <p:nvSpPr>
          <p:cNvPr id="18" name="Suspect role 2"/>
          <p:cNvSpPr txBox="1"/>
          <p:nvPr/>
        </p:nvSpPr>
        <p:spPr>
          <a:xfrm>
            <a:off x="9738360" y="2103120"/>
            <a:ext cx="1783080" cy="320040"/>
          </a:xfrm>
          <a:prstGeom prst="rect">
            <a:avLst/>
          </a:prstGeom>
          <a:noFill/>
          <a:ln/>
        </p:spPr>
        <p:txBody>
          <a:bodyPr wrap="square" lIns="0" tIns="0" rIns="0" bIns="0" rtlCol="0" anchor="t"/>
          <a:lstStyle/>
          <a:p>
            <a:pPr marL="0" indent="0">
              <a:buNone/>
            </a:pPr>
            <a:r>
              <a:rPr lang="en-US" sz="1400" dirty="0">
                <a:solidFill>
                  <a:schemeClr val="accent6"/>
                </a:solidFill>
              </a:rPr>
              <a:t>Niece</a:t>
            </a:r>
            <a:endParaRPr lang="en-US" sz="1400" dirty="0"/>
          </a:p>
        </p:txBody>
      </p:sp>
      <p:sp>
        <p:nvSpPr>
          <p:cNvPr id="19" name="Suspect text 2"/>
          <p:cNvSpPr txBox="1"/>
          <p:nvPr/>
        </p:nvSpPr>
        <p:spPr>
          <a:xfrm>
            <a:off x="8915400" y="2651760"/>
            <a:ext cx="2560320" cy="914400"/>
          </a:xfrm>
          <a:prstGeom prst="rect">
            <a:avLst/>
          </a:prstGeom>
          <a:noFill/>
          <a:ln/>
        </p:spPr>
        <p:txBody>
          <a:bodyPr wrap="square" lIns="0" tIns="0" rIns="0" bIns="0" rtlCol="0" anchor="t"/>
          <a:lstStyle/>
          <a:p>
            <a:pPr marL="0" indent="0">
              <a:buNone/>
            </a:pPr>
            <a:r>
              <a:rPr lang="en-US" sz="1500" dirty="0">
                <a:solidFill>
                  <a:schemeClr val="tx1"/>
                </a:solidFill>
              </a:rPr>
              <a:t>Lord Brown's niece. She looks scared.</a:t>
            </a:r>
            <a:endParaRPr lang="en-US" sz="1500" dirty="0"/>
          </a:p>
        </p:txBody>
      </p:sp>
      <p:sp>
        <p:nvSpPr>
          <p:cNvPr id="20" name="Suspect card 3"/>
          <p:cNvSpPr/>
          <p:nvPr/>
        </p:nvSpPr>
        <p:spPr>
          <a:xfrm>
            <a:off x="5577840" y="3886200"/>
            <a:ext cx="2953512"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21" name="Suspect avatar 3"/>
          <p:cNvSpPr/>
          <p:nvPr/>
        </p:nvSpPr>
        <p:spPr>
          <a:xfrm>
            <a:off x="5806440" y="4114800"/>
            <a:ext cx="685800" cy="685800"/>
          </a:xfrm>
          <a:prstGeom prst="ellipse">
            <a:avLst/>
          </a:prstGeom>
          <a:solidFill>
            <a:schemeClr val="accent3"/>
          </a:solidFill>
          <a:ln/>
        </p:spPr>
      </p:sp>
      <p:sp>
        <p:nvSpPr>
          <p:cNvPr id="22" name="Suspect initial 3"/>
          <p:cNvSpPr txBox="1"/>
          <p:nvPr/>
        </p:nvSpPr>
        <p:spPr>
          <a:xfrm>
            <a:off x="5806440" y="4114800"/>
            <a:ext cx="685800" cy="685800"/>
          </a:xfrm>
          <a:prstGeom prst="rect">
            <a:avLst/>
          </a:prstGeom>
          <a:noFill/>
          <a:ln/>
        </p:spPr>
        <p:txBody>
          <a:bodyPr wrap="square" lIns="0" tIns="0" rIns="0" bIns="0" rtlCol="0" anchor="ctr"/>
          <a:lstStyle/>
          <a:p>
            <a:pPr marL="0" indent="0" algn="ctr">
              <a:buNone/>
            </a:pPr>
            <a:r>
              <a:rPr lang="en-US" sz="2400" b="1" dirty="0">
                <a:solidFill>
                  <a:schemeClr val="tx2"/>
                </a:solidFill>
              </a:rPr>
              <a:t>L</a:t>
            </a:r>
            <a:endParaRPr lang="en-US" sz="2400" dirty="0"/>
          </a:p>
        </p:txBody>
      </p:sp>
      <p:sp>
        <p:nvSpPr>
          <p:cNvPr id="23" name="Suspect name 3"/>
          <p:cNvSpPr txBox="1"/>
          <p:nvPr/>
        </p:nvSpPr>
        <p:spPr>
          <a:xfrm>
            <a:off x="6629400" y="4114800"/>
            <a:ext cx="1783080" cy="365760"/>
          </a:xfrm>
          <a:prstGeom prst="rect">
            <a:avLst/>
          </a:prstGeom>
          <a:noFill/>
          <a:ln/>
        </p:spPr>
        <p:txBody>
          <a:bodyPr wrap="square" lIns="0" tIns="0" rIns="0" bIns="0" rtlCol="0" anchor="t"/>
          <a:lstStyle/>
          <a:p>
            <a:pPr marL="0" indent="0">
              <a:buNone/>
            </a:pPr>
            <a:r>
              <a:rPr lang="en-US" sz="2000" b="1" dirty="0">
                <a:solidFill>
                  <a:schemeClr val="tx2"/>
                </a:solidFill>
              </a:rPr>
              <a:t>Leo</a:t>
            </a:r>
            <a:endParaRPr lang="en-US" sz="2000" dirty="0"/>
          </a:p>
        </p:txBody>
      </p:sp>
      <p:sp>
        <p:nvSpPr>
          <p:cNvPr id="24" name="Suspect role 3"/>
          <p:cNvSpPr txBox="1"/>
          <p:nvPr/>
        </p:nvSpPr>
        <p:spPr>
          <a:xfrm>
            <a:off x="6629400" y="4480560"/>
            <a:ext cx="1783080" cy="320040"/>
          </a:xfrm>
          <a:prstGeom prst="rect">
            <a:avLst/>
          </a:prstGeom>
          <a:noFill/>
          <a:ln/>
        </p:spPr>
        <p:txBody>
          <a:bodyPr wrap="square" lIns="0" tIns="0" rIns="0" bIns="0" rtlCol="0" anchor="t"/>
          <a:lstStyle/>
          <a:p>
            <a:pPr marL="0" indent="0">
              <a:buNone/>
            </a:pPr>
            <a:r>
              <a:rPr lang="en-US" sz="1400" dirty="0">
                <a:solidFill>
                  <a:schemeClr val="accent6"/>
                </a:solidFill>
              </a:rPr>
              <a:t>Chef</a:t>
            </a:r>
            <a:endParaRPr lang="en-US" sz="1400" dirty="0"/>
          </a:p>
        </p:txBody>
      </p:sp>
      <p:sp>
        <p:nvSpPr>
          <p:cNvPr id="25" name="Suspect text 3"/>
          <p:cNvSpPr txBox="1"/>
          <p:nvPr/>
        </p:nvSpPr>
        <p:spPr>
          <a:xfrm>
            <a:off x="5806440" y="5029200"/>
            <a:ext cx="2560320" cy="914400"/>
          </a:xfrm>
          <a:prstGeom prst="rect">
            <a:avLst/>
          </a:prstGeom>
          <a:noFill/>
          <a:ln/>
        </p:spPr>
        <p:txBody>
          <a:bodyPr wrap="square" lIns="0" tIns="0" rIns="0" bIns="0" rtlCol="0" anchor="t"/>
          <a:lstStyle/>
          <a:p>
            <a:pPr marL="0" indent="0">
              <a:buNone/>
            </a:pPr>
            <a:r>
              <a:rPr lang="en-US" sz="1500" dirty="0">
                <a:solidFill>
                  <a:schemeClr val="tx1"/>
                </a:solidFill>
              </a:rPr>
              <a:t>Angry chef. Lord Brown shouted at him last week.</a:t>
            </a:r>
            <a:endParaRPr lang="en-US" sz="1500" dirty="0"/>
          </a:p>
        </p:txBody>
      </p:sp>
      <p:sp>
        <p:nvSpPr>
          <p:cNvPr id="26" name="Suspect card 4"/>
          <p:cNvSpPr/>
          <p:nvPr/>
        </p:nvSpPr>
        <p:spPr>
          <a:xfrm>
            <a:off x="8686800" y="3886200"/>
            <a:ext cx="2953512"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27" name="Suspect avatar 4"/>
          <p:cNvSpPr/>
          <p:nvPr/>
        </p:nvSpPr>
        <p:spPr>
          <a:xfrm>
            <a:off x="8915400" y="4114800"/>
            <a:ext cx="685800" cy="685800"/>
          </a:xfrm>
          <a:prstGeom prst="ellipse">
            <a:avLst/>
          </a:prstGeom>
          <a:solidFill>
            <a:schemeClr val="accent1"/>
          </a:solidFill>
          <a:ln/>
        </p:spPr>
      </p:sp>
      <p:sp>
        <p:nvSpPr>
          <p:cNvPr id="28" name="Suspect initial 4"/>
          <p:cNvSpPr txBox="1"/>
          <p:nvPr/>
        </p:nvSpPr>
        <p:spPr>
          <a:xfrm>
            <a:off x="8915400" y="4114800"/>
            <a:ext cx="685800" cy="685800"/>
          </a:xfrm>
          <a:prstGeom prst="rect">
            <a:avLst/>
          </a:prstGeom>
          <a:noFill/>
          <a:ln/>
        </p:spPr>
        <p:txBody>
          <a:bodyPr wrap="square" lIns="0" tIns="0" rIns="0" bIns="0" rtlCol="0" anchor="ctr"/>
          <a:lstStyle/>
          <a:p>
            <a:pPr marL="0" indent="0" algn="ctr">
              <a:buNone/>
            </a:pPr>
            <a:r>
              <a:rPr lang="en-US" sz="2400" b="1" dirty="0">
                <a:solidFill>
                  <a:schemeClr val="tx2"/>
                </a:solidFill>
              </a:rPr>
              <a:t>R</a:t>
            </a:r>
            <a:endParaRPr lang="en-US" sz="2400" dirty="0"/>
          </a:p>
        </p:txBody>
      </p:sp>
      <p:sp>
        <p:nvSpPr>
          <p:cNvPr id="29" name="Suspect name 4"/>
          <p:cNvSpPr txBox="1"/>
          <p:nvPr/>
        </p:nvSpPr>
        <p:spPr>
          <a:xfrm>
            <a:off x="9738360" y="4114800"/>
            <a:ext cx="1783080" cy="365760"/>
          </a:xfrm>
          <a:prstGeom prst="rect">
            <a:avLst/>
          </a:prstGeom>
          <a:noFill/>
          <a:ln/>
        </p:spPr>
        <p:txBody>
          <a:bodyPr wrap="square" lIns="0" tIns="0" rIns="0" bIns="0" rtlCol="0" anchor="t"/>
          <a:lstStyle/>
          <a:p>
            <a:pPr marL="0" indent="0">
              <a:buNone/>
            </a:pPr>
            <a:r>
              <a:rPr lang="en-US" sz="2000" b="1" dirty="0">
                <a:solidFill>
                  <a:schemeClr val="tx2"/>
                </a:solidFill>
              </a:rPr>
              <a:t>Dr. Ray</a:t>
            </a:r>
            <a:endParaRPr lang="en-US" sz="2000" dirty="0"/>
          </a:p>
        </p:txBody>
      </p:sp>
      <p:sp>
        <p:nvSpPr>
          <p:cNvPr id="30" name="Suspect role 4"/>
          <p:cNvSpPr txBox="1"/>
          <p:nvPr/>
        </p:nvSpPr>
        <p:spPr>
          <a:xfrm>
            <a:off x="9738360" y="4480560"/>
            <a:ext cx="1783080" cy="320040"/>
          </a:xfrm>
          <a:prstGeom prst="rect">
            <a:avLst/>
          </a:prstGeom>
          <a:noFill/>
          <a:ln/>
        </p:spPr>
        <p:txBody>
          <a:bodyPr wrap="square" lIns="0" tIns="0" rIns="0" bIns="0" rtlCol="0" anchor="t"/>
          <a:lstStyle/>
          <a:p>
            <a:pPr marL="0" indent="0">
              <a:buNone/>
            </a:pPr>
            <a:r>
              <a:rPr lang="en-US" sz="1400" dirty="0">
                <a:solidFill>
                  <a:schemeClr val="accent6"/>
                </a:solidFill>
              </a:rPr>
              <a:t>Family Doctor</a:t>
            </a:r>
            <a:endParaRPr lang="en-US" sz="1400" dirty="0"/>
          </a:p>
        </p:txBody>
      </p:sp>
      <p:sp>
        <p:nvSpPr>
          <p:cNvPr id="31" name="Suspect text 4"/>
          <p:cNvSpPr txBox="1"/>
          <p:nvPr/>
        </p:nvSpPr>
        <p:spPr>
          <a:xfrm>
            <a:off x="8915400" y="5029200"/>
            <a:ext cx="2560320" cy="914400"/>
          </a:xfrm>
          <a:prstGeom prst="rect">
            <a:avLst/>
          </a:prstGeom>
          <a:noFill/>
          <a:ln/>
        </p:spPr>
        <p:txBody>
          <a:bodyPr wrap="square" lIns="0" tIns="0" rIns="0" bIns="0" rtlCol="0" anchor="t"/>
          <a:lstStyle/>
          <a:p>
            <a:pPr marL="0" indent="0">
              <a:buNone/>
            </a:pPr>
            <a:r>
              <a:rPr lang="en-US" sz="1500" dirty="0">
                <a:solidFill>
                  <a:schemeClr val="tx1"/>
                </a:solidFill>
              </a:rPr>
              <a:t>Calm and well dressed.</a:t>
            </a:r>
            <a:endParaRPr lang="en-US" sz="1500" dirty="0"/>
          </a:p>
        </p:txBody>
      </p:sp>
      <p:sp>
        <p:nvSpPr>
          <p:cNvPr id="32"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How the game works</a:t>
            </a:r>
            <a:endParaRPr lang="en-US" sz="3600" dirty="0"/>
          </a:p>
        </p:txBody>
      </p:sp>
      <p:sp>
        <p:nvSpPr>
          <p:cNvPr id="3" name="Step card 1"/>
          <p:cNvSpPr/>
          <p:nvPr/>
        </p:nvSpPr>
        <p:spPr>
          <a:xfrm>
            <a:off x="548640" y="1508760"/>
            <a:ext cx="1645920" cy="3017520"/>
          </a:xfrm>
          <a:prstGeom prst="roundRect">
            <a:avLst>
              <a:gd name="adj" fmla="val 6667"/>
            </a:avLst>
          </a:prstGeom>
          <a:solidFill>
            <a:schemeClr val="bg1"/>
          </a:solidFill>
          <a:ln/>
          <a:effectLst>
            <a:outerShdw blurRad="101600" dist="25400" dir="5400000" algn="bl" rotWithShape="0">
              <a:srgbClr val="000000">
                <a:alpha val="12000"/>
              </a:srgbClr>
            </a:outerShdw>
          </a:effectLst>
        </p:spPr>
      </p:sp>
      <p:sp>
        <p:nvSpPr>
          <p:cNvPr id="4" name="Step 1 circle"/>
          <p:cNvSpPr/>
          <p:nvPr/>
        </p:nvSpPr>
        <p:spPr>
          <a:xfrm>
            <a:off x="914400" y="1691640"/>
            <a:ext cx="914400" cy="914400"/>
          </a:xfrm>
          <a:prstGeom prst="ellipse">
            <a:avLst/>
          </a:prstGeom>
          <a:solidFill>
            <a:schemeClr val="tx2"/>
          </a:solidFill>
          <a:ln/>
        </p:spPr>
      </p:sp>
      <p:pic>
        <p:nvPicPr>
          <p:cNvPr id="5" name="Step 1 icon" descr="preencoded.png"/>
          <p:cNvPicPr>
            <a:picLocks noChangeAspect="1"/>
          </p:cNvPicPr>
          <p:nvPr/>
        </p:nvPicPr>
        <p:blipFill>
          <a:blip r:embed="rId3"/>
          <a:stretch>
            <a:fillRect/>
          </a:stretch>
        </p:blipFill>
        <p:spPr>
          <a:xfrm>
            <a:off x="1143000" y="1920240"/>
            <a:ext cx="457200" cy="457200"/>
          </a:xfrm>
          <a:prstGeom prst="rect">
            <a:avLst/>
          </a:prstGeom>
        </p:spPr>
      </p:pic>
      <p:sp>
        <p:nvSpPr>
          <p:cNvPr id="6" name="Step label 1"/>
          <p:cNvSpPr txBox="1"/>
          <p:nvPr/>
        </p:nvSpPr>
        <p:spPr>
          <a:xfrm>
            <a:off x="685800" y="2743200"/>
            <a:ext cx="1371600" cy="274320"/>
          </a:xfrm>
          <a:prstGeom prst="rect">
            <a:avLst/>
          </a:prstGeom>
          <a:noFill/>
          <a:ln/>
        </p:spPr>
        <p:txBody>
          <a:bodyPr wrap="square" lIns="0" tIns="0" rIns="0" bIns="0" rtlCol="0" anchor="t"/>
          <a:lstStyle/>
          <a:p>
            <a:pPr marL="0" indent="0" algn="ctr">
              <a:buNone/>
            </a:pPr>
            <a:r>
              <a:rPr lang="en-US" sz="1200" b="1" dirty="0">
                <a:solidFill>
                  <a:schemeClr val="accent6"/>
                </a:solidFill>
              </a:rPr>
              <a:t>STEP 1</a:t>
            </a:r>
            <a:endParaRPr lang="en-US" sz="1200" dirty="0"/>
          </a:p>
        </p:txBody>
      </p:sp>
      <p:sp>
        <p:nvSpPr>
          <p:cNvPr id="7" name="Step title 1"/>
          <p:cNvSpPr txBox="1"/>
          <p:nvPr/>
        </p:nvSpPr>
        <p:spPr>
          <a:xfrm>
            <a:off x="640080" y="3017520"/>
            <a:ext cx="1463040" cy="594360"/>
          </a:xfrm>
          <a:prstGeom prst="rect">
            <a:avLst/>
          </a:prstGeom>
          <a:noFill/>
          <a:ln/>
        </p:spPr>
        <p:txBody>
          <a:bodyPr wrap="square" lIns="0" tIns="0" rIns="0" bIns="0" rtlCol="0" anchor="ctr"/>
          <a:lstStyle/>
          <a:p>
            <a:pPr marL="0" indent="0" algn="ctr">
              <a:buNone/>
            </a:pPr>
            <a:r>
              <a:rPr lang="en-US" sz="1500" b="1" dirty="0">
                <a:solidFill>
                  <a:schemeClr val="tx2"/>
                </a:solidFill>
              </a:rPr>
              <a:t>Choose case and level</a:t>
            </a:r>
            <a:endParaRPr lang="en-US" sz="1500" dirty="0"/>
          </a:p>
        </p:txBody>
      </p:sp>
      <p:sp>
        <p:nvSpPr>
          <p:cNvPr id="8" name="Step text 1"/>
          <p:cNvSpPr txBox="1"/>
          <p:nvPr/>
        </p:nvSpPr>
        <p:spPr>
          <a:xfrm>
            <a:off x="640080" y="3657600"/>
            <a:ext cx="1463040" cy="822960"/>
          </a:xfrm>
          <a:prstGeom prst="rect">
            <a:avLst/>
          </a:prstGeom>
          <a:noFill/>
          <a:ln/>
        </p:spPr>
        <p:txBody>
          <a:bodyPr wrap="square" lIns="0" tIns="0" rIns="0" bIns="0" rtlCol="0" anchor="t"/>
          <a:lstStyle/>
          <a:p>
            <a:pPr marL="0" indent="0" algn="ctr">
              <a:buNone/>
            </a:pPr>
            <a:r>
              <a:rPr lang="en-US" sz="1400" dirty="0">
                <a:solidFill>
                  <a:schemeClr val="tx1"/>
                </a:solidFill>
              </a:rPr>
              <a:t>Pick a mystery and Easy, Medium or Hard</a:t>
            </a:r>
            <a:endParaRPr lang="en-US" sz="1400" dirty="0"/>
          </a:p>
        </p:txBody>
      </p:sp>
      <p:pic>
        <p:nvPicPr>
          <p:cNvPr id="9" name="Step arrow 1" descr="preencoded.png"/>
          <p:cNvPicPr>
            <a:picLocks noChangeAspect="1"/>
          </p:cNvPicPr>
          <p:nvPr/>
        </p:nvPicPr>
        <p:blipFill>
          <a:blip r:embed="rId4"/>
          <a:stretch>
            <a:fillRect/>
          </a:stretch>
        </p:blipFill>
        <p:spPr>
          <a:xfrm>
            <a:off x="2231136" y="2926080"/>
            <a:ext cx="182880" cy="182880"/>
          </a:xfrm>
          <a:prstGeom prst="rect">
            <a:avLst/>
          </a:prstGeom>
        </p:spPr>
      </p:pic>
      <p:sp>
        <p:nvSpPr>
          <p:cNvPr id="10" name="Step card 2"/>
          <p:cNvSpPr/>
          <p:nvPr/>
        </p:nvSpPr>
        <p:spPr>
          <a:xfrm>
            <a:off x="2437790" y="1508760"/>
            <a:ext cx="1645920" cy="3017520"/>
          </a:xfrm>
          <a:prstGeom prst="roundRect">
            <a:avLst>
              <a:gd name="adj" fmla="val 6667"/>
            </a:avLst>
          </a:prstGeom>
          <a:solidFill>
            <a:schemeClr val="bg1"/>
          </a:solidFill>
          <a:ln/>
          <a:effectLst>
            <a:outerShdw blurRad="101600" dist="25400" dir="5400000" algn="bl" rotWithShape="0">
              <a:srgbClr val="000000">
                <a:alpha val="12000"/>
              </a:srgbClr>
            </a:outerShdw>
          </a:effectLst>
        </p:spPr>
      </p:sp>
      <p:sp>
        <p:nvSpPr>
          <p:cNvPr id="11" name="Step 2 circle"/>
          <p:cNvSpPr/>
          <p:nvPr/>
        </p:nvSpPr>
        <p:spPr>
          <a:xfrm>
            <a:off x="2803550" y="1691640"/>
            <a:ext cx="914400" cy="914400"/>
          </a:xfrm>
          <a:prstGeom prst="ellipse">
            <a:avLst/>
          </a:prstGeom>
          <a:solidFill>
            <a:schemeClr val="tx2"/>
          </a:solidFill>
          <a:ln/>
        </p:spPr>
      </p:sp>
      <p:pic>
        <p:nvPicPr>
          <p:cNvPr id="12" name="Step 2 icon" descr="preencoded.png"/>
          <p:cNvPicPr>
            <a:picLocks noChangeAspect="1"/>
          </p:cNvPicPr>
          <p:nvPr/>
        </p:nvPicPr>
        <p:blipFill>
          <a:blip r:embed="rId5"/>
          <a:stretch>
            <a:fillRect/>
          </a:stretch>
        </p:blipFill>
        <p:spPr>
          <a:xfrm>
            <a:off x="3032150" y="1920240"/>
            <a:ext cx="457200" cy="457200"/>
          </a:xfrm>
          <a:prstGeom prst="rect">
            <a:avLst/>
          </a:prstGeom>
        </p:spPr>
      </p:pic>
      <p:sp>
        <p:nvSpPr>
          <p:cNvPr id="13" name="Step label 2"/>
          <p:cNvSpPr txBox="1"/>
          <p:nvPr/>
        </p:nvSpPr>
        <p:spPr>
          <a:xfrm>
            <a:off x="2574950" y="2743200"/>
            <a:ext cx="1371600" cy="274320"/>
          </a:xfrm>
          <a:prstGeom prst="rect">
            <a:avLst/>
          </a:prstGeom>
          <a:noFill/>
          <a:ln/>
        </p:spPr>
        <p:txBody>
          <a:bodyPr wrap="square" lIns="0" tIns="0" rIns="0" bIns="0" rtlCol="0" anchor="t"/>
          <a:lstStyle/>
          <a:p>
            <a:pPr marL="0" indent="0" algn="ctr">
              <a:buNone/>
            </a:pPr>
            <a:r>
              <a:rPr lang="en-US" sz="1200" b="1" dirty="0">
                <a:solidFill>
                  <a:schemeClr val="accent6"/>
                </a:solidFill>
              </a:rPr>
              <a:t>STEP 2</a:t>
            </a:r>
            <a:endParaRPr lang="en-US" sz="1200" dirty="0"/>
          </a:p>
        </p:txBody>
      </p:sp>
      <p:sp>
        <p:nvSpPr>
          <p:cNvPr id="14" name="Step title 2"/>
          <p:cNvSpPr txBox="1"/>
          <p:nvPr/>
        </p:nvSpPr>
        <p:spPr>
          <a:xfrm>
            <a:off x="2529230" y="3017520"/>
            <a:ext cx="1463040" cy="594360"/>
          </a:xfrm>
          <a:prstGeom prst="rect">
            <a:avLst/>
          </a:prstGeom>
          <a:noFill/>
          <a:ln/>
        </p:spPr>
        <p:txBody>
          <a:bodyPr wrap="square" lIns="0" tIns="0" rIns="0" bIns="0" rtlCol="0" anchor="ctr"/>
          <a:lstStyle/>
          <a:p>
            <a:pPr marL="0" indent="0" algn="ctr">
              <a:buNone/>
            </a:pPr>
            <a:r>
              <a:rPr lang="en-US" sz="1500" b="1" dirty="0">
                <a:solidFill>
                  <a:schemeClr val="tx2"/>
                </a:solidFill>
              </a:rPr>
              <a:t>Search places</a:t>
            </a:r>
            <a:endParaRPr lang="en-US" sz="1500" dirty="0"/>
          </a:p>
        </p:txBody>
      </p:sp>
      <p:sp>
        <p:nvSpPr>
          <p:cNvPr id="15" name="Step text 2"/>
          <p:cNvSpPr txBox="1"/>
          <p:nvPr/>
        </p:nvSpPr>
        <p:spPr>
          <a:xfrm>
            <a:off x="2529230" y="3657600"/>
            <a:ext cx="1463040" cy="822960"/>
          </a:xfrm>
          <a:prstGeom prst="rect">
            <a:avLst/>
          </a:prstGeom>
          <a:noFill/>
          <a:ln/>
        </p:spPr>
        <p:txBody>
          <a:bodyPr wrap="square" lIns="0" tIns="0" rIns="0" bIns="0" rtlCol="0" anchor="t"/>
          <a:lstStyle/>
          <a:p>
            <a:pPr marL="0" indent="0" algn="ctr">
              <a:buNone/>
            </a:pPr>
            <a:r>
              <a:rPr lang="en-US" sz="1400" dirty="0">
                <a:solidFill>
                  <a:schemeClr val="tx1"/>
                </a:solidFill>
              </a:rPr>
              <a:t>Find clues in five locations</a:t>
            </a:r>
            <a:endParaRPr lang="en-US" sz="1400" dirty="0"/>
          </a:p>
        </p:txBody>
      </p:sp>
      <p:pic>
        <p:nvPicPr>
          <p:cNvPr id="16" name="Step arrow 2" descr="preencoded.png"/>
          <p:cNvPicPr>
            <a:picLocks noChangeAspect="1"/>
          </p:cNvPicPr>
          <p:nvPr/>
        </p:nvPicPr>
        <p:blipFill>
          <a:blip r:embed="rId4"/>
          <a:stretch>
            <a:fillRect/>
          </a:stretch>
        </p:blipFill>
        <p:spPr>
          <a:xfrm>
            <a:off x="4120286" y="2926080"/>
            <a:ext cx="182880" cy="182880"/>
          </a:xfrm>
          <a:prstGeom prst="rect">
            <a:avLst/>
          </a:prstGeom>
        </p:spPr>
      </p:pic>
      <p:sp>
        <p:nvSpPr>
          <p:cNvPr id="17" name="Step card 3"/>
          <p:cNvSpPr/>
          <p:nvPr/>
        </p:nvSpPr>
        <p:spPr>
          <a:xfrm>
            <a:off x="4326941" y="1508760"/>
            <a:ext cx="1645920" cy="3017520"/>
          </a:xfrm>
          <a:prstGeom prst="roundRect">
            <a:avLst>
              <a:gd name="adj" fmla="val 6667"/>
            </a:avLst>
          </a:prstGeom>
          <a:solidFill>
            <a:schemeClr val="bg1"/>
          </a:solidFill>
          <a:ln/>
          <a:effectLst>
            <a:outerShdw blurRad="101600" dist="25400" dir="5400000" algn="bl" rotWithShape="0">
              <a:srgbClr val="000000">
                <a:alpha val="12000"/>
              </a:srgbClr>
            </a:outerShdw>
          </a:effectLst>
        </p:spPr>
      </p:sp>
      <p:sp>
        <p:nvSpPr>
          <p:cNvPr id="18" name="Step 3 circle"/>
          <p:cNvSpPr/>
          <p:nvPr/>
        </p:nvSpPr>
        <p:spPr>
          <a:xfrm>
            <a:off x="4692701" y="1691640"/>
            <a:ext cx="914400" cy="914400"/>
          </a:xfrm>
          <a:prstGeom prst="ellipse">
            <a:avLst/>
          </a:prstGeom>
          <a:solidFill>
            <a:schemeClr val="tx2"/>
          </a:solidFill>
          <a:ln/>
        </p:spPr>
      </p:sp>
      <p:pic>
        <p:nvPicPr>
          <p:cNvPr id="19" name="Step 3 icon" descr="preencoded.png"/>
          <p:cNvPicPr>
            <a:picLocks noChangeAspect="1"/>
          </p:cNvPicPr>
          <p:nvPr/>
        </p:nvPicPr>
        <p:blipFill>
          <a:blip r:embed="rId6"/>
          <a:stretch>
            <a:fillRect/>
          </a:stretch>
        </p:blipFill>
        <p:spPr>
          <a:xfrm>
            <a:off x="4921301" y="1920240"/>
            <a:ext cx="457200" cy="457200"/>
          </a:xfrm>
          <a:prstGeom prst="rect">
            <a:avLst/>
          </a:prstGeom>
        </p:spPr>
      </p:pic>
      <p:sp>
        <p:nvSpPr>
          <p:cNvPr id="20" name="Step label 3"/>
          <p:cNvSpPr txBox="1"/>
          <p:nvPr/>
        </p:nvSpPr>
        <p:spPr>
          <a:xfrm>
            <a:off x="4464101" y="2743200"/>
            <a:ext cx="1371600" cy="274320"/>
          </a:xfrm>
          <a:prstGeom prst="rect">
            <a:avLst/>
          </a:prstGeom>
          <a:noFill/>
          <a:ln/>
        </p:spPr>
        <p:txBody>
          <a:bodyPr wrap="square" lIns="0" tIns="0" rIns="0" bIns="0" rtlCol="0" anchor="t"/>
          <a:lstStyle/>
          <a:p>
            <a:pPr marL="0" indent="0" algn="ctr">
              <a:buNone/>
            </a:pPr>
            <a:r>
              <a:rPr lang="en-US" sz="1200" b="1" dirty="0">
                <a:solidFill>
                  <a:schemeClr val="accent6"/>
                </a:solidFill>
              </a:rPr>
              <a:t>STEP 3</a:t>
            </a:r>
            <a:endParaRPr lang="en-US" sz="1200" dirty="0"/>
          </a:p>
        </p:txBody>
      </p:sp>
      <p:sp>
        <p:nvSpPr>
          <p:cNvPr id="21" name="Step title 3"/>
          <p:cNvSpPr txBox="1"/>
          <p:nvPr/>
        </p:nvSpPr>
        <p:spPr>
          <a:xfrm>
            <a:off x="4418381" y="3017520"/>
            <a:ext cx="1463040" cy="594360"/>
          </a:xfrm>
          <a:prstGeom prst="rect">
            <a:avLst/>
          </a:prstGeom>
          <a:noFill/>
          <a:ln/>
        </p:spPr>
        <p:txBody>
          <a:bodyPr wrap="square" lIns="0" tIns="0" rIns="0" bIns="0" rtlCol="0" anchor="ctr"/>
          <a:lstStyle/>
          <a:p>
            <a:pPr marL="0" indent="0" algn="ctr">
              <a:buNone/>
            </a:pPr>
            <a:r>
              <a:rPr lang="en-US" sz="1500" b="1" dirty="0">
                <a:solidFill>
                  <a:schemeClr val="tx2"/>
                </a:solidFill>
              </a:rPr>
              <a:t>Question suspects</a:t>
            </a:r>
            <a:endParaRPr lang="en-US" sz="1500" dirty="0"/>
          </a:p>
        </p:txBody>
      </p:sp>
      <p:sp>
        <p:nvSpPr>
          <p:cNvPr id="22" name="Step text 3"/>
          <p:cNvSpPr txBox="1"/>
          <p:nvPr/>
        </p:nvSpPr>
        <p:spPr>
          <a:xfrm>
            <a:off x="4418381" y="3657600"/>
            <a:ext cx="1463040" cy="822960"/>
          </a:xfrm>
          <a:prstGeom prst="rect">
            <a:avLst/>
          </a:prstGeom>
          <a:noFill/>
          <a:ln/>
        </p:spPr>
        <p:txBody>
          <a:bodyPr wrap="square" lIns="0" tIns="0" rIns="0" bIns="0" rtlCol="0" anchor="t"/>
          <a:lstStyle/>
          <a:p>
            <a:pPr marL="0" indent="0" algn="ctr">
              <a:buNone/>
            </a:pPr>
            <a:r>
              <a:rPr lang="en-US" sz="1400" dirty="0">
                <a:solidFill>
                  <a:schemeClr val="tx1"/>
                </a:solidFill>
              </a:rPr>
              <a:t>Hear statements that unlock clues</a:t>
            </a:r>
            <a:endParaRPr lang="en-US" sz="1400" dirty="0"/>
          </a:p>
        </p:txBody>
      </p:sp>
      <p:pic>
        <p:nvPicPr>
          <p:cNvPr id="23" name="Step arrow 3" descr="preencoded.png"/>
          <p:cNvPicPr>
            <a:picLocks noChangeAspect="1"/>
          </p:cNvPicPr>
          <p:nvPr/>
        </p:nvPicPr>
        <p:blipFill>
          <a:blip r:embed="rId4"/>
          <a:stretch>
            <a:fillRect/>
          </a:stretch>
        </p:blipFill>
        <p:spPr>
          <a:xfrm>
            <a:off x="6009437" y="2926080"/>
            <a:ext cx="182880" cy="182880"/>
          </a:xfrm>
          <a:prstGeom prst="rect">
            <a:avLst/>
          </a:prstGeom>
        </p:spPr>
      </p:pic>
      <p:sp>
        <p:nvSpPr>
          <p:cNvPr id="24" name="Step card 4"/>
          <p:cNvSpPr/>
          <p:nvPr/>
        </p:nvSpPr>
        <p:spPr>
          <a:xfrm>
            <a:off x="6216091" y="1508760"/>
            <a:ext cx="1645920" cy="3017520"/>
          </a:xfrm>
          <a:prstGeom prst="roundRect">
            <a:avLst>
              <a:gd name="adj" fmla="val 6667"/>
            </a:avLst>
          </a:prstGeom>
          <a:solidFill>
            <a:schemeClr val="bg1"/>
          </a:solidFill>
          <a:ln/>
          <a:effectLst>
            <a:outerShdw blurRad="101600" dist="25400" dir="5400000" algn="bl" rotWithShape="0">
              <a:srgbClr val="000000">
                <a:alpha val="12000"/>
              </a:srgbClr>
            </a:outerShdw>
          </a:effectLst>
        </p:spPr>
      </p:sp>
      <p:sp>
        <p:nvSpPr>
          <p:cNvPr id="25" name="Step 4 circle"/>
          <p:cNvSpPr/>
          <p:nvPr/>
        </p:nvSpPr>
        <p:spPr>
          <a:xfrm>
            <a:off x="6581851" y="1691640"/>
            <a:ext cx="914400" cy="914400"/>
          </a:xfrm>
          <a:prstGeom prst="ellipse">
            <a:avLst/>
          </a:prstGeom>
          <a:solidFill>
            <a:schemeClr val="tx2"/>
          </a:solidFill>
          <a:ln/>
        </p:spPr>
      </p:sp>
      <p:pic>
        <p:nvPicPr>
          <p:cNvPr id="26" name="Step 4 icon" descr="preencoded.png"/>
          <p:cNvPicPr>
            <a:picLocks noChangeAspect="1"/>
          </p:cNvPicPr>
          <p:nvPr/>
        </p:nvPicPr>
        <p:blipFill>
          <a:blip r:embed="rId7"/>
          <a:stretch>
            <a:fillRect/>
          </a:stretch>
        </p:blipFill>
        <p:spPr>
          <a:xfrm>
            <a:off x="6810451" y="1920240"/>
            <a:ext cx="457200" cy="457200"/>
          </a:xfrm>
          <a:prstGeom prst="rect">
            <a:avLst/>
          </a:prstGeom>
        </p:spPr>
      </p:pic>
      <p:sp>
        <p:nvSpPr>
          <p:cNvPr id="27" name="Step label 4"/>
          <p:cNvSpPr txBox="1"/>
          <p:nvPr/>
        </p:nvSpPr>
        <p:spPr>
          <a:xfrm>
            <a:off x="6353251" y="2743200"/>
            <a:ext cx="1371600" cy="274320"/>
          </a:xfrm>
          <a:prstGeom prst="rect">
            <a:avLst/>
          </a:prstGeom>
          <a:noFill/>
          <a:ln/>
        </p:spPr>
        <p:txBody>
          <a:bodyPr wrap="square" lIns="0" tIns="0" rIns="0" bIns="0" rtlCol="0" anchor="t"/>
          <a:lstStyle/>
          <a:p>
            <a:pPr marL="0" indent="0" algn="ctr">
              <a:buNone/>
            </a:pPr>
            <a:r>
              <a:rPr lang="en-US" sz="1200" b="1" dirty="0">
                <a:solidFill>
                  <a:schemeClr val="accent6"/>
                </a:solidFill>
              </a:rPr>
              <a:t>STEP 4</a:t>
            </a:r>
            <a:endParaRPr lang="en-US" sz="1200" dirty="0"/>
          </a:p>
        </p:txBody>
      </p:sp>
      <p:sp>
        <p:nvSpPr>
          <p:cNvPr id="28" name="Step title 4"/>
          <p:cNvSpPr txBox="1"/>
          <p:nvPr/>
        </p:nvSpPr>
        <p:spPr>
          <a:xfrm>
            <a:off x="6307531" y="3017520"/>
            <a:ext cx="1463040" cy="594360"/>
          </a:xfrm>
          <a:prstGeom prst="rect">
            <a:avLst/>
          </a:prstGeom>
          <a:noFill/>
          <a:ln/>
        </p:spPr>
        <p:txBody>
          <a:bodyPr wrap="square" lIns="0" tIns="0" rIns="0" bIns="0" rtlCol="0" anchor="ctr"/>
          <a:lstStyle/>
          <a:p>
            <a:pPr marL="0" indent="0" algn="ctr">
              <a:buNone/>
            </a:pPr>
            <a:r>
              <a:rPr lang="en-US" sz="1500" b="1" dirty="0">
                <a:solidFill>
                  <a:schemeClr val="tx2"/>
                </a:solidFill>
              </a:rPr>
              <a:t>Notebook and hints</a:t>
            </a:r>
            <a:endParaRPr lang="en-US" sz="1500" dirty="0"/>
          </a:p>
        </p:txBody>
      </p:sp>
      <p:sp>
        <p:nvSpPr>
          <p:cNvPr id="29" name="Step text 4"/>
          <p:cNvSpPr txBox="1"/>
          <p:nvPr/>
        </p:nvSpPr>
        <p:spPr>
          <a:xfrm>
            <a:off x="6307531" y="3657600"/>
            <a:ext cx="1463040" cy="822960"/>
          </a:xfrm>
          <a:prstGeom prst="rect">
            <a:avLst/>
          </a:prstGeom>
          <a:noFill/>
          <a:ln/>
        </p:spPr>
        <p:txBody>
          <a:bodyPr wrap="square" lIns="0" tIns="0" rIns="0" bIns="0" rtlCol="0" anchor="t"/>
          <a:lstStyle/>
          <a:p>
            <a:pPr marL="0" indent="0" algn="ctr">
              <a:buNone/>
            </a:pPr>
            <a:r>
              <a:rPr lang="en-US" sz="1400" dirty="0">
                <a:solidFill>
                  <a:schemeClr val="tx1"/>
                </a:solidFill>
              </a:rPr>
              <a:t>Every clue is saved. A hint costs 5 points</a:t>
            </a:r>
            <a:endParaRPr lang="en-US" sz="1400" dirty="0"/>
          </a:p>
        </p:txBody>
      </p:sp>
      <p:pic>
        <p:nvPicPr>
          <p:cNvPr id="30" name="Step arrow 4" descr="preencoded.png"/>
          <p:cNvPicPr>
            <a:picLocks noChangeAspect="1"/>
          </p:cNvPicPr>
          <p:nvPr/>
        </p:nvPicPr>
        <p:blipFill>
          <a:blip r:embed="rId4"/>
          <a:stretch>
            <a:fillRect/>
          </a:stretch>
        </p:blipFill>
        <p:spPr>
          <a:xfrm>
            <a:off x="7898587" y="2926080"/>
            <a:ext cx="182880" cy="182880"/>
          </a:xfrm>
          <a:prstGeom prst="rect">
            <a:avLst/>
          </a:prstGeom>
        </p:spPr>
      </p:pic>
      <p:sp>
        <p:nvSpPr>
          <p:cNvPr id="31" name="Step card 5"/>
          <p:cNvSpPr/>
          <p:nvPr/>
        </p:nvSpPr>
        <p:spPr>
          <a:xfrm>
            <a:off x="8105242" y="1508760"/>
            <a:ext cx="1645920" cy="3017520"/>
          </a:xfrm>
          <a:prstGeom prst="roundRect">
            <a:avLst>
              <a:gd name="adj" fmla="val 6667"/>
            </a:avLst>
          </a:prstGeom>
          <a:solidFill>
            <a:schemeClr val="bg1"/>
          </a:solidFill>
          <a:ln/>
          <a:effectLst>
            <a:outerShdw blurRad="101600" dist="25400" dir="5400000" algn="bl" rotWithShape="0">
              <a:srgbClr val="000000">
                <a:alpha val="12000"/>
              </a:srgbClr>
            </a:outerShdw>
          </a:effectLst>
        </p:spPr>
      </p:sp>
      <p:sp>
        <p:nvSpPr>
          <p:cNvPr id="32" name="Step 5 circle"/>
          <p:cNvSpPr/>
          <p:nvPr/>
        </p:nvSpPr>
        <p:spPr>
          <a:xfrm>
            <a:off x="8471002" y="1691640"/>
            <a:ext cx="914400" cy="914400"/>
          </a:xfrm>
          <a:prstGeom prst="ellipse">
            <a:avLst/>
          </a:prstGeom>
          <a:solidFill>
            <a:schemeClr val="tx2"/>
          </a:solidFill>
          <a:ln/>
        </p:spPr>
      </p:sp>
      <p:pic>
        <p:nvPicPr>
          <p:cNvPr id="33" name="Step 5 icon" descr="preencoded.png"/>
          <p:cNvPicPr>
            <a:picLocks noChangeAspect="1"/>
          </p:cNvPicPr>
          <p:nvPr/>
        </p:nvPicPr>
        <p:blipFill>
          <a:blip r:embed="rId8"/>
          <a:stretch>
            <a:fillRect/>
          </a:stretch>
        </p:blipFill>
        <p:spPr>
          <a:xfrm>
            <a:off x="8699602" y="1920240"/>
            <a:ext cx="457200" cy="457200"/>
          </a:xfrm>
          <a:prstGeom prst="rect">
            <a:avLst/>
          </a:prstGeom>
        </p:spPr>
      </p:pic>
      <p:sp>
        <p:nvSpPr>
          <p:cNvPr id="34" name="Step label 5"/>
          <p:cNvSpPr txBox="1"/>
          <p:nvPr/>
        </p:nvSpPr>
        <p:spPr>
          <a:xfrm>
            <a:off x="8242402" y="2743200"/>
            <a:ext cx="1371600" cy="274320"/>
          </a:xfrm>
          <a:prstGeom prst="rect">
            <a:avLst/>
          </a:prstGeom>
          <a:noFill/>
          <a:ln/>
        </p:spPr>
        <p:txBody>
          <a:bodyPr wrap="square" lIns="0" tIns="0" rIns="0" bIns="0" rtlCol="0" anchor="t"/>
          <a:lstStyle/>
          <a:p>
            <a:pPr marL="0" indent="0" algn="ctr">
              <a:buNone/>
            </a:pPr>
            <a:r>
              <a:rPr lang="en-US" sz="1200" b="1" dirty="0">
                <a:solidFill>
                  <a:schemeClr val="accent6"/>
                </a:solidFill>
              </a:rPr>
              <a:t>STEP 5</a:t>
            </a:r>
            <a:endParaRPr lang="en-US" sz="1200" dirty="0"/>
          </a:p>
        </p:txBody>
      </p:sp>
      <p:sp>
        <p:nvSpPr>
          <p:cNvPr id="35" name="Step title 5"/>
          <p:cNvSpPr txBox="1"/>
          <p:nvPr/>
        </p:nvSpPr>
        <p:spPr>
          <a:xfrm>
            <a:off x="8196682" y="3017520"/>
            <a:ext cx="1463040" cy="594360"/>
          </a:xfrm>
          <a:prstGeom prst="rect">
            <a:avLst/>
          </a:prstGeom>
          <a:noFill/>
          <a:ln/>
        </p:spPr>
        <p:txBody>
          <a:bodyPr wrap="square" lIns="0" tIns="0" rIns="0" bIns="0" rtlCol="0" anchor="ctr"/>
          <a:lstStyle/>
          <a:p>
            <a:pPr marL="0" indent="0" algn="ctr">
              <a:buNone/>
            </a:pPr>
            <a:r>
              <a:rPr lang="en-US" sz="1500" b="1" dirty="0">
                <a:solidFill>
                  <a:schemeClr val="tx2"/>
                </a:solidFill>
              </a:rPr>
              <a:t>Accuse</a:t>
            </a:r>
            <a:endParaRPr lang="en-US" sz="1500" dirty="0"/>
          </a:p>
        </p:txBody>
      </p:sp>
      <p:sp>
        <p:nvSpPr>
          <p:cNvPr id="36" name="Step text 5"/>
          <p:cNvSpPr txBox="1"/>
          <p:nvPr/>
        </p:nvSpPr>
        <p:spPr>
          <a:xfrm>
            <a:off x="8196682" y="3657600"/>
            <a:ext cx="1463040" cy="822960"/>
          </a:xfrm>
          <a:prstGeom prst="rect">
            <a:avLst/>
          </a:prstGeom>
          <a:noFill/>
          <a:ln/>
        </p:spPr>
        <p:txBody>
          <a:bodyPr wrap="square" lIns="0" tIns="0" rIns="0" bIns="0" rtlCol="0" anchor="t"/>
          <a:lstStyle/>
          <a:p>
            <a:pPr marL="0" indent="0" algn="ctr">
              <a:buNone/>
            </a:pPr>
            <a:r>
              <a:rPr lang="en-US" sz="1400" dirty="0">
                <a:solidFill>
                  <a:schemeClr val="tx1"/>
                </a:solidFill>
              </a:rPr>
              <a:t>Name the culprit</a:t>
            </a:r>
            <a:endParaRPr lang="en-US" sz="1400" dirty="0"/>
          </a:p>
        </p:txBody>
      </p:sp>
      <p:pic>
        <p:nvPicPr>
          <p:cNvPr id="37" name="Step arrow 5" descr="preencoded.png"/>
          <p:cNvPicPr>
            <a:picLocks noChangeAspect="1"/>
          </p:cNvPicPr>
          <p:nvPr/>
        </p:nvPicPr>
        <p:blipFill>
          <a:blip r:embed="rId4"/>
          <a:stretch>
            <a:fillRect/>
          </a:stretch>
        </p:blipFill>
        <p:spPr>
          <a:xfrm>
            <a:off x="9787738" y="2926080"/>
            <a:ext cx="182880" cy="182880"/>
          </a:xfrm>
          <a:prstGeom prst="rect">
            <a:avLst/>
          </a:prstGeom>
        </p:spPr>
      </p:pic>
      <p:sp>
        <p:nvSpPr>
          <p:cNvPr id="38" name="Step card 6"/>
          <p:cNvSpPr/>
          <p:nvPr/>
        </p:nvSpPr>
        <p:spPr>
          <a:xfrm>
            <a:off x="9994392" y="1508760"/>
            <a:ext cx="1645920" cy="3017520"/>
          </a:xfrm>
          <a:prstGeom prst="roundRect">
            <a:avLst>
              <a:gd name="adj" fmla="val 6667"/>
            </a:avLst>
          </a:prstGeom>
          <a:solidFill>
            <a:schemeClr val="bg1"/>
          </a:solidFill>
          <a:ln/>
          <a:effectLst>
            <a:outerShdw blurRad="101600" dist="25400" dir="5400000" algn="bl" rotWithShape="0">
              <a:srgbClr val="000000">
                <a:alpha val="12000"/>
              </a:srgbClr>
            </a:outerShdw>
          </a:effectLst>
        </p:spPr>
      </p:sp>
      <p:sp>
        <p:nvSpPr>
          <p:cNvPr id="39" name="Step 6 circle"/>
          <p:cNvSpPr/>
          <p:nvPr/>
        </p:nvSpPr>
        <p:spPr>
          <a:xfrm>
            <a:off x="10360152" y="1691640"/>
            <a:ext cx="914400" cy="914400"/>
          </a:xfrm>
          <a:prstGeom prst="ellipse">
            <a:avLst/>
          </a:prstGeom>
          <a:solidFill>
            <a:schemeClr val="tx2"/>
          </a:solidFill>
          <a:ln/>
        </p:spPr>
      </p:sp>
      <p:pic>
        <p:nvPicPr>
          <p:cNvPr id="40" name="Step 6 icon" descr="preencoded.png"/>
          <p:cNvPicPr>
            <a:picLocks noChangeAspect="1"/>
          </p:cNvPicPr>
          <p:nvPr/>
        </p:nvPicPr>
        <p:blipFill>
          <a:blip r:embed="rId9"/>
          <a:stretch>
            <a:fillRect/>
          </a:stretch>
        </p:blipFill>
        <p:spPr>
          <a:xfrm>
            <a:off x="10588752" y="1920240"/>
            <a:ext cx="457200" cy="457200"/>
          </a:xfrm>
          <a:prstGeom prst="rect">
            <a:avLst/>
          </a:prstGeom>
        </p:spPr>
      </p:pic>
      <p:sp>
        <p:nvSpPr>
          <p:cNvPr id="41" name="Step label 6"/>
          <p:cNvSpPr txBox="1"/>
          <p:nvPr/>
        </p:nvSpPr>
        <p:spPr>
          <a:xfrm>
            <a:off x="10131552" y="2743200"/>
            <a:ext cx="1371600" cy="274320"/>
          </a:xfrm>
          <a:prstGeom prst="rect">
            <a:avLst/>
          </a:prstGeom>
          <a:noFill/>
          <a:ln/>
        </p:spPr>
        <p:txBody>
          <a:bodyPr wrap="square" lIns="0" tIns="0" rIns="0" bIns="0" rtlCol="0" anchor="t"/>
          <a:lstStyle/>
          <a:p>
            <a:pPr marL="0" indent="0" algn="ctr">
              <a:buNone/>
            </a:pPr>
            <a:r>
              <a:rPr lang="en-US" sz="1200" b="1" dirty="0">
                <a:solidFill>
                  <a:schemeClr val="accent6"/>
                </a:solidFill>
              </a:rPr>
              <a:t>STEP 6</a:t>
            </a:r>
            <a:endParaRPr lang="en-US" sz="1200" dirty="0"/>
          </a:p>
        </p:txBody>
      </p:sp>
      <p:sp>
        <p:nvSpPr>
          <p:cNvPr id="42" name="Step title 6"/>
          <p:cNvSpPr txBox="1"/>
          <p:nvPr/>
        </p:nvSpPr>
        <p:spPr>
          <a:xfrm>
            <a:off x="10085832" y="3017520"/>
            <a:ext cx="1463040" cy="594360"/>
          </a:xfrm>
          <a:prstGeom prst="rect">
            <a:avLst/>
          </a:prstGeom>
          <a:noFill/>
          <a:ln/>
        </p:spPr>
        <p:txBody>
          <a:bodyPr wrap="square" lIns="0" tIns="0" rIns="0" bIns="0" rtlCol="0" anchor="ctr"/>
          <a:lstStyle/>
          <a:p>
            <a:pPr marL="0" indent="0" algn="ctr">
              <a:buNone/>
            </a:pPr>
            <a:r>
              <a:rPr lang="en-US" sz="1500" b="1" dirty="0">
                <a:solidFill>
                  <a:schemeClr val="tx2"/>
                </a:solidFill>
              </a:rPr>
              <a:t>Quiz and rank</a:t>
            </a:r>
            <a:endParaRPr lang="en-US" sz="1500" dirty="0"/>
          </a:p>
        </p:txBody>
      </p:sp>
      <p:sp>
        <p:nvSpPr>
          <p:cNvPr id="43" name="Step text 6"/>
          <p:cNvSpPr txBox="1"/>
          <p:nvPr/>
        </p:nvSpPr>
        <p:spPr>
          <a:xfrm>
            <a:off x="10085832" y="3657600"/>
            <a:ext cx="1463040" cy="822960"/>
          </a:xfrm>
          <a:prstGeom prst="rect">
            <a:avLst/>
          </a:prstGeom>
          <a:noFill/>
          <a:ln/>
        </p:spPr>
        <p:txBody>
          <a:bodyPr wrap="square" lIns="0" tIns="0" rIns="0" bIns="0" rtlCol="0" anchor="t"/>
          <a:lstStyle/>
          <a:p>
            <a:pPr marL="0" indent="0" algn="ctr">
              <a:buNone/>
            </a:pPr>
            <a:r>
              <a:rPr lang="en-US" sz="1400" dirty="0">
                <a:solidFill>
                  <a:schemeClr val="tx1"/>
                </a:solidFill>
              </a:rPr>
              <a:t>Answer questions, get a rank</a:t>
            </a:r>
            <a:endParaRPr lang="en-US" sz="1400" dirty="0"/>
          </a:p>
        </p:txBody>
      </p:sp>
      <p:sp>
        <p:nvSpPr>
          <p:cNvPr id="44" name="Rule card 1"/>
          <p:cNvSpPr/>
          <p:nvPr/>
        </p:nvSpPr>
        <p:spPr>
          <a:xfrm>
            <a:off x="548640" y="4800600"/>
            <a:ext cx="3511296" cy="1371600"/>
          </a:xfrm>
          <a:prstGeom prst="roundRect">
            <a:avLst>
              <a:gd name="adj" fmla="val 8000"/>
            </a:avLst>
          </a:prstGeom>
          <a:solidFill>
            <a:schemeClr val="bg1"/>
          </a:solidFill>
          <a:ln/>
          <a:effectLst>
            <a:outerShdw blurRad="101600" dist="25400" dir="5400000" algn="bl" rotWithShape="0">
              <a:srgbClr val="000000">
                <a:alpha val="12000"/>
              </a:srgbClr>
            </a:outerShdw>
          </a:effectLst>
        </p:spPr>
      </p:sp>
      <p:sp>
        <p:nvSpPr>
          <p:cNvPr id="45" name="Rule 1 circle"/>
          <p:cNvSpPr/>
          <p:nvPr/>
        </p:nvSpPr>
        <p:spPr>
          <a:xfrm>
            <a:off x="822960" y="5120640"/>
            <a:ext cx="731520" cy="731520"/>
          </a:xfrm>
          <a:prstGeom prst="ellipse">
            <a:avLst/>
          </a:prstGeom>
          <a:solidFill>
            <a:schemeClr val="accent5"/>
          </a:solidFill>
          <a:ln/>
        </p:spPr>
      </p:sp>
      <p:pic>
        <p:nvPicPr>
          <p:cNvPr id="46" name="Rule 1 icon" descr="preencoded.png"/>
          <p:cNvPicPr>
            <a:picLocks noChangeAspect="1"/>
          </p:cNvPicPr>
          <p:nvPr/>
        </p:nvPicPr>
        <p:blipFill>
          <a:blip r:embed="rId10"/>
          <a:stretch>
            <a:fillRect/>
          </a:stretch>
        </p:blipFill>
        <p:spPr>
          <a:xfrm>
            <a:off x="1005840" y="5303520"/>
            <a:ext cx="365760" cy="365760"/>
          </a:xfrm>
          <a:prstGeom prst="rect">
            <a:avLst/>
          </a:prstGeom>
        </p:spPr>
      </p:pic>
      <p:sp>
        <p:nvSpPr>
          <p:cNvPr id="47" name="Rule title 1"/>
          <p:cNvSpPr txBox="1"/>
          <p:nvPr/>
        </p:nvSpPr>
        <p:spPr>
          <a:xfrm>
            <a:off x="1737360" y="4983480"/>
            <a:ext cx="2194560" cy="365760"/>
          </a:xfrm>
          <a:prstGeom prst="rect">
            <a:avLst/>
          </a:prstGeom>
          <a:noFill/>
          <a:ln/>
        </p:spPr>
        <p:txBody>
          <a:bodyPr wrap="square" lIns="0" tIns="0" rIns="0" bIns="0" rtlCol="0" anchor="t"/>
          <a:lstStyle/>
          <a:p>
            <a:pPr marL="0" indent="0">
              <a:buNone/>
            </a:pPr>
            <a:r>
              <a:rPr lang="en-US" sz="1800" b="1" dirty="0">
                <a:solidFill>
                  <a:schemeClr val="tx2"/>
                </a:solidFill>
              </a:rPr>
              <a:t>20 actions</a:t>
            </a:r>
            <a:endParaRPr lang="en-US" sz="1800" dirty="0"/>
          </a:p>
        </p:txBody>
      </p:sp>
      <p:sp>
        <p:nvSpPr>
          <p:cNvPr id="48" name="Rule text 1"/>
          <p:cNvSpPr txBox="1"/>
          <p:nvPr/>
        </p:nvSpPr>
        <p:spPr>
          <a:xfrm>
            <a:off x="1737360" y="5367528"/>
            <a:ext cx="2194560" cy="731520"/>
          </a:xfrm>
          <a:prstGeom prst="rect">
            <a:avLst/>
          </a:prstGeom>
          <a:noFill/>
          <a:ln/>
        </p:spPr>
        <p:txBody>
          <a:bodyPr wrap="square" lIns="0" tIns="0" rIns="0" bIns="0" rtlCol="0" anchor="t"/>
          <a:lstStyle/>
          <a:p>
            <a:pPr marL="0" indent="0">
              <a:buNone/>
            </a:pPr>
            <a:r>
              <a:rPr lang="en-US" sz="1400" dirty="0">
                <a:solidFill>
                  <a:schemeClr val="tx1"/>
                </a:solidFill>
              </a:rPr>
              <a:t>Every search or question uses one action.</a:t>
            </a:r>
            <a:endParaRPr lang="en-US" sz="1400" dirty="0"/>
          </a:p>
        </p:txBody>
      </p:sp>
      <p:sp>
        <p:nvSpPr>
          <p:cNvPr id="49" name="Rule card 2"/>
          <p:cNvSpPr/>
          <p:nvPr/>
        </p:nvSpPr>
        <p:spPr>
          <a:xfrm>
            <a:off x="4338828" y="4800600"/>
            <a:ext cx="3511296" cy="1371600"/>
          </a:xfrm>
          <a:prstGeom prst="roundRect">
            <a:avLst>
              <a:gd name="adj" fmla="val 8000"/>
            </a:avLst>
          </a:prstGeom>
          <a:solidFill>
            <a:schemeClr val="bg1"/>
          </a:solidFill>
          <a:ln/>
          <a:effectLst>
            <a:outerShdw blurRad="101600" dist="25400" dir="5400000" algn="bl" rotWithShape="0">
              <a:srgbClr val="000000">
                <a:alpha val="12000"/>
              </a:srgbClr>
            </a:outerShdw>
          </a:effectLst>
        </p:spPr>
      </p:sp>
      <p:sp>
        <p:nvSpPr>
          <p:cNvPr id="50" name="Rule 2 circle"/>
          <p:cNvSpPr/>
          <p:nvPr/>
        </p:nvSpPr>
        <p:spPr>
          <a:xfrm>
            <a:off x="4613148" y="5120640"/>
            <a:ext cx="731520" cy="731520"/>
          </a:xfrm>
          <a:prstGeom prst="ellipse">
            <a:avLst/>
          </a:prstGeom>
          <a:solidFill>
            <a:schemeClr val="accent5"/>
          </a:solidFill>
          <a:ln/>
        </p:spPr>
      </p:sp>
      <p:pic>
        <p:nvPicPr>
          <p:cNvPr id="51" name="Rule 2 icon" descr="preencoded.png"/>
          <p:cNvPicPr>
            <a:picLocks noChangeAspect="1"/>
          </p:cNvPicPr>
          <p:nvPr/>
        </p:nvPicPr>
        <p:blipFill>
          <a:blip r:embed="rId11"/>
          <a:stretch>
            <a:fillRect/>
          </a:stretch>
        </p:blipFill>
        <p:spPr>
          <a:xfrm>
            <a:off x="4796028" y="5303520"/>
            <a:ext cx="365760" cy="365760"/>
          </a:xfrm>
          <a:prstGeom prst="rect">
            <a:avLst/>
          </a:prstGeom>
        </p:spPr>
      </p:pic>
      <p:sp>
        <p:nvSpPr>
          <p:cNvPr id="52" name="Rule title 2"/>
          <p:cNvSpPr txBox="1"/>
          <p:nvPr/>
        </p:nvSpPr>
        <p:spPr>
          <a:xfrm>
            <a:off x="5527548" y="4983480"/>
            <a:ext cx="2194560" cy="365760"/>
          </a:xfrm>
          <a:prstGeom prst="rect">
            <a:avLst/>
          </a:prstGeom>
          <a:noFill/>
          <a:ln/>
        </p:spPr>
        <p:txBody>
          <a:bodyPr wrap="square" lIns="0" tIns="0" rIns="0" bIns="0" rtlCol="0" anchor="t"/>
          <a:lstStyle/>
          <a:p>
            <a:pPr marL="0" indent="0">
              <a:buNone/>
            </a:pPr>
            <a:r>
              <a:rPr lang="en-US" sz="1800" b="1" dirty="0">
                <a:solidFill>
                  <a:schemeClr val="tx2"/>
                </a:solidFill>
              </a:rPr>
              <a:t>Wrong accusation</a:t>
            </a:r>
            <a:endParaRPr lang="en-US" sz="1800" dirty="0"/>
          </a:p>
        </p:txBody>
      </p:sp>
      <p:sp>
        <p:nvSpPr>
          <p:cNvPr id="53" name="Rule text 2"/>
          <p:cNvSpPr txBox="1"/>
          <p:nvPr/>
        </p:nvSpPr>
        <p:spPr>
          <a:xfrm>
            <a:off x="5527548" y="5367528"/>
            <a:ext cx="2194560" cy="731520"/>
          </a:xfrm>
          <a:prstGeom prst="rect">
            <a:avLst/>
          </a:prstGeom>
          <a:noFill/>
          <a:ln/>
        </p:spPr>
        <p:txBody>
          <a:bodyPr wrap="square" lIns="0" tIns="0" rIns="0" bIns="0" rtlCol="0" anchor="t"/>
          <a:lstStyle/>
          <a:p>
            <a:pPr marL="0" indent="0">
              <a:buNone/>
            </a:pPr>
            <a:r>
              <a:rPr lang="en-US" sz="1400" dirty="0">
                <a:solidFill>
                  <a:schemeClr val="tx1"/>
                </a:solidFill>
              </a:rPr>
              <a:t>The game ends and 10, 25 or 40 points are lost.</a:t>
            </a:r>
            <a:endParaRPr lang="en-US" sz="1400" dirty="0"/>
          </a:p>
        </p:txBody>
      </p:sp>
      <p:sp>
        <p:nvSpPr>
          <p:cNvPr id="54" name="Rule card 3"/>
          <p:cNvSpPr/>
          <p:nvPr/>
        </p:nvSpPr>
        <p:spPr>
          <a:xfrm>
            <a:off x="8129016" y="4800600"/>
            <a:ext cx="3511296" cy="1371600"/>
          </a:xfrm>
          <a:prstGeom prst="roundRect">
            <a:avLst>
              <a:gd name="adj" fmla="val 8000"/>
            </a:avLst>
          </a:prstGeom>
          <a:solidFill>
            <a:schemeClr val="bg1"/>
          </a:solidFill>
          <a:ln/>
          <a:effectLst>
            <a:outerShdw blurRad="101600" dist="25400" dir="5400000" algn="bl" rotWithShape="0">
              <a:srgbClr val="000000">
                <a:alpha val="12000"/>
              </a:srgbClr>
            </a:outerShdw>
          </a:effectLst>
        </p:spPr>
      </p:sp>
      <p:sp>
        <p:nvSpPr>
          <p:cNvPr id="55" name="Rule 3 circle"/>
          <p:cNvSpPr/>
          <p:nvPr/>
        </p:nvSpPr>
        <p:spPr>
          <a:xfrm>
            <a:off x="8403336" y="5120640"/>
            <a:ext cx="731520" cy="731520"/>
          </a:xfrm>
          <a:prstGeom prst="ellipse">
            <a:avLst/>
          </a:prstGeom>
          <a:solidFill>
            <a:schemeClr val="accent5"/>
          </a:solidFill>
          <a:ln/>
        </p:spPr>
      </p:sp>
      <p:pic>
        <p:nvPicPr>
          <p:cNvPr id="56" name="Rule 3 icon" descr="preencoded.png"/>
          <p:cNvPicPr>
            <a:picLocks noChangeAspect="1"/>
          </p:cNvPicPr>
          <p:nvPr/>
        </p:nvPicPr>
        <p:blipFill>
          <a:blip r:embed="rId12"/>
          <a:stretch>
            <a:fillRect/>
          </a:stretch>
        </p:blipFill>
        <p:spPr>
          <a:xfrm>
            <a:off x="8586216" y="5303520"/>
            <a:ext cx="365760" cy="365760"/>
          </a:xfrm>
          <a:prstGeom prst="rect">
            <a:avLst/>
          </a:prstGeom>
        </p:spPr>
      </p:pic>
      <p:sp>
        <p:nvSpPr>
          <p:cNvPr id="57" name="Rule title 3"/>
          <p:cNvSpPr txBox="1"/>
          <p:nvPr/>
        </p:nvSpPr>
        <p:spPr>
          <a:xfrm>
            <a:off x="9317736" y="4983480"/>
            <a:ext cx="2194560" cy="365760"/>
          </a:xfrm>
          <a:prstGeom prst="rect">
            <a:avLst/>
          </a:prstGeom>
          <a:noFill/>
          <a:ln/>
        </p:spPr>
        <p:txBody>
          <a:bodyPr wrap="square" lIns="0" tIns="0" rIns="0" bIns="0" rtlCol="0" anchor="t"/>
          <a:lstStyle/>
          <a:p>
            <a:pPr marL="0" indent="0">
              <a:buNone/>
            </a:pPr>
            <a:r>
              <a:rPr lang="en-US" sz="1800" b="1" dirty="0">
                <a:solidFill>
                  <a:schemeClr val="tx2"/>
                </a:solidFill>
              </a:rPr>
              <a:t>Out of actions</a:t>
            </a:r>
            <a:endParaRPr lang="en-US" sz="1800" dirty="0"/>
          </a:p>
        </p:txBody>
      </p:sp>
      <p:sp>
        <p:nvSpPr>
          <p:cNvPr id="58" name="Rule text 3"/>
          <p:cNvSpPr txBox="1"/>
          <p:nvPr/>
        </p:nvSpPr>
        <p:spPr>
          <a:xfrm>
            <a:off x="9317736" y="5367528"/>
            <a:ext cx="2194560" cy="731520"/>
          </a:xfrm>
          <a:prstGeom prst="rect">
            <a:avLst/>
          </a:prstGeom>
          <a:noFill/>
          <a:ln/>
        </p:spPr>
        <p:txBody>
          <a:bodyPr wrap="square" lIns="0" tIns="0" rIns="0" bIns="0" rtlCol="0" anchor="t"/>
          <a:lstStyle/>
          <a:p>
            <a:pPr marL="0" indent="0">
              <a:buNone/>
            </a:pPr>
            <a:r>
              <a:rPr lang="en-US" sz="1400" dirty="0">
                <a:solidFill>
                  <a:schemeClr val="tx1"/>
                </a:solidFill>
              </a:rPr>
              <a:t>The player must name the culprit now.</a:t>
            </a:r>
            <a:endParaRPr lang="en-US" sz="1400" dirty="0"/>
          </a:p>
        </p:txBody>
      </p:sp>
      <p:sp>
        <p:nvSpPr>
          <p:cNvPr id="59"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Three difficulty levels</a:t>
            </a:r>
            <a:endParaRPr lang="en-US" sz="3600" dirty="0"/>
          </a:p>
        </p:txBody>
      </p:sp>
      <p:graphicFrame>
        <p:nvGraphicFramePr>
          <p:cNvPr id="10" name="Difficulty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3584448"/>
        </p:xfrm>
        <a:graphic>
          <a:graphicData uri="http://schemas.openxmlformats.org/drawingml/2006/table">
            <a:tbl>
              <a:tblPr/>
              <a:tblGrid>
                <a:gridCol w="40233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512064">
                <a:tc>
                  <a:txBody>
                    <a:bodyPr/>
                    <a:lstStyle/>
                    <a:p>
                      <a:pPr marL="0" indent="0">
                        <a:buNone/>
                      </a:pPr>
                      <a:r>
                        <a:rPr lang="en-US" sz="1600" b="1" dirty="0">
                          <a:solidFill>
                            <a:schemeClr val="bg1"/>
                          </a:solidFill>
                        </a:rPr>
                        <a:t>Setting</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tx2"/>
                    </a:solidFill>
                  </a:tcPr>
                </a:tc>
                <a:tc>
                  <a:txBody>
                    <a:bodyPr/>
                    <a:lstStyle/>
                    <a:p>
                      <a:pPr marL="0" indent="0" algn="ctr">
                        <a:buNone/>
                      </a:pPr>
                      <a:r>
                        <a:rPr lang="en-US" sz="1600" b="1" dirty="0">
                          <a:solidFill>
                            <a:schemeClr val="tx2"/>
                          </a:solidFill>
                        </a:rPr>
                        <a:t>Easy</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tc>
                  <a:txBody>
                    <a:bodyPr/>
                    <a:lstStyle/>
                    <a:p>
                      <a:pPr marL="0" indent="0" algn="ctr">
                        <a:buNone/>
                      </a:pPr>
                      <a:r>
                        <a:rPr lang="en-US" sz="1600" b="1" dirty="0">
                          <a:solidFill>
                            <a:schemeClr val="tx2"/>
                          </a:solidFill>
                        </a:rPr>
                        <a:t>Medium</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1"/>
                    </a:solidFill>
                  </a:tcPr>
                </a:tc>
                <a:tc>
                  <a:txBody>
                    <a:bodyPr/>
                    <a:lstStyle/>
                    <a:p>
                      <a:pPr marL="0" indent="0" algn="ctr">
                        <a:buNone/>
                      </a:pPr>
                      <a:r>
                        <a:rPr lang="en-US" sz="1600" b="1" dirty="0">
                          <a:solidFill>
                            <a:schemeClr val="bg1"/>
                          </a:solidFill>
                        </a:rPr>
                        <a:t>Hard</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512064">
                <a:tc>
                  <a:txBody>
                    <a:bodyPr/>
                    <a:lstStyle/>
                    <a:p>
                      <a:pPr marL="0" indent="0">
                        <a:buNone/>
                      </a:pPr>
                      <a:r>
                        <a:rPr lang="en-US" sz="1600" b="1" dirty="0">
                          <a:solidFill>
                            <a:schemeClr val="tx2"/>
                          </a:solidFill>
                        </a:rPr>
                        <a:t>Actions</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20</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20</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20</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12064">
                <a:tc>
                  <a:txBody>
                    <a:bodyPr/>
                    <a:lstStyle/>
                    <a:p>
                      <a:pPr marL="0" indent="0">
                        <a:buNone/>
                      </a:pPr>
                      <a:r>
                        <a:rPr lang="en-US" sz="1600" b="1" dirty="0">
                          <a:solidFill>
                            <a:schemeClr val="tx2"/>
                          </a:solidFill>
                        </a:rPr>
                        <a:t>Hints (5 points each)</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3</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1</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0</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2064">
                <a:tc>
                  <a:txBody>
                    <a:bodyPr/>
                    <a:lstStyle/>
                    <a:p>
                      <a:pPr marL="0" indent="0">
                        <a:buNone/>
                      </a:pPr>
                      <a:r>
                        <a:rPr lang="en-US" sz="1600" b="1" dirty="0">
                          <a:solidFill>
                            <a:schemeClr val="tx2"/>
                          </a:solidFill>
                        </a:rPr>
                        <a:t>Final questions</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3</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5</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7</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12064">
                <a:tc>
                  <a:txBody>
                    <a:bodyPr/>
                    <a:lstStyle/>
                    <a:p>
                      <a:pPr marL="0" indent="0">
                        <a:buNone/>
                      </a:pPr>
                      <a:r>
                        <a:rPr lang="en-US" sz="1600" b="1" dirty="0">
                          <a:solidFill>
                            <a:schemeClr val="tx2"/>
                          </a:solidFill>
                        </a:rPr>
                        <a:t>Wrong accusation</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-10</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-25</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-40</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12064">
                <a:tc>
                  <a:txBody>
                    <a:bodyPr/>
                    <a:lstStyle/>
                    <a:p>
                      <a:pPr marL="0" indent="0">
                        <a:buNone/>
                      </a:pPr>
                      <a:r>
                        <a:rPr lang="en-US" sz="1600" b="1" dirty="0">
                          <a:solidFill>
                            <a:schemeClr val="tx2"/>
                          </a:solidFill>
                        </a:rPr>
                        <a:t>Speed bonus per unused action</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+1</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+2</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+3</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12064">
                <a:tc>
                  <a:txBody>
                    <a:bodyPr/>
                    <a:lstStyle/>
                    <a:p>
                      <a:pPr marL="0" indent="0">
                        <a:buNone/>
                      </a:pPr>
                      <a:r>
                        <a:rPr lang="en-US" sz="1600" b="1" dirty="0">
                          <a:solidFill>
                            <a:schemeClr val="tx2"/>
                          </a:solidFill>
                        </a:rPr>
                        <a:t>Wasted move (nothing found)</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Free</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Free</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Costs 1 extra action</a:t>
                      </a:r>
                      <a:endParaRPr lang="en-US" sz="16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Hint banner"/>
          <p:cNvSpPr/>
          <p:nvPr/>
        </p:nvSpPr>
        <p:spPr>
          <a:xfrm>
            <a:off x="548640" y="5257800"/>
            <a:ext cx="11091672" cy="868680"/>
          </a:xfrm>
          <a:prstGeom prst="roundRect">
            <a:avLst>
              <a:gd name="adj" fmla="val 12632"/>
            </a:avLst>
          </a:prstGeom>
          <a:solidFill>
            <a:schemeClr val="tx2"/>
          </a:solidFill>
          <a:ln/>
        </p:spPr>
      </p:sp>
      <p:sp>
        <p:nvSpPr>
          <p:cNvPr id="5" name="Hint circle"/>
          <p:cNvSpPr/>
          <p:nvPr/>
        </p:nvSpPr>
        <p:spPr>
          <a:xfrm>
            <a:off x="822960" y="5376672"/>
            <a:ext cx="640080" cy="640080"/>
          </a:xfrm>
          <a:prstGeom prst="ellipse">
            <a:avLst/>
          </a:prstGeom>
          <a:solidFill>
            <a:schemeClr val="accent5"/>
          </a:solidFill>
          <a:ln/>
        </p:spPr>
      </p:sp>
      <p:pic>
        <p:nvPicPr>
          <p:cNvPr id="6" name="Hint icon" descr="preencoded.png"/>
          <p:cNvPicPr>
            <a:picLocks noChangeAspect="1"/>
          </p:cNvPicPr>
          <p:nvPr/>
        </p:nvPicPr>
        <p:blipFill>
          <a:blip r:embed="rId3"/>
          <a:stretch>
            <a:fillRect/>
          </a:stretch>
        </p:blipFill>
        <p:spPr>
          <a:xfrm>
            <a:off x="982980" y="5536692"/>
            <a:ext cx="320040" cy="320040"/>
          </a:xfrm>
          <a:prstGeom prst="rect">
            <a:avLst/>
          </a:prstGeom>
        </p:spPr>
      </p:pic>
      <p:sp>
        <p:nvSpPr>
          <p:cNvPr id="7" name="Hint text"/>
          <p:cNvSpPr txBox="1"/>
          <p:nvPr/>
        </p:nvSpPr>
        <p:spPr>
          <a:xfrm>
            <a:off x="1691640" y="5257800"/>
            <a:ext cx="9692640" cy="868680"/>
          </a:xfrm>
          <a:prstGeom prst="rect">
            <a:avLst/>
          </a:prstGeom>
          <a:noFill/>
          <a:ln/>
        </p:spPr>
        <p:txBody>
          <a:bodyPr wrap="square" lIns="0" tIns="0" rIns="0" bIns="0" rtlCol="0" anchor="ctr"/>
          <a:lstStyle/>
          <a:p>
            <a:pPr marL="0" indent="0">
              <a:buNone/>
            </a:pPr>
            <a:r>
              <a:rPr lang="en-US" sz="1800" dirty="0">
                <a:solidFill>
                  <a:schemeClr val="bg1"/>
                </a:solidFill>
              </a:rPr>
              <a:t>A hint tells the player one move that will find something new. It costs 5 points, so use it wisely.</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How clues unlock each other</a:t>
            </a:r>
            <a:endParaRPr lang="en-US" sz="3600" dirty="0"/>
          </a:p>
        </p:txBody>
      </p:sp>
      <p:sp>
        <p:nvSpPr>
          <p:cNvPr id="3" name="Row 1 circle"/>
          <p:cNvSpPr/>
          <p:nvPr/>
        </p:nvSpPr>
        <p:spPr>
          <a:xfrm>
            <a:off x="548640" y="1664208"/>
            <a:ext cx="502920" cy="502920"/>
          </a:xfrm>
          <a:prstGeom prst="ellipse">
            <a:avLst/>
          </a:prstGeom>
          <a:solidFill>
            <a:schemeClr val="tx2"/>
          </a:solidFill>
          <a:ln/>
        </p:spPr>
      </p:sp>
      <p:pic>
        <p:nvPicPr>
          <p:cNvPr id="4" name="Row 1 icon" descr="preencoded.png"/>
          <p:cNvPicPr>
            <a:picLocks noChangeAspect="1"/>
          </p:cNvPicPr>
          <p:nvPr/>
        </p:nvPicPr>
        <p:blipFill>
          <a:blip r:embed="rId3"/>
          <a:stretch>
            <a:fillRect/>
          </a:stretch>
        </p:blipFill>
        <p:spPr>
          <a:xfrm>
            <a:off x="674370" y="1789938"/>
            <a:ext cx="251460" cy="251460"/>
          </a:xfrm>
          <a:prstGeom prst="rect">
            <a:avLst/>
          </a:prstGeom>
        </p:spPr>
      </p:pic>
      <p:sp>
        <p:nvSpPr>
          <p:cNvPr id="5" name="Row label 1"/>
          <p:cNvSpPr txBox="1"/>
          <p:nvPr/>
        </p:nvSpPr>
        <p:spPr>
          <a:xfrm>
            <a:off x="1188720" y="1572768"/>
            <a:ext cx="1188720" cy="685800"/>
          </a:xfrm>
          <a:prstGeom prst="rect">
            <a:avLst/>
          </a:prstGeom>
          <a:noFill/>
          <a:ln/>
        </p:spPr>
        <p:txBody>
          <a:bodyPr wrap="square" lIns="0" tIns="0" rIns="0" bIns="0" rtlCol="0" anchor="ctr"/>
          <a:lstStyle/>
          <a:p>
            <a:pPr marL="0" indent="0">
              <a:buNone/>
            </a:pPr>
            <a:r>
              <a:rPr lang="en-US" sz="1500" b="1" dirty="0">
                <a:solidFill>
                  <a:schemeClr val="tx2"/>
                </a:solidFill>
              </a:rPr>
              <a:t>Study and Tom</a:t>
            </a:r>
            <a:endParaRPr lang="en-US" sz="1500" dirty="0"/>
          </a:p>
        </p:txBody>
      </p:sp>
      <p:sp>
        <p:nvSpPr>
          <p:cNvPr id="6" name="Chain box 1-1"/>
          <p:cNvSpPr/>
          <p:nvPr/>
        </p:nvSpPr>
        <p:spPr>
          <a:xfrm>
            <a:off x="2514600" y="1463040"/>
            <a:ext cx="1920240" cy="868680"/>
          </a:xfrm>
          <a:prstGeom prst="roundRect">
            <a:avLst>
              <a:gd name="adj" fmla="val 10526"/>
            </a:avLst>
          </a:prstGeom>
          <a:solidFill>
            <a:schemeClr val="accent1"/>
          </a:solidFill>
          <a:ln/>
          <a:effectLst>
            <a:outerShdw blurRad="101600" dist="25400" dir="5400000" algn="bl" rotWithShape="0">
              <a:srgbClr val="000000">
                <a:alpha val="12000"/>
              </a:srgbClr>
            </a:outerShdw>
          </a:effectLst>
        </p:spPr>
      </p:sp>
      <p:sp>
        <p:nvSpPr>
          <p:cNvPr id="7" name="Chain text 1-1"/>
          <p:cNvSpPr txBox="1"/>
          <p:nvPr/>
        </p:nvSpPr>
        <p:spPr>
          <a:xfrm>
            <a:off x="2606040" y="1463040"/>
            <a:ext cx="1737360" cy="868680"/>
          </a:xfrm>
          <a:prstGeom prst="rect">
            <a:avLst/>
          </a:prstGeom>
          <a:noFill/>
          <a:ln/>
        </p:spPr>
        <p:txBody>
          <a:bodyPr wrap="square" lIns="0" tIns="0" rIns="0" bIns="0" rtlCol="0" anchor="ctr"/>
          <a:lstStyle/>
          <a:p>
            <a:pPr marL="0" indent="0" algn="ctr">
              <a:buNone/>
            </a:pPr>
            <a:r>
              <a:rPr lang="en-US" sz="1400" b="1" dirty="0">
                <a:solidFill>
                  <a:schemeClr val="tx2"/>
                </a:solidFill>
              </a:rPr>
              <a:t>Safe was opened with the right code</a:t>
            </a:r>
            <a:endParaRPr lang="en-US" sz="1400" dirty="0"/>
          </a:p>
        </p:txBody>
      </p:sp>
      <p:sp>
        <p:nvSpPr>
          <p:cNvPr id="8" name="Chain arrow 1-1"/>
          <p:cNvSpPr/>
          <p:nvPr/>
        </p:nvSpPr>
        <p:spPr>
          <a:xfrm>
            <a:off x="4453128" y="1897380"/>
            <a:ext cx="374904" cy="0"/>
          </a:xfrm>
          <a:prstGeom prst="line">
            <a:avLst/>
          </a:prstGeom>
          <a:noFill/>
          <a:ln w="25400">
            <a:solidFill>
              <a:schemeClr val="accent6"/>
            </a:solidFill>
            <a:prstDash val="solid"/>
            <a:tailEnd type="triangle"/>
          </a:ln>
        </p:spPr>
      </p:sp>
      <p:sp>
        <p:nvSpPr>
          <p:cNvPr id="9" name="Chain box 1-2"/>
          <p:cNvSpPr/>
          <p:nvPr/>
        </p:nvSpPr>
        <p:spPr>
          <a:xfrm>
            <a:off x="4846320" y="1463040"/>
            <a:ext cx="1920240" cy="868680"/>
          </a:xfrm>
          <a:prstGeom prst="roundRect">
            <a:avLst>
              <a:gd name="adj" fmla="val 10526"/>
            </a:avLst>
          </a:prstGeom>
          <a:solidFill>
            <a:schemeClr val="accent1"/>
          </a:solidFill>
          <a:ln/>
          <a:effectLst>
            <a:outerShdw blurRad="101600" dist="25400" dir="5400000" algn="bl" rotWithShape="0">
              <a:srgbClr val="000000">
                <a:alpha val="12000"/>
              </a:srgbClr>
            </a:outerShdw>
          </a:effectLst>
        </p:spPr>
      </p:sp>
      <p:sp>
        <p:nvSpPr>
          <p:cNvPr id="10" name="Chain text 1-2"/>
          <p:cNvSpPr txBox="1"/>
          <p:nvPr/>
        </p:nvSpPr>
        <p:spPr>
          <a:xfrm>
            <a:off x="4937760" y="1463040"/>
            <a:ext cx="1737360" cy="868680"/>
          </a:xfrm>
          <a:prstGeom prst="rect">
            <a:avLst/>
          </a:prstGeom>
          <a:noFill/>
          <a:ln/>
        </p:spPr>
        <p:txBody>
          <a:bodyPr wrap="square" lIns="0" tIns="0" rIns="0" bIns="0" rtlCol="0" anchor="ctr"/>
          <a:lstStyle/>
          <a:p>
            <a:pPr marL="0" indent="0" algn="ctr">
              <a:buNone/>
            </a:pPr>
            <a:r>
              <a:rPr lang="en-US" sz="1400" b="1" dirty="0">
                <a:solidFill>
                  <a:schemeClr val="tx2"/>
                </a:solidFill>
              </a:rPr>
              <a:t>Torn rubber glove in the bin</a:t>
            </a:r>
            <a:endParaRPr lang="en-US" sz="1400" dirty="0"/>
          </a:p>
        </p:txBody>
      </p:sp>
      <p:sp>
        <p:nvSpPr>
          <p:cNvPr id="11" name="Chain arrow 1-2"/>
          <p:cNvSpPr/>
          <p:nvPr/>
        </p:nvSpPr>
        <p:spPr>
          <a:xfrm>
            <a:off x="6784848" y="1897380"/>
            <a:ext cx="374904" cy="0"/>
          </a:xfrm>
          <a:prstGeom prst="line">
            <a:avLst/>
          </a:prstGeom>
          <a:noFill/>
          <a:ln w="25400">
            <a:solidFill>
              <a:schemeClr val="accent6"/>
            </a:solidFill>
            <a:prstDash val="solid"/>
            <a:tailEnd type="triangle"/>
          </a:ln>
        </p:spPr>
      </p:sp>
      <p:sp>
        <p:nvSpPr>
          <p:cNvPr id="12" name="Chain box 1-3"/>
          <p:cNvSpPr/>
          <p:nvPr/>
        </p:nvSpPr>
        <p:spPr>
          <a:xfrm>
            <a:off x="7178040" y="1463040"/>
            <a:ext cx="1920240" cy="868680"/>
          </a:xfrm>
          <a:prstGeom prst="roundRect">
            <a:avLst>
              <a:gd name="adj" fmla="val 10526"/>
            </a:avLst>
          </a:prstGeom>
          <a:solidFill>
            <a:schemeClr val="tx2"/>
          </a:solidFill>
          <a:ln/>
          <a:effectLst>
            <a:outerShdw blurRad="101600" dist="25400" dir="5400000" algn="bl" rotWithShape="0">
              <a:srgbClr val="000000">
                <a:alpha val="12000"/>
              </a:srgbClr>
            </a:outerShdw>
          </a:effectLst>
        </p:spPr>
      </p:sp>
      <p:sp>
        <p:nvSpPr>
          <p:cNvPr id="13" name="Chain text 1-3"/>
          <p:cNvSpPr txBox="1"/>
          <p:nvPr/>
        </p:nvSpPr>
        <p:spPr>
          <a:xfrm>
            <a:off x="7269480" y="1463040"/>
            <a:ext cx="1737360" cy="868680"/>
          </a:xfrm>
          <a:prstGeom prst="rect">
            <a:avLst/>
          </a:prstGeom>
          <a:noFill/>
          <a:ln/>
        </p:spPr>
        <p:txBody>
          <a:bodyPr wrap="square" lIns="0" tIns="0" rIns="0" bIns="0" rtlCol="0" anchor="ctr"/>
          <a:lstStyle/>
          <a:p>
            <a:pPr marL="0" indent="0" algn="ctr">
              <a:buNone/>
            </a:pPr>
            <a:r>
              <a:rPr lang="en-US" sz="1400" b="1" dirty="0">
                <a:solidFill>
                  <a:schemeClr val="bg1"/>
                </a:solidFill>
              </a:rPr>
              <a:t>Tom: only Dr. Ray uses gloves</a:t>
            </a:r>
            <a:endParaRPr lang="en-US" sz="1400" dirty="0"/>
          </a:p>
        </p:txBody>
      </p:sp>
      <p:sp>
        <p:nvSpPr>
          <p:cNvPr id="14" name="Chain arrow 1-3"/>
          <p:cNvSpPr/>
          <p:nvPr/>
        </p:nvSpPr>
        <p:spPr>
          <a:xfrm>
            <a:off x="9116568" y="1897380"/>
            <a:ext cx="374904" cy="0"/>
          </a:xfrm>
          <a:prstGeom prst="line">
            <a:avLst/>
          </a:prstGeom>
          <a:noFill/>
          <a:ln w="25400">
            <a:solidFill>
              <a:schemeClr val="accent6"/>
            </a:solidFill>
            <a:prstDash val="solid"/>
            <a:tailEnd type="triangle"/>
          </a:ln>
        </p:spPr>
      </p:sp>
      <p:sp>
        <p:nvSpPr>
          <p:cNvPr id="15" name="Chain box 1-4"/>
          <p:cNvSpPr/>
          <p:nvPr/>
        </p:nvSpPr>
        <p:spPr>
          <a:xfrm>
            <a:off x="9509760" y="1463040"/>
            <a:ext cx="1920240" cy="868680"/>
          </a:xfrm>
          <a:prstGeom prst="roundRect">
            <a:avLst>
              <a:gd name="adj" fmla="val 10526"/>
            </a:avLst>
          </a:prstGeom>
          <a:solidFill>
            <a:schemeClr val="tx2"/>
          </a:solidFill>
          <a:ln/>
          <a:effectLst>
            <a:outerShdw blurRad="101600" dist="25400" dir="5400000" algn="bl" rotWithShape="0">
              <a:srgbClr val="000000">
                <a:alpha val="12000"/>
              </a:srgbClr>
            </a:outerShdw>
          </a:effectLst>
        </p:spPr>
      </p:sp>
      <p:sp>
        <p:nvSpPr>
          <p:cNvPr id="16" name="Chain text 1-4"/>
          <p:cNvSpPr txBox="1"/>
          <p:nvPr/>
        </p:nvSpPr>
        <p:spPr>
          <a:xfrm>
            <a:off x="9601200" y="1463040"/>
            <a:ext cx="1737360" cy="868680"/>
          </a:xfrm>
          <a:prstGeom prst="rect">
            <a:avLst/>
          </a:prstGeom>
          <a:noFill/>
          <a:ln/>
        </p:spPr>
        <p:txBody>
          <a:bodyPr wrap="square" lIns="0" tIns="0" rIns="0" bIns="0" rtlCol="0" anchor="ctr"/>
          <a:lstStyle/>
          <a:p>
            <a:pPr marL="0" indent="0" algn="ctr">
              <a:buNone/>
            </a:pPr>
            <a:r>
              <a:rPr lang="en-US" sz="1400" b="1" dirty="0">
                <a:solidFill>
                  <a:schemeClr val="bg1"/>
                </a:solidFill>
              </a:rPr>
              <a:t>Tom: Dr. Ray needs money</a:t>
            </a:r>
            <a:endParaRPr lang="en-US" sz="1400" dirty="0"/>
          </a:p>
        </p:txBody>
      </p:sp>
      <p:sp>
        <p:nvSpPr>
          <p:cNvPr id="17" name="Row 2 circle"/>
          <p:cNvSpPr/>
          <p:nvPr/>
        </p:nvSpPr>
        <p:spPr>
          <a:xfrm>
            <a:off x="548640" y="2743200"/>
            <a:ext cx="502920" cy="502920"/>
          </a:xfrm>
          <a:prstGeom prst="ellipse">
            <a:avLst/>
          </a:prstGeom>
          <a:solidFill>
            <a:schemeClr val="tx2"/>
          </a:solidFill>
          <a:ln/>
        </p:spPr>
      </p:sp>
      <p:pic>
        <p:nvPicPr>
          <p:cNvPr id="18" name="Row 2 icon" descr="preencoded.png"/>
          <p:cNvPicPr>
            <a:picLocks noChangeAspect="1"/>
          </p:cNvPicPr>
          <p:nvPr/>
        </p:nvPicPr>
        <p:blipFill>
          <a:blip r:embed="rId4"/>
          <a:stretch>
            <a:fillRect/>
          </a:stretch>
        </p:blipFill>
        <p:spPr>
          <a:xfrm>
            <a:off x="674370" y="2868930"/>
            <a:ext cx="251460" cy="251460"/>
          </a:xfrm>
          <a:prstGeom prst="rect">
            <a:avLst/>
          </a:prstGeom>
        </p:spPr>
      </p:pic>
      <p:sp>
        <p:nvSpPr>
          <p:cNvPr id="19" name="Row label 2"/>
          <p:cNvSpPr txBox="1"/>
          <p:nvPr/>
        </p:nvSpPr>
        <p:spPr>
          <a:xfrm>
            <a:off x="1188720" y="2651760"/>
            <a:ext cx="1188720" cy="685800"/>
          </a:xfrm>
          <a:prstGeom prst="rect">
            <a:avLst/>
          </a:prstGeom>
          <a:noFill/>
          <a:ln/>
        </p:spPr>
        <p:txBody>
          <a:bodyPr wrap="square" lIns="0" tIns="0" rIns="0" bIns="0" rtlCol="0" anchor="ctr"/>
          <a:lstStyle/>
          <a:p>
            <a:pPr marL="0" indent="0">
              <a:buNone/>
            </a:pPr>
            <a:r>
              <a:rPr lang="en-US" sz="1500" b="1" dirty="0">
                <a:solidFill>
                  <a:schemeClr val="tx2"/>
                </a:solidFill>
              </a:rPr>
              <a:t>Library</a:t>
            </a:r>
            <a:endParaRPr lang="en-US" sz="1500" dirty="0"/>
          </a:p>
        </p:txBody>
      </p:sp>
      <p:sp>
        <p:nvSpPr>
          <p:cNvPr id="20" name="Chain box 2-1"/>
          <p:cNvSpPr/>
          <p:nvPr/>
        </p:nvSpPr>
        <p:spPr>
          <a:xfrm>
            <a:off x="2514600" y="2542032"/>
            <a:ext cx="1920240" cy="868680"/>
          </a:xfrm>
          <a:prstGeom prst="roundRect">
            <a:avLst>
              <a:gd name="adj" fmla="val 10526"/>
            </a:avLst>
          </a:prstGeom>
          <a:solidFill>
            <a:schemeClr val="accent1"/>
          </a:solidFill>
          <a:ln/>
          <a:effectLst>
            <a:outerShdw blurRad="101600" dist="25400" dir="5400000" algn="bl" rotWithShape="0">
              <a:srgbClr val="000000">
                <a:alpha val="12000"/>
              </a:srgbClr>
            </a:outerShdw>
          </a:effectLst>
        </p:spPr>
      </p:sp>
      <p:sp>
        <p:nvSpPr>
          <p:cNvPr id="21" name="Chain text 2-1"/>
          <p:cNvSpPr txBox="1"/>
          <p:nvPr/>
        </p:nvSpPr>
        <p:spPr>
          <a:xfrm>
            <a:off x="2606040" y="2542032"/>
            <a:ext cx="1737360" cy="868680"/>
          </a:xfrm>
          <a:prstGeom prst="rect">
            <a:avLst/>
          </a:prstGeom>
          <a:noFill/>
          <a:ln/>
        </p:spPr>
        <p:txBody>
          <a:bodyPr wrap="square" lIns="0" tIns="0" rIns="0" bIns="0" rtlCol="0" anchor="ctr"/>
          <a:lstStyle/>
          <a:p>
            <a:pPr marL="0" indent="0" algn="ctr">
              <a:buNone/>
            </a:pPr>
            <a:r>
              <a:rPr lang="en-US" sz="1400" b="1" dirty="0">
                <a:solidFill>
                  <a:schemeClr val="tx2"/>
                </a:solidFill>
              </a:rPr>
              <a:t>Gambling papers with Dr. Ray's name</a:t>
            </a:r>
            <a:endParaRPr lang="en-US" sz="1400" dirty="0"/>
          </a:p>
        </p:txBody>
      </p:sp>
      <p:sp>
        <p:nvSpPr>
          <p:cNvPr id="22" name="Chain arrow 2-1"/>
          <p:cNvSpPr/>
          <p:nvPr/>
        </p:nvSpPr>
        <p:spPr>
          <a:xfrm>
            <a:off x="4453128" y="2976372"/>
            <a:ext cx="374904" cy="0"/>
          </a:xfrm>
          <a:prstGeom prst="line">
            <a:avLst/>
          </a:prstGeom>
          <a:noFill/>
          <a:ln w="25400">
            <a:solidFill>
              <a:schemeClr val="accent6"/>
            </a:solidFill>
            <a:prstDash val="solid"/>
            <a:tailEnd type="triangle"/>
          </a:ln>
        </p:spPr>
      </p:sp>
      <p:sp>
        <p:nvSpPr>
          <p:cNvPr id="23" name="Chain box 2-2"/>
          <p:cNvSpPr/>
          <p:nvPr/>
        </p:nvSpPr>
        <p:spPr>
          <a:xfrm>
            <a:off x="4846320" y="2542032"/>
            <a:ext cx="1920240" cy="868680"/>
          </a:xfrm>
          <a:prstGeom prst="roundRect">
            <a:avLst>
              <a:gd name="adj" fmla="val 10526"/>
            </a:avLst>
          </a:prstGeom>
          <a:solidFill>
            <a:schemeClr val="accent1"/>
          </a:solidFill>
          <a:ln/>
          <a:effectLst>
            <a:outerShdw blurRad="101600" dist="25400" dir="5400000" algn="bl" rotWithShape="0">
              <a:srgbClr val="000000">
                <a:alpha val="12000"/>
              </a:srgbClr>
            </a:outerShdw>
          </a:effectLst>
        </p:spPr>
      </p:sp>
      <p:sp>
        <p:nvSpPr>
          <p:cNvPr id="24" name="Chain text 2-2"/>
          <p:cNvSpPr txBox="1"/>
          <p:nvPr/>
        </p:nvSpPr>
        <p:spPr>
          <a:xfrm>
            <a:off x="4937760" y="2542032"/>
            <a:ext cx="1737360" cy="868680"/>
          </a:xfrm>
          <a:prstGeom prst="rect">
            <a:avLst/>
          </a:prstGeom>
          <a:noFill/>
          <a:ln/>
        </p:spPr>
        <p:txBody>
          <a:bodyPr wrap="square" lIns="0" tIns="0" rIns="0" bIns="0" rtlCol="0" anchor="ctr"/>
          <a:lstStyle/>
          <a:p>
            <a:pPr marL="0" indent="0" algn="ctr">
              <a:buNone/>
            </a:pPr>
            <a:r>
              <a:rPr lang="en-US" sz="1400" b="1" dirty="0">
                <a:solidFill>
                  <a:schemeClr val="tx2"/>
                </a:solidFill>
              </a:rPr>
              <a:t>Jeweler letter about the blue stone</a:t>
            </a:r>
            <a:endParaRPr lang="en-US" sz="1400" dirty="0"/>
          </a:p>
        </p:txBody>
      </p:sp>
      <p:sp>
        <p:nvSpPr>
          <p:cNvPr id="25" name="Chain arrow 2-2"/>
          <p:cNvSpPr/>
          <p:nvPr/>
        </p:nvSpPr>
        <p:spPr>
          <a:xfrm>
            <a:off x="6784848" y="2976372"/>
            <a:ext cx="374904" cy="0"/>
          </a:xfrm>
          <a:prstGeom prst="line">
            <a:avLst/>
          </a:prstGeom>
          <a:noFill/>
          <a:ln w="25400">
            <a:solidFill>
              <a:schemeClr val="accent6"/>
            </a:solidFill>
            <a:prstDash val="solid"/>
            <a:tailEnd type="triangle"/>
          </a:ln>
        </p:spPr>
      </p:sp>
      <p:sp>
        <p:nvSpPr>
          <p:cNvPr id="26" name="Chain box 2-3"/>
          <p:cNvSpPr/>
          <p:nvPr/>
        </p:nvSpPr>
        <p:spPr>
          <a:xfrm>
            <a:off x="7178040" y="2542032"/>
            <a:ext cx="1920240" cy="868680"/>
          </a:xfrm>
          <a:prstGeom prst="roundRect">
            <a:avLst>
              <a:gd name="adj" fmla="val 10526"/>
            </a:avLst>
          </a:prstGeom>
          <a:solidFill>
            <a:schemeClr val="tx2"/>
          </a:solidFill>
          <a:ln/>
          <a:effectLst>
            <a:outerShdw blurRad="101600" dist="25400" dir="5400000" algn="bl" rotWithShape="0">
              <a:srgbClr val="000000">
                <a:alpha val="12000"/>
              </a:srgbClr>
            </a:outerShdw>
          </a:effectLst>
        </p:spPr>
      </p:sp>
      <p:sp>
        <p:nvSpPr>
          <p:cNvPr id="27" name="Chain text 2-3"/>
          <p:cNvSpPr txBox="1"/>
          <p:nvPr/>
        </p:nvSpPr>
        <p:spPr>
          <a:xfrm>
            <a:off x="7269480" y="2542032"/>
            <a:ext cx="1737360" cy="868680"/>
          </a:xfrm>
          <a:prstGeom prst="rect">
            <a:avLst/>
          </a:prstGeom>
          <a:noFill/>
          <a:ln/>
        </p:spPr>
        <p:txBody>
          <a:bodyPr wrap="square" lIns="0" tIns="0" rIns="0" bIns="0" rtlCol="0" anchor="ctr"/>
          <a:lstStyle/>
          <a:p>
            <a:pPr marL="0" indent="0" algn="ctr">
              <a:buNone/>
            </a:pPr>
            <a:r>
              <a:rPr lang="en-US" sz="1400" b="1" dirty="0">
                <a:solidFill>
                  <a:schemeClr val="bg1"/>
                </a:solidFill>
              </a:rPr>
              <a:t>Dr. Ray: Call my lawyer!</a:t>
            </a:r>
            <a:endParaRPr lang="en-US" sz="1400" dirty="0"/>
          </a:p>
        </p:txBody>
      </p:sp>
      <p:sp>
        <p:nvSpPr>
          <p:cNvPr id="28" name="Row 3 circle"/>
          <p:cNvSpPr/>
          <p:nvPr/>
        </p:nvSpPr>
        <p:spPr>
          <a:xfrm>
            <a:off x="548640" y="3822192"/>
            <a:ext cx="502920" cy="502920"/>
          </a:xfrm>
          <a:prstGeom prst="ellipse">
            <a:avLst/>
          </a:prstGeom>
          <a:solidFill>
            <a:schemeClr val="tx2"/>
          </a:solidFill>
          <a:ln/>
        </p:spPr>
      </p:sp>
      <p:pic>
        <p:nvPicPr>
          <p:cNvPr id="29" name="Row 3 icon" descr="preencoded.png"/>
          <p:cNvPicPr>
            <a:picLocks noChangeAspect="1"/>
          </p:cNvPicPr>
          <p:nvPr/>
        </p:nvPicPr>
        <p:blipFill>
          <a:blip r:embed="rId5"/>
          <a:stretch>
            <a:fillRect/>
          </a:stretch>
        </p:blipFill>
        <p:spPr>
          <a:xfrm>
            <a:off x="674370" y="3947922"/>
            <a:ext cx="251460" cy="251460"/>
          </a:xfrm>
          <a:prstGeom prst="rect">
            <a:avLst/>
          </a:prstGeom>
        </p:spPr>
      </p:pic>
      <p:sp>
        <p:nvSpPr>
          <p:cNvPr id="30" name="Row label 3"/>
          <p:cNvSpPr txBox="1"/>
          <p:nvPr/>
        </p:nvSpPr>
        <p:spPr>
          <a:xfrm>
            <a:off x="1188720" y="3730752"/>
            <a:ext cx="1188720" cy="685800"/>
          </a:xfrm>
          <a:prstGeom prst="rect">
            <a:avLst/>
          </a:prstGeom>
          <a:noFill/>
          <a:ln/>
        </p:spPr>
        <p:txBody>
          <a:bodyPr wrap="square" lIns="0" tIns="0" rIns="0" bIns="0" rtlCol="0" anchor="ctr"/>
          <a:lstStyle/>
          <a:p>
            <a:pPr marL="0" indent="0">
              <a:buNone/>
            </a:pPr>
            <a:r>
              <a:rPr lang="en-US" sz="1500" b="1" dirty="0">
                <a:solidFill>
                  <a:schemeClr val="tx2"/>
                </a:solidFill>
              </a:rPr>
              <a:t>Garden and Leo</a:t>
            </a:r>
            <a:endParaRPr lang="en-US" sz="1500" dirty="0"/>
          </a:p>
        </p:txBody>
      </p:sp>
      <p:sp>
        <p:nvSpPr>
          <p:cNvPr id="31" name="Chain box 3-1"/>
          <p:cNvSpPr/>
          <p:nvPr/>
        </p:nvSpPr>
        <p:spPr>
          <a:xfrm>
            <a:off x="2514600" y="3621024"/>
            <a:ext cx="1920240" cy="868680"/>
          </a:xfrm>
          <a:prstGeom prst="roundRect">
            <a:avLst>
              <a:gd name="adj" fmla="val 10526"/>
            </a:avLst>
          </a:prstGeom>
          <a:solidFill>
            <a:schemeClr val="accent1"/>
          </a:solidFill>
          <a:ln/>
          <a:effectLst>
            <a:outerShdw blurRad="101600" dist="25400" dir="5400000" algn="bl" rotWithShape="0">
              <a:srgbClr val="000000">
                <a:alpha val="12000"/>
              </a:srgbClr>
            </a:outerShdw>
          </a:effectLst>
        </p:spPr>
      </p:sp>
      <p:sp>
        <p:nvSpPr>
          <p:cNvPr id="32" name="Chain text 3-1"/>
          <p:cNvSpPr txBox="1"/>
          <p:nvPr/>
        </p:nvSpPr>
        <p:spPr>
          <a:xfrm>
            <a:off x="2606040" y="3621024"/>
            <a:ext cx="1737360" cy="868680"/>
          </a:xfrm>
          <a:prstGeom prst="rect">
            <a:avLst/>
          </a:prstGeom>
          <a:noFill/>
          <a:ln/>
        </p:spPr>
        <p:txBody>
          <a:bodyPr wrap="square" lIns="0" tIns="0" rIns="0" bIns="0" rtlCol="0" anchor="ctr"/>
          <a:lstStyle/>
          <a:p>
            <a:pPr marL="0" indent="0" algn="ctr">
              <a:buNone/>
            </a:pPr>
            <a:r>
              <a:rPr lang="en-US" sz="1400" b="1" dirty="0">
                <a:solidFill>
                  <a:schemeClr val="tx2"/>
                </a:solidFill>
              </a:rPr>
              <a:t>Shoe prints to the gate</a:t>
            </a:r>
            <a:endParaRPr lang="en-US" sz="1400" dirty="0"/>
          </a:p>
        </p:txBody>
      </p:sp>
      <p:sp>
        <p:nvSpPr>
          <p:cNvPr id="33" name="Chain arrow 3-1"/>
          <p:cNvSpPr/>
          <p:nvPr/>
        </p:nvSpPr>
        <p:spPr>
          <a:xfrm>
            <a:off x="4453128" y="4055364"/>
            <a:ext cx="374904" cy="0"/>
          </a:xfrm>
          <a:prstGeom prst="line">
            <a:avLst/>
          </a:prstGeom>
          <a:noFill/>
          <a:ln w="25400">
            <a:solidFill>
              <a:schemeClr val="accent6"/>
            </a:solidFill>
            <a:prstDash val="solid"/>
            <a:tailEnd type="triangle"/>
          </a:ln>
        </p:spPr>
      </p:sp>
      <p:sp>
        <p:nvSpPr>
          <p:cNvPr id="34" name="Chain box 3-2"/>
          <p:cNvSpPr/>
          <p:nvPr/>
        </p:nvSpPr>
        <p:spPr>
          <a:xfrm>
            <a:off x="4846320" y="3621024"/>
            <a:ext cx="1920240" cy="868680"/>
          </a:xfrm>
          <a:prstGeom prst="roundRect">
            <a:avLst>
              <a:gd name="adj" fmla="val 10526"/>
            </a:avLst>
          </a:prstGeom>
          <a:solidFill>
            <a:schemeClr val="tx2"/>
          </a:solidFill>
          <a:ln/>
          <a:effectLst>
            <a:outerShdw blurRad="101600" dist="25400" dir="5400000" algn="bl" rotWithShape="0">
              <a:srgbClr val="000000">
                <a:alpha val="12000"/>
              </a:srgbClr>
            </a:outerShdw>
          </a:effectLst>
        </p:spPr>
      </p:sp>
      <p:sp>
        <p:nvSpPr>
          <p:cNvPr id="35" name="Chain text 3-2"/>
          <p:cNvSpPr txBox="1"/>
          <p:nvPr/>
        </p:nvSpPr>
        <p:spPr>
          <a:xfrm>
            <a:off x="4937760" y="3621024"/>
            <a:ext cx="1737360" cy="868680"/>
          </a:xfrm>
          <a:prstGeom prst="rect">
            <a:avLst/>
          </a:prstGeom>
          <a:noFill/>
          <a:ln/>
        </p:spPr>
        <p:txBody>
          <a:bodyPr wrap="square" lIns="0" tIns="0" rIns="0" bIns="0" rtlCol="0" anchor="ctr"/>
          <a:lstStyle/>
          <a:p>
            <a:pPr marL="0" indent="0" algn="ctr">
              <a:buNone/>
            </a:pPr>
            <a:r>
              <a:rPr lang="en-US" sz="1400" b="1" dirty="0">
                <a:solidFill>
                  <a:schemeClr val="bg1"/>
                </a:solidFill>
              </a:rPr>
              <a:t>Anna tells what she saw</a:t>
            </a:r>
            <a:endParaRPr lang="en-US" sz="1400" dirty="0"/>
          </a:p>
        </p:txBody>
      </p:sp>
      <p:sp>
        <p:nvSpPr>
          <p:cNvPr id="36" name="Chain arrow 3-2"/>
          <p:cNvSpPr/>
          <p:nvPr/>
        </p:nvSpPr>
        <p:spPr>
          <a:xfrm>
            <a:off x="6784848" y="4055364"/>
            <a:ext cx="374904" cy="0"/>
          </a:xfrm>
          <a:prstGeom prst="line">
            <a:avLst/>
          </a:prstGeom>
          <a:noFill/>
          <a:ln w="25400">
            <a:solidFill>
              <a:schemeClr val="accent6"/>
            </a:solidFill>
            <a:prstDash val="solid"/>
            <a:tailEnd type="triangle"/>
          </a:ln>
        </p:spPr>
      </p:sp>
      <p:sp>
        <p:nvSpPr>
          <p:cNvPr id="37" name="Chain box 3-3"/>
          <p:cNvSpPr/>
          <p:nvPr/>
        </p:nvSpPr>
        <p:spPr>
          <a:xfrm>
            <a:off x="7178040" y="3621024"/>
            <a:ext cx="1920240" cy="868680"/>
          </a:xfrm>
          <a:prstGeom prst="roundRect">
            <a:avLst>
              <a:gd name="adj" fmla="val 10526"/>
            </a:avLst>
          </a:prstGeom>
          <a:solidFill>
            <a:schemeClr val="accent1"/>
          </a:solidFill>
          <a:ln/>
          <a:effectLst>
            <a:outerShdw blurRad="101600" dist="25400" dir="5400000" algn="bl" rotWithShape="0">
              <a:srgbClr val="000000">
                <a:alpha val="12000"/>
              </a:srgbClr>
            </a:outerShdw>
          </a:effectLst>
        </p:spPr>
      </p:sp>
      <p:sp>
        <p:nvSpPr>
          <p:cNvPr id="38" name="Chain text 3-3"/>
          <p:cNvSpPr txBox="1"/>
          <p:nvPr/>
        </p:nvSpPr>
        <p:spPr>
          <a:xfrm>
            <a:off x="7269480" y="3621024"/>
            <a:ext cx="1737360" cy="868680"/>
          </a:xfrm>
          <a:prstGeom prst="rect">
            <a:avLst/>
          </a:prstGeom>
          <a:noFill/>
          <a:ln/>
        </p:spPr>
        <p:txBody>
          <a:bodyPr wrap="square" lIns="0" tIns="0" rIns="0" bIns="0" rtlCol="0" anchor="ctr"/>
          <a:lstStyle/>
          <a:p>
            <a:pPr marL="0" indent="0" algn="ctr">
              <a:buNone/>
            </a:pPr>
            <a:r>
              <a:rPr lang="en-US" sz="1400" b="1" dirty="0">
                <a:solidFill>
                  <a:schemeClr val="tx2"/>
                </a:solidFill>
              </a:rPr>
              <a:t>Gate book: Dr. Ray's car, 9:10 PM</a:t>
            </a:r>
            <a:endParaRPr lang="en-US" sz="1400" dirty="0"/>
          </a:p>
        </p:txBody>
      </p:sp>
      <p:sp>
        <p:nvSpPr>
          <p:cNvPr id="39" name="Chain arrow 3-3"/>
          <p:cNvSpPr/>
          <p:nvPr/>
        </p:nvSpPr>
        <p:spPr>
          <a:xfrm>
            <a:off x="9116568" y="4055364"/>
            <a:ext cx="374904" cy="0"/>
          </a:xfrm>
          <a:prstGeom prst="line">
            <a:avLst/>
          </a:prstGeom>
          <a:noFill/>
          <a:ln w="25400">
            <a:solidFill>
              <a:schemeClr val="accent6"/>
            </a:solidFill>
            <a:prstDash val="solid"/>
            <a:tailEnd type="triangle"/>
          </a:ln>
        </p:spPr>
      </p:sp>
      <p:sp>
        <p:nvSpPr>
          <p:cNvPr id="40" name="Chain box 3-4"/>
          <p:cNvSpPr/>
          <p:nvPr/>
        </p:nvSpPr>
        <p:spPr>
          <a:xfrm>
            <a:off x="9509760" y="3621024"/>
            <a:ext cx="1920240" cy="868680"/>
          </a:xfrm>
          <a:prstGeom prst="roundRect">
            <a:avLst>
              <a:gd name="adj" fmla="val 10526"/>
            </a:avLst>
          </a:prstGeom>
          <a:solidFill>
            <a:schemeClr val="tx2"/>
          </a:solidFill>
          <a:ln/>
          <a:effectLst>
            <a:outerShdw blurRad="101600" dist="25400" dir="5400000" algn="bl" rotWithShape="0">
              <a:srgbClr val="000000">
                <a:alpha val="12000"/>
              </a:srgbClr>
            </a:outerShdw>
          </a:effectLst>
        </p:spPr>
      </p:sp>
      <p:sp>
        <p:nvSpPr>
          <p:cNvPr id="41" name="Chain text 3-4"/>
          <p:cNvSpPr txBox="1"/>
          <p:nvPr/>
        </p:nvSpPr>
        <p:spPr>
          <a:xfrm>
            <a:off x="9601200" y="3621024"/>
            <a:ext cx="1737360" cy="868680"/>
          </a:xfrm>
          <a:prstGeom prst="rect">
            <a:avLst/>
          </a:prstGeom>
          <a:noFill/>
          <a:ln/>
        </p:spPr>
        <p:txBody>
          <a:bodyPr wrap="square" lIns="0" tIns="0" rIns="0" bIns="0" rtlCol="0" anchor="ctr"/>
          <a:lstStyle/>
          <a:p>
            <a:pPr marL="0" indent="0" algn="ctr">
              <a:buNone/>
            </a:pPr>
            <a:r>
              <a:rPr lang="en-US" sz="1400" b="1" dirty="0">
                <a:solidFill>
                  <a:schemeClr val="bg1"/>
                </a:solidFill>
              </a:rPr>
              <a:t>Leo saw the car lights</a:t>
            </a:r>
            <a:endParaRPr lang="en-US" sz="1400" dirty="0"/>
          </a:p>
        </p:txBody>
      </p:sp>
      <p:sp>
        <p:nvSpPr>
          <p:cNvPr id="42" name="Row 4 circle"/>
          <p:cNvSpPr/>
          <p:nvPr/>
        </p:nvSpPr>
        <p:spPr>
          <a:xfrm>
            <a:off x="548640" y="4901184"/>
            <a:ext cx="502920" cy="502920"/>
          </a:xfrm>
          <a:prstGeom prst="ellipse">
            <a:avLst/>
          </a:prstGeom>
          <a:solidFill>
            <a:schemeClr val="tx2"/>
          </a:solidFill>
          <a:ln/>
        </p:spPr>
      </p:sp>
      <p:pic>
        <p:nvPicPr>
          <p:cNvPr id="43" name="Row 4 icon" descr="preencoded.png"/>
          <p:cNvPicPr>
            <a:picLocks noChangeAspect="1"/>
          </p:cNvPicPr>
          <p:nvPr/>
        </p:nvPicPr>
        <p:blipFill>
          <a:blip r:embed="rId6"/>
          <a:stretch>
            <a:fillRect/>
          </a:stretch>
        </p:blipFill>
        <p:spPr>
          <a:xfrm>
            <a:off x="674370" y="5026914"/>
            <a:ext cx="251460" cy="251460"/>
          </a:xfrm>
          <a:prstGeom prst="rect">
            <a:avLst/>
          </a:prstGeom>
        </p:spPr>
      </p:pic>
      <p:sp>
        <p:nvSpPr>
          <p:cNvPr id="44" name="Row label 4"/>
          <p:cNvSpPr txBox="1"/>
          <p:nvPr/>
        </p:nvSpPr>
        <p:spPr>
          <a:xfrm>
            <a:off x="1188720" y="4809744"/>
            <a:ext cx="1188720" cy="685800"/>
          </a:xfrm>
          <a:prstGeom prst="rect">
            <a:avLst/>
          </a:prstGeom>
          <a:noFill/>
          <a:ln/>
        </p:spPr>
        <p:txBody>
          <a:bodyPr wrap="square" lIns="0" tIns="0" rIns="0" bIns="0" rtlCol="0" anchor="ctr"/>
          <a:lstStyle/>
          <a:p>
            <a:pPr marL="0" indent="0">
              <a:buNone/>
            </a:pPr>
            <a:r>
              <a:rPr lang="en-US" sz="1500" b="1" dirty="0">
                <a:solidFill>
                  <a:schemeClr val="tx2"/>
                </a:solidFill>
              </a:rPr>
              <a:t>Dining Room</a:t>
            </a:r>
            <a:endParaRPr lang="en-US" sz="1500" dirty="0"/>
          </a:p>
        </p:txBody>
      </p:sp>
      <p:sp>
        <p:nvSpPr>
          <p:cNvPr id="45" name="Chain box 4-1"/>
          <p:cNvSpPr/>
          <p:nvPr/>
        </p:nvSpPr>
        <p:spPr>
          <a:xfrm>
            <a:off x="2514600" y="4700016"/>
            <a:ext cx="1920240" cy="868680"/>
          </a:xfrm>
          <a:prstGeom prst="roundRect">
            <a:avLst>
              <a:gd name="adj" fmla="val 10526"/>
            </a:avLst>
          </a:prstGeom>
          <a:solidFill>
            <a:schemeClr val="accent1"/>
          </a:solidFill>
          <a:ln/>
          <a:effectLst>
            <a:outerShdw blurRad="101600" dist="25400" dir="5400000" algn="bl" rotWithShape="0">
              <a:srgbClr val="000000">
                <a:alpha val="12000"/>
              </a:srgbClr>
            </a:outerShdw>
          </a:effectLst>
        </p:spPr>
      </p:sp>
      <p:sp>
        <p:nvSpPr>
          <p:cNvPr id="46" name="Chain text 4-1"/>
          <p:cNvSpPr txBox="1"/>
          <p:nvPr/>
        </p:nvSpPr>
        <p:spPr>
          <a:xfrm>
            <a:off x="2606040" y="4700016"/>
            <a:ext cx="1737360" cy="868680"/>
          </a:xfrm>
          <a:prstGeom prst="rect">
            <a:avLst/>
          </a:prstGeom>
          <a:noFill/>
          <a:ln/>
        </p:spPr>
        <p:txBody>
          <a:bodyPr wrap="square" lIns="0" tIns="0" rIns="0" bIns="0" rtlCol="0" anchor="ctr"/>
          <a:lstStyle/>
          <a:p>
            <a:pPr marL="0" indent="0" algn="ctr">
              <a:buNone/>
            </a:pPr>
            <a:r>
              <a:rPr lang="en-US" sz="1400" b="1" dirty="0">
                <a:solidFill>
                  <a:schemeClr val="tx2"/>
                </a:solidFill>
              </a:rPr>
              <a:t>Seating chart: Dr. Ray's chair was empty</a:t>
            </a:r>
            <a:endParaRPr lang="en-US" sz="1400" dirty="0"/>
          </a:p>
        </p:txBody>
      </p:sp>
      <p:sp>
        <p:nvSpPr>
          <p:cNvPr id="47" name="Chain arrow 4-1"/>
          <p:cNvSpPr/>
          <p:nvPr/>
        </p:nvSpPr>
        <p:spPr>
          <a:xfrm>
            <a:off x="4453128" y="5134356"/>
            <a:ext cx="374904" cy="0"/>
          </a:xfrm>
          <a:prstGeom prst="line">
            <a:avLst/>
          </a:prstGeom>
          <a:noFill/>
          <a:ln w="25400">
            <a:solidFill>
              <a:schemeClr val="accent6"/>
            </a:solidFill>
            <a:prstDash val="solid"/>
            <a:tailEnd type="triangle"/>
          </a:ln>
        </p:spPr>
      </p:sp>
      <p:sp>
        <p:nvSpPr>
          <p:cNvPr id="48" name="Chain box 4-2"/>
          <p:cNvSpPr/>
          <p:nvPr/>
        </p:nvSpPr>
        <p:spPr>
          <a:xfrm>
            <a:off x="4846320" y="4700016"/>
            <a:ext cx="1920240" cy="868680"/>
          </a:xfrm>
          <a:prstGeom prst="roundRect">
            <a:avLst>
              <a:gd name="adj" fmla="val 10526"/>
            </a:avLst>
          </a:prstGeom>
          <a:solidFill>
            <a:schemeClr val="tx2"/>
          </a:solidFill>
          <a:ln/>
          <a:effectLst>
            <a:outerShdw blurRad="101600" dist="25400" dir="5400000" algn="bl" rotWithShape="0">
              <a:srgbClr val="000000">
                <a:alpha val="12000"/>
              </a:srgbClr>
            </a:outerShdw>
          </a:effectLst>
        </p:spPr>
      </p:sp>
      <p:sp>
        <p:nvSpPr>
          <p:cNvPr id="49" name="Chain text 4-2"/>
          <p:cNvSpPr txBox="1"/>
          <p:nvPr/>
        </p:nvSpPr>
        <p:spPr>
          <a:xfrm>
            <a:off x="4937760" y="4700016"/>
            <a:ext cx="1737360" cy="868680"/>
          </a:xfrm>
          <a:prstGeom prst="rect">
            <a:avLst/>
          </a:prstGeom>
          <a:noFill/>
          <a:ln/>
        </p:spPr>
        <p:txBody>
          <a:bodyPr wrap="square" lIns="0" tIns="0" rIns="0" bIns="0" rtlCol="0" anchor="ctr"/>
          <a:lstStyle/>
          <a:p>
            <a:pPr marL="0" indent="0" algn="ctr">
              <a:buNone/>
            </a:pPr>
            <a:r>
              <a:rPr lang="en-US" sz="1400" b="1" dirty="0">
                <a:solidFill>
                  <a:schemeClr val="bg1"/>
                </a:solidFill>
              </a:rPr>
              <a:t>Dr. Ray admits he left the table</a:t>
            </a:r>
            <a:endParaRPr lang="en-US" sz="1400" dirty="0"/>
          </a:p>
        </p:txBody>
      </p:sp>
      <p:sp>
        <p:nvSpPr>
          <p:cNvPr id="50" name="Legend search swatch"/>
          <p:cNvSpPr/>
          <p:nvPr/>
        </p:nvSpPr>
        <p:spPr>
          <a:xfrm>
            <a:off x="548640" y="5852160"/>
            <a:ext cx="274320" cy="274320"/>
          </a:xfrm>
          <a:prstGeom prst="roundRect">
            <a:avLst>
              <a:gd name="adj" fmla="val 16667"/>
            </a:avLst>
          </a:prstGeom>
          <a:solidFill>
            <a:schemeClr val="accent1"/>
          </a:solidFill>
          <a:ln/>
        </p:spPr>
      </p:sp>
      <p:sp>
        <p:nvSpPr>
          <p:cNvPr id="51" name="Legend search"/>
          <p:cNvSpPr txBox="1"/>
          <p:nvPr/>
        </p:nvSpPr>
        <p:spPr>
          <a:xfrm>
            <a:off x="914400" y="5852160"/>
            <a:ext cx="2103120" cy="274320"/>
          </a:xfrm>
          <a:prstGeom prst="rect">
            <a:avLst/>
          </a:prstGeom>
          <a:noFill/>
          <a:ln/>
        </p:spPr>
        <p:txBody>
          <a:bodyPr wrap="square" lIns="0" tIns="0" rIns="0" bIns="0" rtlCol="0" anchor="ctr"/>
          <a:lstStyle/>
          <a:p>
            <a:pPr marL="0" indent="0">
              <a:buNone/>
            </a:pPr>
            <a:r>
              <a:rPr lang="en-US" sz="1400" dirty="0">
                <a:solidFill>
                  <a:schemeClr val="tx1"/>
                </a:solidFill>
              </a:rPr>
              <a:t>Search a location</a:t>
            </a:r>
            <a:endParaRPr lang="en-US" sz="1400" dirty="0"/>
          </a:p>
        </p:txBody>
      </p:sp>
      <p:sp>
        <p:nvSpPr>
          <p:cNvPr id="52" name="Legend question swatch"/>
          <p:cNvSpPr/>
          <p:nvPr/>
        </p:nvSpPr>
        <p:spPr>
          <a:xfrm>
            <a:off x="3200400" y="5852160"/>
            <a:ext cx="274320" cy="274320"/>
          </a:xfrm>
          <a:prstGeom prst="roundRect">
            <a:avLst>
              <a:gd name="adj" fmla="val 16667"/>
            </a:avLst>
          </a:prstGeom>
          <a:solidFill>
            <a:schemeClr val="tx2"/>
          </a:solidFill>
          <a:ln/>
        </p:spPr>
      </p:sp>
      <p:sp>
        <p:nvSpPr>
          <p:cNvPr id="53" name="Legend question"/>
          <p:cNvSpPr txBox="1"/>
          <p:nvPr/>
        </p:nvSpPr>
        <p:spPr>
          <a:xfrm>
            <a:off x="3566160" y="5852160"/>
            <a:ext cx="2194560" cy="274320"/>
          </a:xfrm>
          <a:prstGeom prst="rect">
            <a:avLst/>
          </a:prstGeom>
          <a:noFill/>
          <a:ln/>
        </p:spPr>
        <p:txBody>
          <a:bodyPr wrap="square" lIns="0" tIns="0" rIns="0" bIns="0" rtlCol="0" anchor="ctr"/>
          <a:lstStyle/>
          <a:p>
            <a:pPr marL="0" indent="0">
              <a:buNone/>
            </a:pPr>
            <a:r>
              <a:rPr lang="en-US" sz="1400" dirty="0">
                <a:solidFill>
                  <a:schemeClr val="tx1"/>
                </a:solidFill>
              </a:rPr>
              <a:t>Question a suspect</a:t>
            </a:r>
            <a:endParaRPr lang="en-US" sz="1400" dirty="0"/>
          </a:p>
        </p:txBody>
      </p:sp>
      <p:sp>
        <p:nvSpPr>
          <p:cNvPr id="54" name="Legend arrow"/>
          <p:cNvSpPr txBox="1"/>
          <p:nvPr/>
        </p:nvSpPr>
        <p:spPr>
          <a:xfrm>
            <a:off x="6035040" y="5852160"/>
            <a:ext cx="5577840" cy="274320"/>
          </a:xfrm>
          <a:prstGeom prst="rect">
            <a:avLst/>
          </a:prstGeom>
          <a:noFill/>
          <a:ln/>
        </p:spPr>
        <p:txBody>
          <a:bodyPr wrap="square" lIns="0" tIns="0" rIns="0" bIns="0" rtlCol="0" anchor="ctr"/>
          <a:lstStyle/>
          <a:p>
            <a:pPr marL="0" indent="0">
              <a:buNone/>
            </a:pPr>
            <a:r>
              <a:rPr lang="en-US" sz="1400" i="1" dirty="0">
                <a:solidFill>
                  <a:schemeClr val="accent6"/>
                </a:solidFill>
              </a:rPr>
              <a:t>Arrow = the next step needs the one before it</a:t>
            </a:r>
            <a:endParaRPr lang="en-US" sz="1400" dirty="0"/>
          </a:p>
        </p:txBody>
      </p:sp>
      <p:sp>
        <p:nvSpPr>
          <p:cNvPr id="5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Program structure: 5 simple parts</a:t>
            </a:r>
            <a:endParaRPr lang="en-US" sz="3600" dirty="0"/>
          </a:p>
        </p:txBody>
      </p:sp>
      <p:sp>
        <p:nvSpPr>
          <p:cNvPr id="3" name="Part row 1"/>
          <p:cNvSpPr/>
          <p:nvPr/>
        </p:nvSpPr>
        <p:spPr>
          <a:xfrm>
            <a:off x="548640" y="1463040"/>
            <a:ext cx="11091672" cy="804672"/>
          </a:xfrm>
          <a:prstGeom prst="roundRect">
            <a:avLst>
              <a:gd name="adj" fmla="val 13636"/>
            </a:avLst>
          </a:prstGeom>
          <a:solidFill>
            <a:schemeClr val="bg1"/>
          </a:solidFill>
          <a:ln/>
          <a:effectLst>
            <a:outerShdw blurRad="101600" dist="25400" dir="5400000" algn="bl" rotWithShape="0">
              <a:srgbClr val="000000">
                <a:alpha val="12000"/>
              </a:srgbClr>
            </a:outerShdw>
          </a:effectLst>
        </p:spPr>
      </p:sp>
      <p:sp>
        <p:nvSpPr>
          <p:cNvPr id="4" name="Part number circle 1"/>
          <p:cNvSpPr/>
          <p:nvPr/>
        </p:nvSpPr>
        <p:spPr>
          <a:xfrm>
            <a:off x="777240" y="1591056"/>
            <a:ext cx="548640" cy="548640"/>
          </a:xfrm>
          <a:prstGeom prst="ellipse">
            <a:avLst/>
          </a:prstGeom>
          <a:solidFill>
            <a:schemeClr val="tx2"/>
          </a:solidFill>
          <a:ln/>
        </p:spPr>
      </p:sp>
      <p:sp>
        <p:nvSpPr>
          <p:cNvPr id="5" name="Part number 1"/>
          <p:cNvSpPr txBox="1"/>
          <p:nvPr/>
        </p:nvSpPr>
        <p:spPr>
          <a:xfrm>
            <a:off x="777240" y="1591056"/>
            <a:ext cx="548640" cy="548640"/>
          </a:xfrm>
          <a:prstGeom prst="rect">
            <a:avLst/>
          </a:prstGeom>
          <a:noFill/>
          <a:ln/>
        </p:spPr>
        <p:txBody>
          <a:bodyPr wrap="square" lIns="0" tIns="0" rIns="0" bIns="0" rtlCol="0" anchor="ctr"/>
          <a:lstStyle/>
          <a:p>
            <a:pPr marL="0" indent="0" algn="ctr">
              <a:buNone/>
            </a:pPr>
            <a:r>
              <a:rPr lang="en-US" sz="2000" b="1" dirty="0">
                <a:solidFill>
                  <a:schemeClr val="accent1"/>
                </a:solidFill>
              </a:rPr>
              <a:t>1</a:t>
            </a:r>
            <a:endParaRPr lang="en-US" sz="2000" dirty="0"/>
          </a:p>
        </p:txBody>
      </p:sp>
      <p:sp>
        <p:nvSpPr>
          <p:cNvPr id="6" name="Part title 1"/>
          <p:cNvSpPr txBox="1"/>
          <p:nvPr/>
        </p:nvSpPr>
        <p:spPr>
          <a:xfrm>
            <a:off x="1554480" y="1463040"/>
            <a:ext cx="2468880" cy="804672"/>
          </a:xfrm>
          <a:prstGeom prst="rect">
            <a:avLst/>
          </a:prstGeom>
          <a:noFill/>
          <a:ln/>
        </p:spPr>
        <p:txBody>
          <a:bodyPr wrap="square" lIns="0" tIns="0" rIns="0" bIns="0" rtlCol="0" anchor="ctr"/>
          <a:lstStyle/>
          <a:p>
            <a:pPr marL="0" indent="0">
              <a:buNone/>
            </a:pPr>
            <a:r>
              <a:rPr lang="en-US" sz="2000" b="1" dirty="0">
                <a:solidFill>
                  <a:schemeClr val="tx2"/>
                </a:solidFill>
              </a:rPr>
              <a:t>Game data</a:t>
            </a:r>
            <a:endParaRPr lang="en-US" sz="2000" dirty="0"/>
          </a:p>
        </p:txBody>
      </p:sp>
      <p:sp>
        <p:nvSpPr>
          <p:cNvPr id="7" name="Part text 1"/>
          <p:cNvSpPr txBox="1"/>
          <p:nvPr/>
        </p:nvSpPr>
        <p:spPr>
          <a:xfrm>
            <a:off x="4114800" y="1463040"/>
            <a:ext cx="5212080" cy="804672"/>
          </a:xfrm>
          <a:prstGeom prst="rect">
            <a:avLst/>
          </a:prstGeom>
          <a:noFill/>
          <a:ln/>
        </p:spPr>
        <p:txBody>
          <a:bodyPr wrap="square" lIns="0" tIns="0" rIns="0" bIns="0" rtlCol="0" anchor="ctr"/>
          <a:lstStyle/>
          <a:p>
            <a:pPr marL="0" indent="0">
              <a:buNone/>
            </a:pPr>
            <a:r>
              <a:rPr lang="en-US" sz="1500" dirty="0">
                <a:solidFill>
                  <a:schemeClr val="tx1"/>
                </a:solidFill>
              </a:rPr>
              <a:t>CASES and DIFFICULTY dictionaries hold the 4 cases, 3 levels, suspects, clues and questions.</a:t>
            </a:r>
            <a:endParaRPr lang="en-US" sz="1500" dirty="0"/>
          </a:p>
        </p:txBody>
      </p:sp>
      <p:sp>
        <p:nvSpPr>
          <p:cNvPr id="8" name="Part chip 1"/>
          <p:cNvSpPr/>
          <p:nvPr/>
        </p:nvSpPr>
        <p:spPr>
          <a:xfrm>
            <a:off x="9509760" y="1655064"/>
            <a:ext cx="1920240" cy="420624"/>
          </a:xfrm>
          <a:prstGeom prst="roundRect">
            <a:avLst>
              <a:gd name="adj" fmla="val 43478"/>
            </a:avLst>
          </a:prstGeom>
          <a:solidFill>
            <a:schemeClr val="accent1"/>
          </a:solidFill>
          <a:ln/>
        </p:spPr>
      </p:sp>
      <p:sp>
        <p:nvSpPr>
          <p:cNvPr id="9" name="Part chip text 1"/>
          <p:cNvSpPr txBox="1"/>
          <p:nvPr/>
        </p:nvSpPr>
        <p:spPr>
          <a:xfrm>
            <a:off x="9509760" y="1655064"/>
            <a:ext cx="1920240" cy="420624"/>
          </a:xfrm>
          <a:prstGeom prst="rect">
            <a:avLst/>
          </a:prstGeom>
          <a:noFill/>
          <a:ln/>
        </p:spPr>
        <p:txBody>
          <a:bodyPr wrap="square" lIns="0" tIns="0" rIns="0" bIns="0" rtlCol="0" anchor="ctr"/>
          <a:lstStyle/>
          <a:p>
            <a:pPr marL="0" indent="0" algn="ctr">
              <a:buNone/>
            </a:pPr>
            <a:r>
              <a:rPr lang="en-US" sz="1400" b="1" dirty="0">
                <a:solidFill>
                  <a:schemeClr val="tx2"/>
                </a:solidFill>
              </a:rPr>
              <a:t>Dictionaries</a:t>
            </a:r>
            <a:endParaRPr lang="en-US" sz="1400" dirty="0"/>
          </a:p>
        </p:txBody>
      </p:sp>
      <p:sp>
        <p:nvSpPr>
          <p:cNvPr id="10" name="Part row 2"/>
          <p:cNvSpPr/>
          <p:nvPr/>
        </p:nvSpPr>
        <p:spPr>
          <a:xfrm>
            <a:off x="548640" y="2395728"/>
            <a:ext cx="11091672" cy="804672"/>
          </a:xfrm>
          <a:prstGeom prst="roundRect">
            <a:avLst>
              <a:gd name="adj" fmla="val 13636"/>
            </a:avLst>
          </a:prstGeom>
          <a:solidFill>
            <a:schemeClr val="bg1"/>
          </a:solidFill>
          <a:ln/>
          <a:effectLst>
            <a:outerShdw blurRad="101600" dist="25400" dir="5400000" algn="bl" rotWithShape="0">
              <a:srgbClr val="000000">
                <a:alpha val="12000"/>
              </a:srgbClr>
            </a:outerShdw>
          </a:effectLst>
        </p:spPr>
      </p:sp>
      <p:sp>
        <p:nvSpPr>
          <p:cNvPr id="11" name="Part number circle 2"/>
          <p:cNvSpPr/>
          <p:nvPr/>
        </p:nvSpPr>
        <p:spPr>
          <a:xfrm>
            <a:off x="777240" y="2523744"/>
            <a:ext cx="548640" cy="548640"/>
          </a:xfrm>
          <a:prstGeom prst="ellipse">
            <a:avLst/>
          </a:prstGeom>
          <a:solidFill>
            <a:schemeClr val="tx2"/>
          </a:solidFill>
          <a:ln/>
        </p:spPr>
      </p:sp>
      <p:sp>
        <p:nvSpPr>
          <p:cNvPr id="12" name="Part number 2"/>
          <p:cNvSpPr txBox="1"/>
          <p:nvPr/>
        </p:nvSpPr>
        <p:spPr>
          <a:xfrm>
            <a:off x="777240" y="2523744"/>
            <a:ext cx="548640" cy="548640"/>
          </a:xfrm>
          <a:prstGeom prst="rect">
            <a:avLst/>
          </a:prstGeom>
          <a:noFill/>
          <a:ln/>
        </p:spPr>
        <p:txBody>
          <a:bodyPr wrap="square" lIns="0" tIns="0" rIns="0" bIns="0" rtlCol="0" anchor="ctr"/>
          <a:lstStyle/>
          <a:p>
            <a:pPr marL="0" indent="0" algn="ctr">
              <a:buNone/>
            </a:pPr>
            <a:r>
              <a:rPr lang="en-US" sz="2000" b="1" dirty="0">
                <a:solidFill>
                  <a:schemeClr val="accent1"/>
                </a:solidFill>
              </a:rPr>
              <a:t>2</a:t>
            </a:r>
            <a:endParaRPr lang="en-US" sz="2000" dirty="0"/>
          </a:p>
        </p:txBody>
      </p:sp>
      <p:sp>
        <p:nvSpPr>
          <p:cNvPr id="13" name="Part title 2"/>
          <p:cNvSpPr txBox="1"/>
          <p:nvPr/>
        </p:nvSpPr>
        <p:spPr>
          <a:xfrm>
            <a:off x="1554480" y="2395728"/>
            <a:ext cx="2468880" cy="804672"/>
          </a:xfrm>
          <a:prstGeom prst="rect">
            <a:avLst/>
          </a:prstGeom>
          <a:noFill/>
          <a:ln/>
        </p:spPr>
        <p:txBody>
          <a:bodyPr wrap="square" lIns="0" tIns="0" rIns="0" bIns="0" rtlCol="0" anchor="ctr"/>
          <a:lstStyle/>
          <a:p>
            <a:pPr marL="0" indent="0">
              <a:buNone/>
            </a:pPr>
            <a:r>
              <a:rPr lang="en-US" sz="2000" b="1" dirty="0">
                <a:solidFill>
                  <a:schemeClr val="tx2"/>
                </a:solidFill>
              </a:rPr>
              <a:t>Game state</a:t>
            </a:r>
            <a:endParaRPr lang="en-US" sz="2000" dirty="0"/>
          </a:p>
        </p:txBody>
      </p:sp>
      <p:sp>
        <p:nvSpPr>
          <p:cNvPr id="14" name="Part text 2"/>
          <p:cNvSpPr txBox="1"/>
          <p:nvPr/>
        </p:nvSpPr>
        <p:spPr>
          <a:xfrm>
            <a:off x="4114800" y="2395728"/>
            <a:ext cx="5212080" cy="804672"/>
          </a:xfrm>
          <a:prstGeom prst="rect">
            <a:avLst/>
          </a:prstGeom>
          <a:noFill/>
          <a:ln/>
        </p:spPr>
        <p:txBody>
          <a:bodyPr wrap="square" lIns="0" tIns="0" rIns="0" bIns="0" rtlCol="0" anchor="ctr"/>
          <a:lstStyle/>
          <a:p>
            <a:pPr marL="0" indent="0">
              <a:buNone/>
            </a:pPr>
            <a:r>
              <a:rPr lang="en-US" sz="1500" dirty="0">
                <a:solidFill>
                  <a:schemeClr val="tx1"/>
                </a:solidFill>
              </a:rPr>
              <a:t>One dictionary remembers case, level, score, actions, hints, clues found and notes.</a:t>
            </a:r>
            <a:endParaRPr lang="en-US" sz="1500" dirty="0"/>
          </a:p>
        </p:txBody>
      </p:sp>
      <p:sp>
        <p:nvSpPr>
          <p:cNvPr id="15" name="Part chip 2"/>
          <p:cNvSpPr/>
          <p:nvPr/>
        </p:nvSpPr>
        <p:spPr>
          <a:xfrm>
            <a:off x="9509760" y="2587752"/>
            <a:ext cx="1920240" cy="420624"/>
          </a:xfrm>
          <a:prstGeom prst="roundRect">
            <a:avLst>
              <a:gd name="adj" fmla="val 43478"/>
            </a:avLst>
          </a:prstGeom>
          <a:solidFill>
            <a:schemeClr val="accent1"/>
          </a:solidFill>
          <a:ln/>
        </p:spPr>
      </p:sp>
      <p:sp>
        <p:nvSpPr>
          <p:cNvPr id="16" name="Part chip text 2"/>
          <p:cNvSpPr txBox="1"/>
          <p:nvPr/>
        </p:nvSpPr>
        <p:spPr>
          <a:xfrm>
            <a:off x="9509760" y="2587752"/>
            <a:ext cx="1920240" cy="420624"/>
          </a:xfrm>
          <a:prstGeom prst="rect">
            <a:avLst/>
          </a:prstGeom>
          <a:noFill/>
          <a:ln/>
        </p:spPr>
        <p:txBody>
          <a:bodyPr wrap="square" lIns="0" tIns="0" rIns="0" bIns="0" rtlCol="0" anchor="ctr"/>
          <a:lstStyle/>
          <a:p>
            <a:pPr marL="0" indent="0" algn="ctr">
              <a:buNone/>
            </a:pPr>
            <a:r>
              <a:rPr lang="en-US" sz="1400" b="1" dirty="0">
                <a:solidFill>
                  <a:schemeClr val="tx2"/>
                </a:solidFill>
              </a:rPr>
              <a:t>Score tracking</a:t>
            </a:r>
            <a:endParaRPr lang="en-US" sz="1400" dirty="0"/>
          </a:p>
        </p:txBody>
      </p:sp>
      <p:sp>
        <p:nvSpPr>
          <p:cNvPr id="17" name="Part row 3"/>
          <p:cNvSpPr/>
          <p:nvPr/>
        </p:nvSpPr>
        <p:spPr>
          <a:xfrm>
            <a:off x="548640" y="3328416"/>
            <a:ext cx="11091672" cy="804672"/>
          </a:xfrm>
          <a:prstGeom prst="roundRect">
            <a:avLst>
              <a:gd name="adj" fmla="val 13636"/>
            </a:avLst>
          </a:prstGeom>
          <a:solidFill>
            <a:schemeClr val="bg1"/>
          </a:solidFill>
          <a:ln/>
          <a:effectLst>
            <a:outerShdw blurRad="101600" dist="25400" dir="5400000" algn="bl" rotWithShape="0">
              <a:srgbClr val="000000">
                <a:alpha val="12000"/>
              </a:srgbClr>
            </a:outerShdw>
          </a:effectLst>
        </p:spPr>
      </p:sp>
      <p:sp>
        <p:nvSpPr>
          <p:cNvPr id="18" name="Part number circle 3"/>
          <p:cNvSpPr/>
          <p:nvPr/>
        </p:nvSpPr>
        <p:spPr>
          <a:xfrm>
            <a:off x="777240" y="3456432"/>
            <a:ext cx="548640" cy="548640"/>
          </a:xfrm>
          <a:prstGeom prst="ellipse">
            <a:avLst/>
          </a:prstGeom>
          <a:solidFill>
            <a:schemeClr val="tx2"/>
          </a:solidFill>
          <a:ln/>
        </p:spPr>
      </p:sp>
      <p:sp>
        <p:nvSpPr>
          <p:cNvPr id="19" name="Part number 3"/>
          <p:cNvSpPr txBox="1"/>
          <p:nvPr/>
        </p:nvSpPr>
        <p:spPr>
          <a:xfrm>
            <a:off x="777240" y="3456432"/>
            <a:ext cx="548640" cy="548640"/>
          </a:xfrm>
          <a:prstGeom prst="rect">
            <a:avLst/>
          </a:prstGeom>
          <a:noFill/>
          <a:ln/>
        </p:spPr>
        <p:txBody>
          <a:bodyPr wrap="square" lIns="0" tIns="0" rIns="0" bIns="0" rtlCol="0" anchor="ctr"/>
          <a:lstStyle/>
          <a:p>
            <a:pPr marL="0" indent="0" algn="ctr">
              <a:buNone/>
            </a:pPr>
            <a:r>
              <a:rPr lang="en-US" sz="2000" b="1" dirty="0">
                <a:solidFill>
                  <a:schemeClr val="accent1"/>
                </a:solidFill>
              </a:rPr>
              <a:t>3</a:t>
            </a:r>
            <a:endParaRPr lang="en-US" sz="2000" dirty="0"/>
          </a:p>
        </p:txBody>
      </p:sp>
      <p:sp>
        <p:nvSpPr>
          <p:cNvPr id="20" name="Part title 3"/>
          <p:cNvSpPr txBox="1"/>
          <p:nvPr/>
        </p:nvSpPr>
        <p:spPr>
          <a:xfrm>
            <a:off x="1554480" y="3328416"/>
            <a:ext cx="2468880" cy="804672"/>
          </a:xfrm>
          <a:prstGeom prst="rect">
            <a:avLst/>
          </a:prstGeom>
          <a:noFill/>
          <a:ln/>
        </p:spPr>
        <p:txBody>
          <a:bodyPr wrap="square" lIns="0" tIns="0" rIns="0" bIns="0" rtlCol="0" anchor="ctr"/>
          <a:lstStyle/>
          <a:p>
            <a:pPr marL="0" indent="0">
              <a:buNone/>
            </a:pPr>
            <a:r>
              <a:rPr lang="en-US" sz="2000" b="1" dirty="0">
                <a:solidFill>
                  <a:schemeClr val="tx2"/>
                </a:solidFill>
              </a:rPr>
              <a:t>Functions</a:t>
            </a:r>
            <a:endParaRPr lang="en-US" sz="2000" dirty="0"/>
          </a:p>
        </p:txBody>
      </p:sp>
      <p:sp>
        <p:nvSpPr>
          <p:cNvPr id="21" name="Part text 3"/>
          <p:cNvSpPr txBox="1"/>
          <p:nvPr/>
        </p:nvSpPr>
        <p:spPr>
          <a:xfrm>
            <a:off x="4114800" y="3328416"/>
            <a:ext cx="5212080" cy="804672"/>
          </a:xfrm>
          <a:prstGeom prst="rect">
            <a:avLst/>
          </a:prstGeom>
          <a:noFill/>
          <a:ln/>
        </p:spPr>
        <p:txBody>
          <a:bodyPr wrap="square" lIns="0" tIns="0" rIns="0" bIns="0" rtlCol="0" anchor="ctr"/>
          <a:lstStyle/>
          <a:p>
            <a:pPr marL="0" indent="0">
              <a:buNone/>
            </a:pPr>
            <a:r>
              <a:rPr lang="en-US" sz="1500" dirty="0">
                <a:solidFill>
                  <a:schemeClr val="tx1"/>
                </a:solidFill>
              </a:rPr>
              <a:t>Each action has its own function: search, question, hint, accuse, end game.</a:t>
            </a:r>
            <a:endParaRPr lang="en-US" sz="1500" dirty="0"/>
          </a:p>
        </p:txBody>
      </p:sp>
      <p:sp>
        <p:nvSpPr>
          <p:cNvPr id="22" name="Part chip 3"/>
          <p:cNvSpPr/>
          <p:nvPr/>
        </p:nvSpPr>
        <p:spPr>
          <a:xfrm>
            <a:off x="9509760" y="3520440"/>
            <a:ext cx="1920240" cy="420624"/>
          </a:xfrm>
          <a:prstGeom prst="roundRect">
            <a:avLst>
              <a:gd name="adj" fmla="val 43478"/>
            </a:avLst>
          </a:prstGeom>
          <a:solidFill>
            <a:schemeClr val="accent1"/>
          </a:solidFill>
          <a:ln/>
        </p:spPr>
      </p:sp>
      <p:sp>
        <p:nvSpPr>
          <p:cNvPr id="23" name="Part chip text 3"/>
          <p:cNvSpPr txBox="1"/>
          <p:nvPr/>
        </p:nvSpPr>
        <p:spPr>
          <a:xfrm>
            <a:off x="9509760" y="3520440"/>
            <a:ext cx="1920240" cy="420624"/>
          </a:xfrm>
          <a:prstGeom prst="rect">
            <a:avLst/>
          </a:prstGeom>
          <a:noFill/>
          <a:ln/>
        </p:spPr>
        <p:txBody>
          <a:bodyPr wrap="square" lIns="0" tIns="0" rIns="0" bIns="0" rtlCol="0" anchor="ctr"/>
          <a:lstStyle/>
          <a:p>
            <a:pPr marL="0" indent="0" algn="ctr">
              <a:buNone/>
            </a:pPr>
            <a:r>
              <a:rPr lang="en-US" sz="1400" b="1" dirty="0">
                <a:solidFill>
                  <a:schemeClr val="tx2"/>
                </a:solidFill>
              </a:rPr>
              <a:t>Functions</a:t>
            </a:r>
            <a:endParaRPr lang="en-US" sz="1400" dirty="0"/>
          </a:p>
        </p:txBody>
      </p:sp>
      <p:sp>
        <p:nvSpPr>
          <p:cNvPr id="24" name="Part row 4"/>
          <p:cNvSpPr/>
          <p:nvPr/>
        </p:nvSpPr>
        <p:spPr>
          <a:xfrm>
            <a:off x="548640" y="4261104"/>
            <a:ext cx="11091672" cy="804672"/>
          </a:xfrm>
          <a:prstGeom prst="roundRect">
            <a:avLst>
              <a:gd name="adj" fmla="val 13636"/>
            </a:avLst>
          </a:prstGeom>
          <a:solidFill>
            <a:schemeClr val="bg1"/>
          </a:solidFill>
          <a:ln/>
          <a:effectLst>
            <a:outerShdw blurRad="101600" dist="25400" dir="5400000" algn="bl" rotWithShape="0">
              <a:srgbClr val="000000">
                <a:alpha val="12000"/>
              </a:srgbClr>
            </a:outerShdw>
          </a:effectLst>
        </p:spPr>
      </p:sp>
      <p:sp>
        <p:nvSpPr>
          <p:cNvPr id="25" name="Part number circle 4"/>
          <p:cNvSpPr/>
          <p:nvPr/>
        </p:nvSpPr>
        <p:spPr>
          <a:xfrm>
            <a:off x="777240" y="4389120"/>
            <a:ext cx="548640" cy="548640"/>
          </a:xfrm>
          <a:prstGeom prst="ellipse">
            <a:avLst/>
          </a:prstGeom>
          <a:solidFill>
            <a:schemeClr val="tx2"/>
          </a:solidFill>
          <a:ln/>
        </p:spPr>
      </p:sp>
      <p:sp>
        <p:nvSpPr>
          <p:cNvPr id="26" name="Part number 4"/>
          <p:cNvSpPr txBox="1"/>
          <p:nvPr/>
        </p:nvSpPr>
        <p:spPr>
          <a:xfrm>
            <a:off x="777240" y="4389120"/>
            <a:ext cx="548640" cy="548640"/>
          </a:xfrm>
          <a:prstGeom prst="rect">
            <a:avLst/>
          </a:prstGeom>
          <a:noFill/>
          <a:ln/>
        </p:spPr>
        <p:txBody>
          <a:bodyPr wrap="square" lIns="0" tIns="0" rIns="0" bIns="0" rtlCol="0" anchor="ctr"/>
          <a:lstStyle/>
          <a:p>
            <a:pPr marL="0" indent="0" algn="ctr">
              <a:buNone/>
            </a:pPr>
            <a:r>
              <a:rPr lang="en-US" sz="2000" b="1" dirty="0">
                <a:solidFill>
                  <a:schemeClr val="accent1"/>
                </a:solidFill>
              </a:rPr>
              <a:t>4</a:t>
            </a:r>
            <a:endParaRPr lang="en-US" sz="2000" dirty="0"/>
          </a:p>
        </p:txBody>
      </p:sp>
      <p:sp>
        <p:nvSpPr>
          <p:cNvPr id="27" name="Part title 4"/>
          <p:cNvSpPr txBox="1"/>
          <p:nvPr/>
        </p:nvSpPr>
        <p:spPr>
          <a:xfrm>
            <a:off x="1554480" y="4261104"/>
            <a:ext cx="2468880" cy="804672"/>
          </a:xfrm>
          <a:prstGeom prst="rect">
            <a:avLst/>
          </a:prstGeom>
          <a:noFill/>
          <a:ln/>
        </p:spPr>
        <p:txBody>
          <a:bodyPr wrap="square" lIns="0" tIns="0" rIns="0" bIns="0" rtlCol="0" anchor="ctr"/>
          <a:lstStyle/>
          <a:p>
            <a:pPr marL="0" indent="0">
              <a:buNone/>
            </a:pPr>
            <a:r>
              <a:rPr lang="en-US" sz="2000" b="1" dirty="0">
                <a:solidFill>
                  <a:schemeClr val="tx2"/>
                </a:solidFill>
              </a:rPr>
              <a:t>Window (GUI)</a:t>
            </a:r>
            <a:endParaRPr lang="en-US" sz="2000" dirty="0"/>
          </a:p>
        </p:txBody>
      </p:sp>
      <p:sp>
        <p:nvSpPr>
          <p:cNvPr id="28" name="Part text 4"/>
          <p:cNvSpPr txBox="1"/>
          <p:nvPr/>
        </p:nvSpPr>
        <p:spPr>
          <a:xfrm>
            <a:off x="4114800" y="4261104"/>
            <a:ext cx="5212080" cy="804672"/>
          </a:xfrm>
          <a:prstGeom prst="rect">
            <a:avLst/>
          </a:prstGeom>
          <a:noFill/>
          <a:ln/>
        </p:spPr>
        <p:txBody>
          <a:bodyPr wrap="square" lIns="0" tIns="0" rIns="0" bIns="0" rtlCol="0" anchor="ctr"/>
          <a:lstStyle/>
          <a:p>
            <a:pPr marL="0" indent="0">
              <a:buNone/>
            </a:pPr>
            <a:r>
              <a:rPr lang="en-US" sz="1500" dirty="0">
                <a:solidFill>
                  <a:schemeClr val="tx1"/>
                </a:solidFill>
              </a:rPr>
              <a:t>tkinter builds the menu, level buttons and text boxes. Loops create the buttons.</a:t>
            </a:r>
            <a:endParaRPr lang="en-US" sz="1500" dirty="0"/>
          </a:p>
        </p:txBody>
      </p:sp>
      <p:sp>
        <p:nvSpPr>
          <p:cNvPr id="29" name="Part chip 4"/>
          <p:cNvSpPr/>
          <p:nvPr/>
        </p:nvSpPr>
        <p:spPr>
          <a:xfrm>
            <a:off x="9509760" y="4453128"/>
            <a:ext cx="1920240" cy="420624"/>
          </a:xfrm>
          <a:prstGeom prst="roundRect">
            <a:avLst>
              <a:gd name="adj" fmla="val 43478"/>
            </a:avLst>
          </a:prstGeom>
          <a:solidFill>
            <a:schemeClr val="accent1"/>
          </a:solidFill>
          <a:ln/>
        </p:spPr>
      </p:sp>
      <p:sp>
        <p:nvSpPr>
          <p:cNvPr id="30" name="Part chip text 4"/>
          <p:cNvSpPr txBox="1"/>
          <p:nvPr/>
        </p:nvSpPr>
        <p:spPr>
          <a:xfrm>
            <a:off x="9509760" y="4453128"/>
            <a:ext cx="1920240" cy="420624"/>
          </a:xfrm>
          <a:prstGeom prst="rect">
            <a:avLst/>
          </a:prstGeom>
          <a:noFill/>
          <a:ln/>
        </p:spPr>
        <p:txBody>
          <a:bodyPr wrap="square" lIns="0" tIns="0" rIns="0" bIns="0" rtlCol="0" anchor="ctr"/>
          <a:lstStyle/>
          <a:p>
            <a:pPr marL="0" indent="0" algn="ctr">
              <a:buNone/>
            </a:pPr>
            <a:r>
              <a:rPr lang="en-US" sz="1400" b="1" dirty="0">
                <a:solidFill>
                  <a:schemeClr val="tx2"/>
                </a:solidFill>
              </a:rPr>
              <a:t>Loops</a:t>
            </a:r>
            <a:endParaRPr lang="en-US" sz="1400" dirty="0"/>
          </a:p>
        </p:txBody>
      </p:sp>
      <p:sp>
        <p:nvSpPr>
          <p:cNvPr id="31" name="Part row 5"/>
          <p:cNvSpPr/>
          <p:nvPr/>
        </p:nvSpPr>
        <p:spPr>
          <a:xfrm>
            <a:off x="548640" y="5193792"/>
            <a:ext cx="11091672" cy="804672"/>
          </a:xfrm>
          <a:prstGeom prst="roundRect">
            <a:avLst>
              <a:gd name="adj" fmla="val 13636"/>
            </a:avLst>
          </a:prstGeom>
          <a:solidFill>
            <a:schemeClr val="bg1"/>
          </a:solidFill>
          <a:ln/>
          <a:effectLst>
            <a:outerShdw blurRad="101600" dist="25400" dir="5400000" algn="bl" rotWithShape="0">
              <a:srgbClr val="000000">
                <a:alpha val="12000"/>
              </a:srgbClr>
            </a:outerShdw>
          </a:effectLst>
        </p:spPr>
      </p:sp>
      <p:sp>
        <p:nvSpPr>
          <p:cNvPr id="32" name="Part number circle 5"/>
          <p:cNvSpPr/>
          <p:nvPr/>
        </p:nvSpPr>
        <p:spPr>
          <a:xfrm>
            <a:off x="777240" y="5321808"/>
            <a:ext cx="548640" cy="548640"/>
          </a:xfrm>
          <a:prstGeom prst="ellipse">
            <a:avLst/>
          </a:prstGeom>
          <a:solidFill>
            <a:schemeClr val="tx2"/>
          </a:solidFill>
          <a:ln/>
        </p:spPr>
      </p:sp>
      <p:sp>
        <p:nvSpPr>
          <p:cNvPr id="33" name="Part number 5"/>
          <p:cNvSpPr txBox="1"/>
          <p:nvPr/>
        </p:nvSpPr>
        <p:spPr>
          <a:xfrm>
            <a:off x="777240" y="5321808"/>
            <a:ext cx="548640" cy="548640"/>
          </a:xfrm>
          <a:prstGeom prst="rect">
            <a:avLst/>
          </a:prstGeom>
          <a:noFill/>
          <a:ln/>
        </p:spPr>
        <p:txBody>
          <a:bodyPr wrap="square" lIns="0" tIns="0" rIns="0" bIns="0" rtlCol="0" anchor="ctr"/>
          <a:lstStyle/>
          <a:p>
            <a:pPr marL="0" indent="0" algn="ctr">
              <a:buNone/>
            </a:pPr>
            <a:r>
              <a:rPr lang="en-US" sz="2000" b="1" dirty="0">
                <a:solidFill>
                  <a:schemeClr val="accent1"/>
                </a:solidFill>
              </a:rPr>
              <a:t>5</a:t>
            </a:r>
            <a:endParaRPr lang="en-US" sz="2000" dirty="0"/>
          </a:p>
        </p:txBody>
      </p:sp>
      <p:sp>
        <p:nvSpPr>
          <p:cNvPr id="34" name="Part title 5"/>
          <p:cNvSpPr txBox="1"/>
          <p:nvPr/>
        </p:nvSpPr>
        <p:spPr>
          <a:xfrm>
            <a:off x="1554480" y="5193792"/>
            <a:ext cx="2468880" cy="804672"/>
          </a:xfrm>
          <a:prstGeom prst="rect">
            <a:avLst/>
          </a:prstGeom>
          <a:noFill/>
          <a:ln/>
        </p:spPr>
        <p:txBody>
          <a:bodyPr wrap="square" lIns="0" tIns="0" rIns="0" bIns="0" rtlCol="0" anchor="ctr"/>
          <a:lstStyle/>
          <a:p>
            <a:pPr marL="0" indent="0">
              <a:buNone/>
            </a:pPr>
            <a:r>
              <a:rPr lang="en-US" sz="2000" b="1" dirty="0">
                <a:solidFill>
                  <a:schemeClr val="tx2"/>
                </a:solidFill>
              </a:rPr>
              <a:t>Start</a:t>
            </a:r>
            <a:endParaRPr lang="en-US" sz="2000" dirty="0"/>
          </a:p>
        </p:txBody>
      </p:sp>
      <p:sp>
        <p:nvSpPr>
          <p:cNvPr id="35" name="Part text 5"/>
          <p:cNvSpPr txBox="1"/>
          <p:nvPr/>
        </p:nvSpPr>
        <p:spPr>
          <a:xfrm>
            <a:off x="4114800" y="5193792"/>
            <a:ext cx="5212080" cy="804672"/>
          </a:xfrm>
          <a:prstGeom prst="rect">
            <a:avLst/>
          </a:prstGeom>
          <a:noFill/>
          <a:ln/>
        </p:spPr>
        <p:txBody>
          <a:bodyPr wrap="square" lIns="0" tIns="0" rIns="0" bIns="0" rtlCol="0" anchor="ctr"/>
          <a:lstStyle/>
          <a:p>
            <a:pPr marL="0" indent="0">
              <a:buNone/>
            </a:pPr>
            <a:r>
              <a:rPr lang="en-US" sz="1500" dirty="0">
                <a:solidFill>
                  <a:schemeClr val="tx1"/>
                </a:solidFill>
              </a:rPr>
              <a:t>start_game() resets everything, then mainloop() waits for clicks.</a:t>
            </a:r>
            <a:endParaRPr lang="en-US" sz="1500" dirty="0"/>
          </a:p>
        </p:txBody>
      </p:sp>
      <p:sp>
        <p:nvSpPr>
          <p:cNvPr id="36" name="Part chip 5"/>
          <p:cNvSpPr/>
          <p:nvPr/>
        </p:nvSpPr>
        <p:spPr>
          <a:xfrm>
            <a:off x="9509760" y="5385816"/>
            <a:ext cx="1920240" cy="420624"/>
          </a:xfrm>
          <a:prstGeom prst="roundRect">
            <a:avLst>
              <a:gd name="adj" fmla="val 43478"/>
            </a:avLst>
          </a:prstGeom>
          <a:solidFill>
            <a:schemeClr val="accent1"/>
          </a:solidFill>
          <a:ln/>
        </p:spPr>
      </p:sp>
      <p:sp>
        <p:nvSpPr>
          <p:cNvPr id="37" name="Part chip text 5"/>
          <p:cNvSpPr txBox="1"/>
          <p:nvPr/>
        </p:nvSpPr>
        <p:spPr>
          <a:xfrm>
            <a:off x="9509760" y="5385816"/>
            <a:ext cx="1920240" cy="420624"/>
          </a:xfrm>
          <a:prstGeom prst="rect">
            <a:avLst/>
          </a:prstGeom>
          <a:noFill/>
          <a:ln/>
        </p:spPr>
        <p:txBody>
          <a:bodyPr wrap="square" lIns="0" tIns="0" rIns="0" bIns="0" rtlCol="0" anchor="ctr"/>
          <a:lstStyle/>
          <a:p>
            <a:pPr marL="0" indent="0" algn="ctr">
              <a:buNone/>
            </a:pPr>
            <a:r>
              <a:rPr lang="en-US" sz="1400" b="1" dirty="0">
                <a:solidFill>
                  <a:schemeClr val="tx2"/>
                </a:solidFill>
              </a:rPr>
              <a:t>Event loop</a:t>
            </a:r>
            <a:endParaRPr lang="en-US" sz="1400" dirty="0"/>
          </a:p>
        </p:txBody>
      </p:sp>
      <p:sp>
        <p:nvSpPr>
          <p:cNvPr id="38"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Key functions</a:t>
            </a:r>
            <a:endParaRPr lang="en-US" sz="3600" dirty="0"/>
          </a:p>
        </p:txBody>
      </p:sp>
      <p:graphicFrame>
        <p:nvGraphicFramePr>
          <p:cNvPr id="13" name="Function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389120"/>
        </p:xfrm>
        <a:graphic>
          <a:graphicData uri="http://schemas.openxmlformats.org/drawingml/2006/table">
            <a:tbl>
              <a:tblPr/>
              <a:tblGrid>
                <a:gridCol w="3657600">
                  <a:extLst>
                    <a:ext uri="{9D8B030D-6E8A-4147-A177-3AD203B41FA5}">
                      <a16:colId xmlns:a16="http://schemas.microsoft.com/office/drawing/2014/main" val="20000"/>
                    </a:ext>
                  </a:extLst>
                </a:gridCol>
                <a:gridCol w="7434072">
                  <a:extLst>
                    <a:ext uri="{9D8B030D-6E8A-4147-A177-3AD203B41FA5}">
                      <a16:colId xmlns:a16="http://schemas.microsoft.com/office/drawing/2014/main" val="20001"/>
                    </a:ext>
                  </a:extLst>
                </a:gridCol>
              </a:tblGrid>
              <a:tr h="438912">
                <a:tc>
                  <a:txBody>
                    <a:bodyPr/>
                    <a:lstStyle/>
                    <a:p>
                      <a:pPr marL="0" indent="0">
                        <a:buNone/>
                      </a:pPr>
                      <a:r>
                        <a:rPr lang="en-US" sz="1500" b="1" dirty="0">
                          <a:solidFill>
                            <a:schemeClr val="bg1"/>
                          </a:solidFill>
                        </a:rPr>
                        <a:t>Function</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What it does</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requirements_met()</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Checks if the player already knows what a clue needs</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search_location()</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Searches a place and finds the next available clue</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question_suspect()</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Plays the next statement from a suspect</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use_hint()</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Suggests a move that will find something new (-5 points)</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build_buttons()</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Creates the place and suspect buttons for the chosen case</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on_setting_change()</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Starts a new game when the case or level is changed</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check_accusation()</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Checks the culprit, asks questions, calculates the score</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get_rank()</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Turns the final score into a rank (depends on the level)</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38912">
                <a:tc>
                  <a:txBody>
                    <a:bodyPr/>
                    <a:lstStyle/>
                    <a:p>
                      <a:pPr marL="0" indent="0">
                        <a:buNone/>
                      </a:pPr>
                      <a:r>
                        <a:rPr lang="en-US" sz="1500" b="1" dirty="0">
                          <a:solidFill>
                            <a:schemeClr val="tx2"/>
                          </a:solidFill>
                          <a:latin typeface="Courier New" pitchFamily="34" charset="0"/>
                          <a:ea typeface="Courier New" pitchFamily="34" charset="-122"/>
                          <a:cs typeface="Courier New" pitchFamily="34" charset="-120"/>
                        </a:rPr>
                        <a:t>start_game()</a:t>
                      </a:r>
                      <a:endParaRPr lang="en-US" sz="1500" dirty="0">
                        <a:latin typeface="Courier New" charset="0"/>
                        <a:ea typeface="Courier New" charset="0"/>
                        <a:cs typeface="Courier New" charset="0"/>
                      </a:endParaRPr>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Resets the game and picks random questions</a:t>
                      </a:r>
                      <a:endParaRPr lang="en-US" sz="15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Python concepts in the code</a:t>
            </a:r>
            <a:endParaRPr lang="en-US" sz="3600" dirty="0"/>
          </a:p>
        </p:txBody>
      </p:sp>
      <p:sp>
        <p:nvSpPr>
          <p:cNvPr id="3" name="Concept card 1"/>
          <p:cNvSpPr/>
          <p:nvPr/>
        </p:nvSpPr>
        <p:spPr>
          <a:xfrm>
            <a:off x="548640" y="1508760"/>
            <a:ext cx="3511296"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4" name="Concept 1 circle"/>
          <p:cNvSpPr/>
          <p:nvPr/>
        </p:nvSpPr>
        <p:spPr>
          <a:xfrm>
            <a:off x="777240" y="1737360"/>
            <a:ext cx="640080" cy="640080"/>
          </a:xfrm>
          <a:prstGeom prst="ellipse">
            <a:avLst/>
          </a:prstGeom>
          <a:solidFill>
            <a:schemeClr val="tx2"/>
          </a:solidFill>
          <a:ln/>
        </p:spPr>
      </p:sp>
      <p:pic>
        <p:nvPicPr>
          <p:cNvPr id="5" name="Concept 1 icon"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Concept title 1"/>
          <p:cNvSpPr txBox="1"/>
          <p:nvPr/>
        </p:nvSpPr>
        <p:spPr>
          <a:xfrm>
            <a:off x="1554480" y="1737360"/>
            <a:ext cx="2377440" cy="640080"/>
          </a:xfrm>
          <a:prstGeom prst="rect">
            <a:avLst/>
          </a:prstGeom>
          <a:noFill/>
          <a:ln/>
        </p:spPr>
        <p:txBody>
          <a:bodyPr wrap="square" lIns="0" tIns="0" rIns="0" bIns="0" rtlCol="0" anchor="ctr"/>
          <a:lstStyle/>
          <a:p>
            <a:pPr marL="0" indent="0">
              <a:buNone/>
            </a:pPr>
            <a:r>
              <a:rPr lang="en-US" sz="1900" b="1" dirty="0">
                <a:solidFill>
                  <a:schemeClr val="tx2"/>
                </a:solidFill>
              </a:rPr>
              <a:t>Dictionaries</a:t>
            </a:r>
            <a:endParaRPr lang="en-US" sz="1900" dirty="0"/>
          </a:p>
        </p:txBody>
      </p:sp>
      <p:sp>
        <p:nvSpPr>
          <p:cNvPr id="7" name="Concept text 1"/>
          <p:cNvSpPr txBox="1"/>
          <p:nvPr/>
        </p:nvSpPr>
        <p:spPr>
          <a:xfrm>
            <a:off x="777240" y="2514600"/>
            <a:ext cx="3063240" cy="502920"/>
          </a:xfrm>
          <a:prstGeom prst="rect">
            <a:avLst/>
          </a:prstGeom>
          <a:noFill/>
          <a:ln/>
        </p:spPr>
        <p:txBody>
          <a:bodyPr wrap="square" lIns="0" tIns="0" rIns="0" bIns="0" rtlCol="0" anchor="t"/>
          <a:lstStyle/>
          <a:p>
            <a:pPr marL="0" indent="0">
              <a:buNone/>
            </a:pPr>
            <a:r>
              <a:rPr lang="en-US" sz="1400" dirty="0">
                <a:solidFill>
                  <a:schemeClr val="tx1"/>
                </a:solidFill>
              </a:rPr>
              <a:t>Store cases, suspects, clues and the game state.</a:t>
            </a:r>
            <a:endParaRPr lang="en-US" sz="1400" dirty="0"/>
          </a:p>
        </p:txBody>
      </p:sp>
      <p:sp>
        <p:nvSpPr>
          <p:cNvPr id="8" name="Concept code box 1"/>
          <p:cNvSpPr/>
          <p:nvPr/>
        </p:nvSpPr>
        <p:spPr>
          <a:xfrm>
            <a:off x="777240" y="3108960"/>
            <a:ext cx="3063240" cy="411480"/>
          </a:xfrm>
          <a:prstGeom prst="roundRect">
            <a:avLst>
              <a:gd name="adj" fmla="val 17778"/>
            </a:avLst>
          </a:prstGeom>
          <a:solidFill>
            <a:schemeClr val="tx2"/>
          </a:solidFill>
          <a:ln/>
        </p:spPr>
      </p:sp>
      <p:sp>
        <p:nvSpPr>
          <p:cNvPr id="9" name="Concept code 1"/>
          <p:cNvSpPr txBox="1"/>
          <p:nvPr/>
        </p:nvSpPr>
        <p:spPr>
          <a:xfrm>
            <a:off x="777240" y="3108960"/>
            <a:ext cx="3063240" cy="411480"/>
          </a:xfrm>
          <a:prstGeom prst="rect">
            <a:avLst/>
          </a:prstGeom>
          <a:noFill/>
          <a:ln/>
        </p:spPr>
        <p:txBody>
          <a:bodyPr wrap="square" lIns="0" tIns="0" rIns="0" bIns="0" rtlCol="0" anchor="ctr"/>
          <a:lstStyle/>
          <a:p>
            <a:pPr marL="0" indent="0" algn="ctr">
              <a:buNone/>
            </a:pPr>
            <a:r>
              <a:rPr lang="en-US" sz="1200" dirty="0">
                <a:solidFill>
                  <a:schemeClr val="accent1"/>
                </a:solidFill>
                <a:latin typeface="Courier New" pitchFamily="34" charset="0"/>
                <a:ea typeface="Courier New" pitchFamily="34" charset="-122"/>
                <a:cs typeface="Courier New" pitchFamily="34" charset="-120"/>
              </a:rPr>
              <a:t>game["score"] += 10</a:t>
            </a:r>
            <a:endParaRPr lang="en-US" sz="1200" dirty="0"/>
          </a:p>
        </p:txBody>
      </p:sp>
      <p:sp>
        <p:nvSpPr>
          <p:cNvPr id="10" name="Concept card 2"/>
          <p:cNvSpPr/>
          <p:nvPr/>
        </p:nvSpPr>
        <p:spPr>
          <a:xfrm>
            <a:off x="4338828" y="1508760"/>
            <a:ext cx="3511296"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11" name="Concept 2 circle"/>
          <p:cNvSpPr/>
          <p:nvPr/>
        </p:nvSpPr>
        <p:spPr>
          <a:xfrm>
            <a:off x="4567428" y="1737360"/>
            <a:ext cx="640080" cy="640080"/>
          </a:xfrm>
          <a:prstGeom prst="ellipse">
            <a:avLst/>
          </a:prstGeom>
          <a:solidFill>
            <a:schemeClr val="tx2"/>
          </a:solidFill>
          <a:ln/>
        </p:spPr>
      </p:sp>
      <p:pic>
        <p:nvPicPr>
          <p:cNvPr id="12" name="Concept 2 icon" descr="preencoded.png"/>
          <p:cNvPicPr>
            <a:picLocks noChangeAspect="1"/>
          </p:cNvPicPr>
          <p:nvPr/>
        </p:nvPicPr>
        <p:blipFill>
          <a:blip r:embed="rId4"/>
          <a:stretch>
            <a:fillRect/>
          </a:stretch>
        </p:blipFill>
        <p:spPr>
          <a:xfrm>
            <a:off x="4727448" y="1897380"/>
            <a:ext cx="320040" cy="320040"/>
          </a:xfrm>
          <a:prstGeom prst="rect">
            <a:avLst/>
          </a:prstGeom>
        </p:spPr>
      </p:pic>
      <p:sp>
        <p:nvSpPr>
          <p:cNvPr id="13" name="Concept title 2"/>
          <p:cNvSpPr txBox="1"/>
          <p:nvPr/>
        </p:nvSpPr>
        <p:spPr>
          <a:xfrm>
            <a:off x="5344668" y="1737360"/>
            <a:ext cx="2377440" cy="640080"/>
          </a:xfrm>
          <a:prstGeom prst="rect">
            <a:avLst/>
          </a:prstGeom>
          <a:noFill/>
          <a:ln/>
        </p:spPr>
        <p:txBody>
          <a:bodyPr wrap="square" lIns="0" tIns="0" rIns="0" bIns="0" rtlCol="0" anchor="ctr"/>
          <a:lstStyle/>
          <a:p>
            <a:pPr marL="0" indent="0">
              <a:buNone/>
            </a:pPr>
            <a:r>
              <a:rPr lang="en-US" sz="1900" b="1" dirty="0">
                <a:solidFill>
                  <a:schemeClr val="tx2"/>
                </a:solidFill>
              </a:rPr>
              <a:t>Functions</a:t>
            </a:r>
            <a:endParaRPr lang="en-US" sz="1900" dirty="0"/>
          </a:p>
        </p:txBody>
      </p:sp>
      <p:sp>
        <p:nvSpPr>
          <p:cNvPr id="14" name="Concept text 2"/>
          <p:cNvSpPr txBox="1"/>
          <p:nvPr/>
        </p:nvSpPr>
        <p:spPr>
          <a:xfrm>
            <a:off x="4567428" y="2514600"/>
            <a:ext cx="3063240" cy="502920"/>
          </a:xfrm>
          <a:prstGeom prst="rect">
            <a:avLst/>
          </a:prstGeom>
          <a:noFill/>
          <a:ln/>
        </p:spPr>
        <p:txBody>
          <a:bodyPr wrap="square" lIns="0" tIns="0" rIns="0" bIns="0" rtlCol="0" anchor="t"/>
          <a:lstStyle/>
          <a:p>
            <a:pPr marL="0" indent="0">
              <a:buNone/>
            </a:pPr>
            <a:r>
              <a:rPr lang="en-US" sz="1400" dirty="0">
                <a:solidFill>
                  <a:schemeClr val="tx1"/>
                </a:solidFill>
              </a:rPr>
              <a:t>Every game action is a small function.</a:t>
            </a:r>
            <a:endParaRPr lang="en-US" sz="1400" dirty="0"/>
          </a:p>
        </p:txBody>
      </p:sp>
      <p:sp>
        <p:nvSpPr>
          <p:cNvPr id="15" name="Concept code box 2"/>
          <p:cNvSpPr/>
          <p:nvPr/>
        </p:nvSpPr>
        <p:spPr>
          <a:xfrm>
            <a:off x="4567428" y="3108960"/>
            <a:ext cx="3063240" cy="411480"/>
          </a:xfrm>
          <a:prstGeom prst="roundRect">
            <a:avLst>
              <a:gd name="adj" fmla="val 17778"/>
            </a:avLst>
          </a:prstGeom>
          <a:solidFill>
            <a:schemeClr val="tx2"/>
          </a:solidFill>
          <a:ln/>
        </p:spPr>
      </p:sp>
      <p:sp>
        <p:nvSpPr>
          <p:cNvPr id="16" name="Concept code 2"/>
          <p:cNvSpPr txBox="1"/>
          <p:nvPr/>
        </p:nvSpPr>
        <p:spPr>
          <a:xfrm>
            <a:off x="4567428" y="3108960"/>
            <a:ext cx="3063240" cy="411480"/>
          </a:xfrm>
          <a:prstGeom prst="rect">
            <a:avLst/>
          </a:prstGeom>
          <a:noFill/>
          <a:ln/>
        </p:spPr>
        <p:txBody>
          <a:bodyPr wrap="square" lIns="0" tIns="0" rIns="0" bIns="0" rtlCol="0" anchor="ctr"/>
          <a:lstStyle/>
          <a:p>
            <a:pPr marL="0" indent="0" algn="ctr">
              <a:buNone/>
            </a:pPr>
            <a:r>
              <a:rPr lang="en-US" sz="1200" dirty="0">
                <a:solidFill>
                  <a:schemeClr val="accent1"/>
                </a:solidFill>
                <a:latin typeface="Courier New" pitchFamily="34" charset="0"/>
                <a:ea typeface="Courier New" pitchFamily="34" charset="-122"/>
                <a:cs typeface="Courier New" pitchFamily="34" charset="-120"/>
              </a:rPr>
              <a:t>def search_location(place):</a:t>
            </a:r>
            <a:endParaRPr lang="en-US" sz="1200" dirty="0"/>
          </a:p>
        </p:txBody>
      </p:sp>
      <p:sp>
        <p:nvSpPr>
          <p:cNvPr id="17" name="Concept card 3"/>
          <p:cNvSpPr/>
          <p:nvPr/>
        </p:nvSpPr>
        <p:spPr>
          <a:xfrm>
            <a:off x="8129016" y="1508760"/>
            <a:ext cx="3511296"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18" name="Concept 3 circle"/>
          <p:cNvSpPr/>
          <p:nvPr/>
        </p:nvSpPr>
        <p:spPr>
          <a:xfrm>
            <a:off x="8357616" y="1737360"/>
            <a:ext cx="640080" cy="640080"/>
          </a:xfrm>
          <a:prstGeom prst="ellipse">
            <a:avLst/>
          </a:prstGeom>
          <a:solidFill>
            <a:schemeClr val="tx2"/>
          </a:solidFill>
          <a:ln/>
        </p:spPr>
      </p:sp>
      <p:pic>
        <p:nvPicPr>
          <p:cNvPr id="19" name="Concept 3 icon" descr="preencoded.png"/>
          <p:cNvPicPr>
            <a:picLocks noChangeAspect="1"/>
          </p:cNvPicPr>
          <p:nvPr/>
        </p:nvPicPr>
        <p:blipFill>
          <a:blip r:embed="rId5"/>
          <a:stretch>
            <a:fillRect/>
          </a:stretch>
        </p:blipFill>
        <p:spPr>
          <a:xfrm>
            <a:off x="8517636" y="1897380"/>
            <a:ext cx="320040" cy="320040"/>
          </a:xfrm>
          <a:prstGeom prst="rect">
            <a:avLst/>
          </a:prstGeom>
        </p:spPr>
      </p:pic>
      <p:sp>
        <p:nvSpPr>
          <p:cNvPr id="20" name="Concept title 3"/>
          <p:cNvSpPr txBox="1"/>
          <p:nvPr/>
        </p:nvSpPr>
        <p:spPr>
          <a:xfrm>
            <a:off x="9134856" y="1737360"/>
            <a:ext cx="2377440" cy="640080"/>
          </a:xfrm>
          <a:prstGeom prst="rect">
            <a:avLst/>
          </a:prstGeom>
          <a:noFill/>
          <a:ln/>
        </p:spPr>
        <p:txBody>
          <a:bodyPr wrap="square" lIns="0" tIns="0" rIns="0" bIns="0" rtlCol="0" anchor="ctr"/>
          <a:lstStyle/>
          <a:p>
            <a:pPr marL="0" indent="0">
              <a:buNone/>
            </a:pPr>
            <a:r>
              <a:rPr lang="en-US" sz="1900" b="1" dirty="0">
                <a:solidFill>
                  <a:schemeClr val="tx2"/>
                </a:solidFill>
              </a:rPr>
              <a:t>Loops</a:t>
            </a:r>
            <a:endParaRPr lang="en-US" sz="1900" dirty="0"/>
          </a:p>
        </p:txBody>
      </p:sp>
      <p:sp>
        <p:nvSpPr>
          <p:cNvPr id="21" name="Concept text 3"/>
          <p:cNvSpPr txBox="1"/>
          <p:nvPr/>
        </p:nvSpPr>
        <p:spPr>
          <a:xfrm>
            <a:off x="8357616" y="2514600"/>
            <a:ext cx="3063240" cy="502920"/>
          </a:xfrm>
          <a:prstGeom prst="rect">
            <a:avLst/>
          </a:prstGeom>
          <a:noFill/>
          <a:ln/>
        </p:spPr>
        <p:txBody>
          <a:bodyPr wrap="square" lIns="0" tIns="0" rIns="0" bIns="0" rtlCol="0" anchor="t"/>
          <a:lstStyle/>
          <a:p>
            <a:pPr marL="0" indent="0">
              <a:buNone/>
            </a:pPr>
            <a:r>
              <a:rPr lang="en-US" sz="1400" dirty="0">
                <a:solidFill>
                  <a:schemeClr val="tx1"/>
                </a:solidFill>
              </a:rPr>
              <a:t>Search clues, build buttons, find hints.</a:t>
            </a:r>
            <a:endParaRPr lang="en-US" sz="1400" dirty="0"/>
          </a:p>
        </p:txBody>
      </p:sp>
      <p:sp>
        <p:nvSpPr>
          <p:cNvPr id="22" name="Concept code box 3"/>
          <p:cNvSpPr/>
          <p:nvPr/>
        </p:nvSpPr>
        <p:spPr>
          <a:xfrm>
            <a:off x="8357616" y="3108960"/>
            <a:ext cx="3063240" cy="411480"/>
          </a:xfrm>
          <a:prstGeom prst="roundRect">
            <a:avLst>
              <a:gd name="adj" fmla="val 17778"/>
            </a:avLst>
          </a:prstGeom>
          <a:solidFill>
            <a:schemeClr val="tx2"/>
          </a:solidFill>
          <a:ln/>
        </p:spPr>
      </p:sp>
      <p:sp>
        <p:nvSpPr>
          <p:cNvPr id="23" name="Concept code 3"/>
          <p:cNvSpPr txBox="1"/>
          <p:nvPr/>
        </p:nvSpPr>
        <p:spPr>
          <a:xfrm>
            <a:off x="8357616" y="3108960"/>
            <a:ext cx="3063240" cy="411480"/>
          </a:xfrm>
          <a:prstGeom prst="rect">
            <a:avLst/>
          </a:prstGeom>
          <a:noFill/>
          <a:ln/>
        </p:spPr>
        <p:txBody>
          <a:bodyPr wrap="square" lIns="0" tIns="0" rIns="0" bIns="0" rtlCol="0" anchor="ctr"/>
          <a:lstStyle/>
          <a:p>
            <a:pPr marL="0" indent="0" algn="ctr">
              <a:buNone/>
            </a:pPr>
            <a:r>
              <a:rPr lang="en-US" sz="1200" dirty="0">
                <a:solidFill>
                  <a:schemeClr val="accent1"/>
                </a:solidFill>
                <a:latin typeface="Courier New" pitchFamily="34" charset="0"/>
                <a:ea typeface="Courier New" pitchFamily="34" charset="-122"/>
                <a:cs typeface="Courier New" pitchFamily="34" charset="-120"/>
              </a:rPr>
              <a:t>for place in case["locations"]:</a:t>
            </a:r>
            <a:endParaRPr lang="en-US" sz="1200" dirty="0"/>
          </a:p>
        </p:txBody>
      </p:sp>
      <p:sp>
        <p:nvSpPr>
          <p:cNvPr id="24" name="Concept card 4"/>
          <p:cNvSpPr/>
          <p:nvPr/>
        </p:nvSpPr>
        <p:spPr>
          <a:xfrm>
            <a:off x="548640" y="3886200"/>
            <a:ext cx="3511296"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25" name="Concept 4 circle"/>
          <p:cNvSpPr/>
          <p:nvPr/>
        </p:nvSpPr>
        <p:spPr>
          <a:xfrm>
            <a:off x="777240" y="4114800"/>
            <a:ext cx="640080" cy="640080"/>
          </a:xfrm>
          <a:prstGeom prst="ellipse">
            <a:avLst/>
          </a:prstGeom>
          <a:solidFill>
            <a:schemeClr val="tx2"/>
          </a:solidFill>
          <a:ln/>
        </p:spPr>
      </p:sp>
      <p:pic>
        <p:nvPicPr>
          <p:cNvPr id="26" name="Concept 4 icon" descr="preencoded.png"/>
          <p:cNvPicPr>
            <a:picLocks noChangeAspect="1"/>
          </p:cNvPicPr>
          <p:nvPr/>
        </p:nvPicPr>
        <p:blipFill>
          <a:blip r:embed="rId6"/>
          <a:stretch>
            <a:fillRect/>
          </a:stretch>
        </p:blipFill>
        <p:spPr>
          <a:xfrm>
            <a:off x="937260" y="4274820"/>
            <a:ext cx="320040" cy="320040"/>
          </a:xfrm>
          <a:prstGeom prst="rect">
            <a:avLst/>
          </a:prstGeom>
        </p:spPr>
      </p:pic>
      <p:sp>
        <p:nvSpPr>
          <p:cNvPr id="27" name="Concept title 4"/>
          <p:cNvSpPr txBox="1"/>
          <p:nvPr/>
        </p:nvSpPr>
        <p:spPr>
          <a:xfrm>
            <a:off x="1554480" y="4114800"/>
            <a:ext cx="2377440" cy="640080"/>
          </a:xfrm>
          <a:prstGeom prst="rect">
            <a:avLst/>
          </a:prstGeom>
          <a:noFill/>
          <a:ln/>
        </p:spPr>
        <p:txBody>
          <a:bodyPr wrap="square" lIns="0" tIns="0" rIns="0" bIns="0" rtlCol="0" anchor="ctr"/>
          <a:lstStyle/>
          <a:p>
            <a:pPr marL="0" indent="0">
              <a:buNone/>
            </a:pPr>
            <a:r>
              <a:rPr lang="en-US" sz="1900" b="1" dirty="0">
                <a:solidFill>
                  <a:schemeClr val="tx2"/>
                </a:solidFill>
              </a:rPr>
              <a:t>Conditions</a:t>
            </a:r>
            <a:endParaRPr lang="en-US" sz="1900" dirty="0"/>
          </a:p>
        </p:txBody>
      </p:sp>
      <p:sp>
        <p:nvSpPr>
          <p:cNvPr id="28" name="Concept text 4"/>
          <p:cNvSpPr txBox="1"/>
          <p:nvPr/>
        </p:nvSpPr>
        <p:spPr>
          <a:xfrm>
            <a:off x="777240" y="4892040"/>
            <a:ext cx="3063240" cy="502920"/>
          </a:xfrm>
          <a:prstGeom prst="rect">
            <a:avLst/>
          </a:prstGeom>
          <a:noFill/>
          <a:ln/>
        </p:spPr>
        <p:txBody>
          <a:bodyPr wrap="square" lIns="0" tIns="0" rIns="0" bIns="0" rtlCol="0" anchor="t"/>
          <a:lstStyle/>
          <a:p>
            <a:pPr marL="0" indent="0">
              <a:buNone/>
            </a:pPr>
            <a:r>
              <a:rPr lang="en-US" sz="1400" dirty="0">
                <a:solidFill>
                  <a:schemeClr val="tx1"/>
                </a:solidFill>
              </a:rPr>
              <a:t>Decide if a clue unlocks or the answer is right.</a:t>
            </a:r>
            <a:endParaRPr lang="en-US" sz="1400" dirty="0"/>
          </a:p>
        </p:txBody>
      </p:sp>
      <p:sp>
        <p:nvSpPr>
          <p:cNvPr id="29" name="Concept code box 4"/>
          <p:cNvSpPr/>
          <p:nvPr/>
        </p:nvSpPr>
        <p:spPr>
          <a:xfrm>
            <a:off x="777240" y="5486400"/>
            <a:ext cx="3063240" cy="411480"/>
          </a:xfrm>
          <a:prstGeom prst="roundRect">
            <a:avLst>
              <a:gd name="adj" fmla="val 17778"/>
            </a:avLst>
          </a:prstGeom>
          <a:solidFill>
            <a:schemeClr val="tx2"/>
          </a:solidFill>
          <a:ln/>
        </p:spPr>
      </p:sp>
      <p:sp>
        <p:nvSpPr>
          <p:cNvPr id="30" name="Concept code 4"/>
          <p:cNvSpPr txBox="1"/>
          <p:nvPr/>
        </p:nvSpPr>
        <p:spPr>
          <a:xfrm>
            <a:off x="777240" y="5486400"/>
            <a:ext cx="3063240" cy="411480"/>
          </a:xfrm>
          <a:prstGeom prst="rect">
            <a:avLst/>
          </a:prstGeom>
          <a:noFill/>
          <a:ln/>
        </p:spPr>
        <p:txBody>
          <a:bodyPr wrap="square" lIns="0" tIns="0" rIns="0" bIns="0" rtlCol="0" anchor="ctr"/>
          <a:lstStyle/>
          <a:p>
            <a:pPr marL="0" indent="0" algn="ctr">
              <a:buNone/>
            </a:pPr>
            <a:r>
              <a:rPr lang="en-US" sz="1200" dirty="0">
                <a:solidFill>
                  <a:schemeClr val="accent1"/>
                </a:solidFill>
                <a:latin typeface="Courier New" pitchFamily="34" charset="0"/>
                <a:ea typeface="Courier New" pitchFamily="34" charset="-122"/>
                <a:cs typeface="Courier New" pitchFamily="34" charset="-120"/>
              </a:rPr>
              <a:t>if key != case["culprit"]:</a:t>
            </a:r>
            <a:endParaRPr lang="en-US" sz="1200" dirty="0"/>
          </a:p>
        </p:txBody>
      </p:sp>
      <p:sp>
        <p:nvSpPr>
          <p:cNvPr id="31" name="Concept card 5"/>
          <p:cNvSpPr/>
          <p:nvPr/>
        </p:nvSpPr>
        <p:spPr>
          <a:xfrm>
            <a:off x="4338828" y="3886200"/>
            <a:ext cx="3511296"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32" name="Concept 5 circle"/>
          <p:cNvSpPr/>
          <p:nvPr/>
        </p:nvSpPr>
        <p:spPr>
          <a:xfrm>
            <a:off x="4567428" y="4114800"/>
            <a:ext cx="640080" cy="640080"/>
          </a:xfrm>
          <a:prstGeom prst="ellipse">
            <a:avLst/>
          </a:prstGeom>
          <a:solidFill>
            <a:schemeClr val="tx2"/>
          </a:solidFill>
          <a:ln/>
        </p:spPr>
      </p:sp>
      <p:pic>
        <p:nvPicPr>
          <p:cNvPr id="33" name="Concept 5 icon" descr="preencoded.png"/>
          <p:cNvPicPr>
            <a:picLocks noChangeAspect="1"/>
          </p:cNvPicPr>
          <p:nvPr/>
        </p:nvPicPr>
        <p:blipFill>
          <a:blip r:embed="rId7"/>
          <a:stretch>
            <a:fillRect/>
          </a:stretch>
        </p:blipFill>
        <p:spPr>
          <a:xfrm>
            <a:off x="4727448" y="4274820"/>
            <a:ext cx="320040" cy="320040"/>
          </a:xfrm>
          <a:prstGeom prst="rect">
            <a:avLst/>
          </a:prstGeom>
        </p:spPr>
      </p:pic>
      <p:sp>
        <p:nvSpPr>
          <p:cNvPr id="34" name="Concept title 5"/>
          <p:cNvSpPr txBox="1"/>
          <p:nvPr/>
        </p:nvSpPr>
        <p:spPr>
          <a:xfrm>
            <a:off x="5344668" y="4114800"/>
            <a:ext cx="2377440" cy="640080"/>
          </a:xfrm>
          <a:prstGeom prst="rect">
            <a:avLst/>
          </a:prstGeom>
          <a:noFill/>
          <a:ln/>
        </p:spPr>
        <p:txBody>
          <a:bodyPr wrap="square" lIns="0" tIns="0" rIns="0" bIns="0" rtlCol="0" anchor="ctr"/>
          <a:lstStyle/>
          <a:p>
            <a:pPr marL="0" indent="0">
              <a:buNone/>
            </a:pPr>
            <a:r>
              <a:rPr lang="en-US" sz="1900" b="1" dirty="0">
                <a:solidFill>
                  <a:schemeClr val="tx2"/>
                </a:solidFill>
              </a:rPr>
              <a:t>Lists and random</a:t>
            </a:r>
            <a:endParaRPr lang="en-US" sz="1900" dirty="0"/>
          </a:p>
        </p:txBody>
      </p:sp>
      <p:sp>
        <p:nvSpPr>
          <p:cNvPr id="35" name="Concept text 5"/>
          <p:cNvSpPr txBox="1"/>
          <p:nvPr/>
        </p:nvSpPr>
        <p:spPr>
          <a:xfrm>
            <a:off x="4567428" y="4892040"/>
            <a:ext cx="3063240" cy="502920"/>
          </a:xfrm>
          <a:prstGeom prst="rect">
            <a:avLst/>
          </a:prstGeom>
          <a:noFill/>
          <a:ln/>
        </p:spPr>
        <p:txBody>
          <a:bodyPr wrap="square" lIns="0" tIns="0" rIns="0" bIns="0" rtlCol="0" anchor="t"/>
          <a:lstStyle/>
          <a:p>
            <a:pPr marL="0" indent="0">
              <a:buNone/>
            </a:pPr>
            <a:r>
              <a:rPr lang="en-US" sz="1400" dirty="0">
                <a:solidFill>
                  <a:schemeClr val="tx1"/>
                </a:solidFill>
              </a:rPr>
              <a:t>Hold found clues and pick random hints.</a:t>
            </a:r>
            <a:endParaRPr lang="en-US" sz="1400" dirty="0"/>
          </a:p>
        </p:txBody>
      </p:sp>
      <p:sp>
        <p:nvSpPr>
          <p:cNvPr id="36" name="Concept code box 5"/>
          <p:cNvSpPr/>
          <p:nvPr/>
        </p:nvSpPr>
        <p:spPr>
          <a:xfrm>
            <a:off x="4567428" y="5486400"/>
            <a:ext cx="3063240" cy="411480"/>
          </a:xfrm>
          <a:prstGeom prst="roundRect">
            <a:avLst>
              <a:gd name="adj" fmla="val 17778"/>
            </a:avLst>
          </a:prstGeom>
          <a:solidFill>
            <a:schemeClr val="tx2"/>
          </a:solidFill>
          <a:ln/>
        </p:spPr>
      </p:sp>
      <p:sp>
        <p:nvSpPr>
          <p:cNvPr id="37" name="Concept code 5"/>
          <p:cNvSpPr txBox="1"/>
          <p:nvPr/>
        </p:nvSpPr>
        <p:spPr>
          <a:xfrm>
            <a:off x="4567428" y="5486400"/>
            <a:ext cx="3063240" cy="411480"/>
          </a:xfrm>
          <a:prstGeom prst="rect">
            <a:avLst/>
          </a:prstGeom>
          <a:noFill/>
          <a:ln/>
        </p:spPr>
        <p:txBody>
          <a:bodyPr wrap="square" lIns="0" tIns="0" rIns="0" bIns="0" rtlCol="0" anchor="ctr"/>
          <a:lstStyle/>
          <a:p>
            <a:pPr marL="0" indent="0" algn="ctr">
              <a:buNone/>
            </a:pPr>
            <a:r>
              <a:rPr lang="en-US" sz="1200" dirty="0">
                <a:solidFill>
                  <a:schemeClr val="accent1"/>
                </a:solidFill>
                <a:latin typeface="Courier New" pitchFamily="34" charset="0"/>
                <a:ea typeface="Courier New" pitchFamily="34" charset="-122"/>
                <a:cs typeface="Courier New" pitchFamily="34" charset="-120"/>
              </a:rPr>
              <a:t>random.choice(ideas)</a:t>
            </a:r>
            <a:endParaRPr lang="en-US" sz="1200" dirty="0"/>
          </a:p>
        </p:txBody>
      </p:sp>
      <p:sp>
        <p:nvSpPr>
          <p:cNvPr id="38" name="Concept card 6"/>
          <p:cNvSpPr/>
          <p:nvPr/>
        </p:nvSpPr>
        <p:spPr>
          <a:xfrm>
            <a:off x="8129016" y="3886200"/>
            <a:ext cx="3511296" cy="2194560"/>
          </a:xfrm>
          <a:prstGeom prst="roundRect">
            <a:avLst>
              <a:gd name="adj" fmla="val 5000"/>
            </a:avLst>
          </a:prstGeom>
          <a:solidFill>
            <a:schemeClr val="bg1"/>
          </a:solidFill>
          <a:ln/>
          <a:effectLst>
            <a:outerShdw blurRad="101600" dist="25400" dir="5400000" algn="bl" rotWithShape="0">
              <a:srgbClr val="000000">
                <a:alpha val="12000"/>
              </a:srgbClr>
            </a:outerShdw>
          </a:effectLst>
        </p:spPr>
      </p:sp>
      <p:sp>
        <p:nvSpPr>
          <p:cNvPr id="39" name="Concept 6 circle"/>
          <p:cNvSpPr/>
          <p:nvPr/>
        </p:nvSpPr>
        <p:spPr>
          <a:xfrm>
            <a:off x="8357616" y="4114800"/>
            <a:ext cx="640080" cy="640080"/>
          </a:xfrm>
          <a:prstGeom prst="ellipse">
            <a:avLst/>
          </a:prstGeom>
          <a:solidFill>
            <a:schemeClr val="tx2"/>
          </a:solidFill>
          <a:ln/>
        </p:spPr>
      </p:sp>
      <p:pic>
        <p:nvPicPr>
          <p:cNvPr id="40" name="Concept 6 icon" descr="preencoded.png"/>
          <p:cNvPicPr>
            <a:picLocks noChangeAspect="1"/>
          </p:cNvPicPr>
          <p:nvPr/>
        </p:nvPicPr>
        <p:blipFill>
          <a:blip r:embed="rId8"/>
          <a:stretch>
            <a:fillRect/>
          </a:stretch>
        </p:blipFill>
        <p:spPr>
          <a:xfrm>
            <a:off x="8517636" y="4274820"/>
            <a:ext cx="320040" cy="320040"/>
          </a:xfrm>
          <a:prstGeom prst="rect">
            <a:avLst/>
          </a:prstGeom>
        </p:spPr>
      </p:pic>
      <p:sp>
        <p:nvSpPr>
          <p:cNvPr id="41" name="Concept title 6"/>
          <p:cNvSpPr txBox="1"/>
          <p:nvPr/>
        </p:nvSpPr>
        <p:spPr>
          <a:xfrm>
            <a:off x="9134856" y="4114800"/>
            <a:ext cx="2377440" cy="640080"/>
          </a:xfrm>
          <a:prstGeom prst="rect">
            <a:avLst/>
          </a:prstGeom>
          <a:noFill/>
          <a:ln/>
        </p:spPr>
        <p:txBody>
          <a:bodyPr wrap="square" lIns="0" tIns="0" rIns="0" bIns="0" rtlCol="0" anchor="ctr"/>
          <a:lstStyle/>
          <a:p>
            <a:pPr marL="0" indent="0">
              <a:buNone/>
            </a:pPr>
            <a:r>
              <a:rPr lang="en-US" sz="1900" b="1" dirty="0">
                <a:solidFill>
                  <a:schemeClr val="tx2"/>
                </a:solidFill>
              </a:rPr>
              <a:t>Score tracking</a:t>
            </a:r>
            <a:endParaRPr lang="en-US" sz="1900" dirty="0"/>
          </a:p>
        </p:txBody>
      </p:sp>
      <p:sp>
        <p:nvSpPr>
          <p:cNvPr id="42" name="Concept text 6"/>
          <p:cNvSpPr txBox="1"/>
          <p:nvPr/>
        </p:nvSpPr>
        <p:spPr>
          <a:xfrm>
            <a:off x="8357616" y="4892040"/>
            <a:ext cx="3063240" cy="502920"/>
          </a:xfrm>
          <a:prstGeom prst="rect">
            <a:avLst/>
          </a:prstGeom>
          <a:noFill/>
          <a:ln/>
        </p:spPr>
        <p:txBody>
          <a:bodyPr wrap="square" lIns="0" tIns="0" rIns="0" bIns="0" rtlCol="0" anchor="t"/>
          <a:lstStyle/>
          <a:p>
            <a:pPr marL="0" indent="0">
              <a:buNone/>
            </a:pPr>
            <a:r>
              <a:rPr lang="en-US" sz="1400" dirty="0">
                <a:solidFill>
                  <a:schemeClr val="tx1"/>
                </a:solidFill>
              </a:rPr>
              <a:t>Points go up and down as the player plays.</a:t>
            </a:r>
            <a:endParaRPr lang="en-US" sz="1400" dirty="0"/>
          </a:p>
        </p:txBody>
      </p:sp>
      <p:sp>
        <p:nvSpPr>
          <p:cNvPr id="43" name="Concept code box 6"/>
          <p:cNvSpPr/>
          <p:nvPr/>
        </p:nvSpPr>
        <p:spPr>
          <a:xfrm>
            <a:off x="8357616" y="5486400"/>
            <a:ext cx="3063240" cy="411480"/>
          </a:xfrm>
          <a:prstGeom prst="roundRect">
            <a:avLst>
              <a:gd name="adj" fmla="val 17778"/>
            </a:avLst>
          </a:prstGeom>
          <a:solidFill>
            <a:schemeClr val="tx2"/>
          </a:solidFill>
          <a:ln/>
        </p:spPr>
      </p:sp>
      <p:sp>
        <p:nvSpPr>
          <p:cNvPr id="44" name="Concept code 6"/>
          <p:cNvSpPr txBox="1"/>
          <p:nvPr/>
        </p:nvSpPr>
        <p:spPr>
          <a:xfrm>
            <a:off x="8357616" y="5486400"/>
            <a:ext cx="3063240" cy="411480"/>
          </a:xfrm>
          <a:prstGeom prst="rect">
            <a:avLst/>
          </a:prstGeom>
          <a:noFill/>
          <a:ln/>
        </p:spPr>
        <p:txBody>
          <a:bodyPr wrap="square" lIns="0" tIns="0" rIns="0" bIns="0" rtlCol="0" anchor="ctr"/>
          <a:lstStyle/>
          <a:p>
            <a:pPr marL="0" indent="0" algn="ctr">
              <a:buNone/>
            </a:pPr>
            <a:r>
              <a:rPr lang="en-US" sz="1200" dirty="0">
                <a:solidFill>
                  <a:schemeClr val="accent1"/>
                </a:solidFill>
                <a:latin typeface="Courier New" pitchFamily="34" charset="0"/>
                <a:ea typeface="Courier New" pitchFamily="34" charset="-122"/>
                <a:cs typeface="Courier New" pitchFamily="34" charset="-120"/>
              </a:rPr>
              <a:t>game["score"] -= HINT_COST</a:t>
            </a:r>
            <a:endParaRPr lang="en-US" sz="1200" dirty="0"/>
          </a:p>
        </p:txBody>
      </p:sp>
      <p:sp>
        <p:nvSpPr>
          <p:cNvPr id="4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Core logic: unlocking a clue</a:t>
            </a:r>
            <a:endParaRPr lang="en-US" sz="3600" dirty="0"/>
          </a:p>
        </p:txBody>
      </p:sp>
      <p:sp>
        <p:nvSpPr>
          <p:cNvPr id="3" name="Code card"/>
          <p:cNvSpPr/>
          <p:nvPr/>
        </p:nvSpPr>
        <p:spPr>
          <a:xfrm>
            <a:off x="548640" y="1463040"/>
            <a:ext cx="6766560" cy="4663440"/>
          </a:xfrm>
          <a:prstGeom prst="roundRect">
            <a:avLst>
              <a:gd name="adj" fmla="val 2353"/>
            </a:avLst>
          </a:prstGeom>
          <a:solidFill>
            <a:schemeClr val="tx2"/>
          </a:solidFill>
          <a:ln/>
        </p:spPr>
      </p:sp>
      <p:sp>
        <p:nvSpPr>
          <p:cNvPr id="4" name="Code label"/>
          <p:cNvSpPr txBox="1"/>
          <p:nvPr/>
        </p:nvSpPr>
        <p:spPr>
          <a:xfrm>
            <a:off x="868680" y="1691640"/>
            <a:ext cx="4572000" cy="320040"/>
          </a:xfrm>
          <a:prstGeom prst="rect">
            <a:avLst/>
          </a:prstGeom>
          <a:noFill/>
          <a:ln/>
        </p:spPr>
        <p:txBody>
          <a:bodyPr wrap="square" lIns="0" tIns="0" rIns="0" bIns="0" rtlCol="0" anchor="t"/>
          <a:lstStyle/>
          <a:p>
            <a:pPr marL="0" indent="0">
              <a:buNone/>
            </a:pPr>
            <a:r>
              <a:rPr lang="en-US" sz="1400" b="1" dirty="0">
                <a:solidFill>
                  <a:schemeClr val="accent1"/>
                </a:solidFill>
              </a:rPr>
              <a:t>mysterybox.py</a:t>
            </a:r>
            <a:endParaRPr lang="en-US" sz="1400" dirty="0"/>
          </a:p>
        </p:txBody>
      </p:sp>
      <p:sp>
        <p:nvSpPr>
          <p:cNvPr id="5" name="Code block"/>
          <p:cNvSpPr txBox="1"/>
          <p:nvPr/>
        </p:nvSpPr>
        <p:spPr>
          <a:xfrm>
            <a:off x="868680" y="2148840"/>
            <a:ext cx="6217920" cy="384048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def requirements_met(requires):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known = game["clues"] + game["heard"]</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for item in requires: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if item not in known:</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return False</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return True</a:t>
            </a:r>
            <a:endParaRPr lang="en-US" sz="1300" dirty="0"/>
          </a:p>
          <a:p>
            <a:pPr marL="0" indent="0">
              <a:buNone/>
            </a:pP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inside search_location()</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for clue_id in case["clues"]: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clue = case["clues"][clue_id]</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if (clue["place"] == place</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and clue_id not in game["clues"]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and requirements_met(clue["requires"])):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add_clue(clue_id)</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return</a:t>
            </a:r>
            <a:endParaRPr lang="en-US" sz="1300" dirty="0"/>
          </a:p>
        </p:txBody>
      </p:sp>
      <p:sp>
        <p:nvSpPr>
          <p:cNvPr id="6" name="Explain card 1"/>
          <p:cNvSpPr/>
          <p:nvPr/>
        </p:nvSpPr>
        <p:spPr>
          <a:xfrm>
            <a:off x="7589520" y="1463040"/>
            <a:ext cx="4050792" cy="1463040"/>
          </a:xfrm>
          <a:prstGeom prst="roundRect">
            <a:avLst>
              <a:gd name="adj" fmla="val 7500"/>
            </a:avLst>
          </a:prstGeom>
          <a:solidFill>
            <a:schemeClr val="bg1"/>
          </a:solidFill>
          <a:ln/>
          <a:effectLst>
            <a:outerShdw blurRad="101600" dist="25400" dir="5400000" algn="bl" rotWithShape="0">
              <a:srgbClr val="000000">
                <a:alpha val="12000"/>
              </a:srgbClr>
            </a:outerShdw>
          </a:effectLst>
        </p:spPr>
      </p:sp>
      <p:sp>
        <p:nvSpPr>
          <p:cNvPr id="7" name="Explain number circle 1"/>
          <p:cNvSpPr/>
          <p:nvPr/>
        </p:nvSpPr>
        <p:spPr>
          <a:xfrm>
            <a:off x="7818120" y="1691640"/>
            <a:ext cx="548640" cy="548640"/>
          </a:xfrm>
          <a:prstGeom prst="ellipse">
            <a:avLst/>
          </a:prstGeom>
          <a:solidFill>
            <a:schemeClr val="accent1"/>
          </a:solidFill>
          <a:ln/>
        </p:spPr>
      </p:sp>
      <p:sp>
        <p:nvSpPr>
          <p:cNvPr id="8" name="Explain number 1"/>
          <p:cNvSpPr txBox="1"/>
          <p:nvPr/>
        </p:nvSpPr>
        <p:spPr>
          <a:xfrm>
            <a:off x="7818120" y="1691640"/>
            <a:ext cx="548640" cy="548640"/>
          </a:xfrm>
          <a:prstGeom prst="rect">
            <a:avLst/>
          </a:prstGeom>
          <a:noFill/>
          <a:ln/>
        </p:spPr>
        <p:txBody>
          <a:bodyPr wrap="square" lIns="0" tIns="0" rIns="0" bIns="0" rtlCol="0" anchor="ctr"/>
          <a:lstStyle/>
          <a:p>
            <a:pPr marL="0" indent="0" algn="ctr">
              <a:buNone/>
            </a:pPr>
            <a:r>
              <a:rPr lang="en-US" sz="2000" b="1" dirty="0">
                <a:solidFill>
                  <a:schemeClr val="tx2"/>
                </a:solidFill>
              </a:rPr>
              <a:t>1</a:t>
            </a:r>
            <a:endParaRPr lang="en-US" sz="2000" dirty="0"/>
          </a:p>
        </p:txBody>
      </p:sp>
      <p:sp>
        <p:nvSpPr>
          <p:cNvPr id="9" name="Explain text 1"/>
          <p:cNvSpPr txBox="1"/>
          <p:nvPr/>
        </p:nvSpPr>
        <p:spPr>
          <a:xfrm>
            <a:off x="8549640" y="1600200"/>
            <a:ext cx="2926080" cy="1188720"/>
          </a:xfrm>
          <a:prstGeom prst="rect">
            <a:avLst/>
          </a:prstGeom>
          <a:noFill/>
          <a:ln/>
        </p:spPr>
        <p:txBody>
          <a:bodyPr wrap="square" lIns="0" tIns="0" rIns="0" bIns="0" rtlCol="0" anchor="ctr"/>
          <a:lstStyle/>
          <a:p>
            <a:pPr marL="0" indent="0">
              <a:buNone/>
            </a:pPr>
            <a:r>
              <a:rPr lang="en-US" sz="1500" dirty="0">
                <a:solidFill>
                  <a:schemeClr val="tx1"/>
                </a:solidFill>
              </a:rPr>
              <a:t>Every clue has a requires list, for example the ledger needs Tom's tip.</a:t>
            </a:r>
            <a:endParaRPr lang="en-US" sz="1500" dirty="0"/>
          </a:p>
        </p:txBody>
      </p:sp>
      <p:sp>
        <p:nvSpPr>
          <p:cNvPr id="10" name="Explain card 2"/>
          <p:cNvSpPr/>
          <p:nvPr/>
        </p:nvSpPr>
        <p:spPr>
          <a:xfrm>
            <a:off x="7589520" y="3063240"/>
            <a:ext cx="4050792" cy="1463040"/>
          </a:xfrm>
          <a:prstGeom prst="roundRect">
            <a:avLst>
              <a:gd name="adj" fmla="val 7500"/>
            </a:avLst>
          </a:prstGeom>
          <a:solidFill>
            <a:schemeClr val="bg1"/>
          </a:solidFill>
          <a:ln/>
          <a:effectLst>
            <a:outerShdw blurRad="101600" dist="25400" dir="5400000" algn="bl" rotWithShape="0">
              <a:srgbClr val="000000">
                <a:alpha val="12000"/>
              </a:srgbClr>
            </a:outerShdw>
          </a:effectLst>
        </p:spPr>
      </p:sp>
      <p:sp>
        <p:nvSpPr>
          <p:cNvPr id="11" name="Explain number circle 2"/>
          <p:cNvSpPr/>
          <p:nvPr/>
        </p:nvSpPr>
        <p:spPr>
          <a:xfrm>
            <a:off x="7818120" y="3291840"/>
            <a:ext cx="548640" cy="548640"/>
          </a:xfrm>
          <a:prstGeom prst="ellipse">
            <a:avLst/>
          </a:prstGeom>
          <a:solidFill>
            <a:schemeClr val="accent1"/>
          </a:solidFill>
          <a:ln/>
        </p:spPr>
      </p:sp>
      <p:sp>
        <p:nvSpPr>
          <p:cNvPr id="12" name="Explain number 2"/>
          <p:cNvSpPr txBox="1"/>
          <p:nvPr/>
        </p:nvSpPr>
        <p:spPr>
          <a:xfrm>
            <a:off x="7818120" y="3291840"/>
            <a:ext cx="548640" cy="548640"/>
          </a:xfrm>
          <a:prstGeom prst="rect">
            <a:avLst/>
          </a:prstGeom>
          <a:noFill/>
          <a:ln/>
        </p:spPr>
        <p:txBody>
          <a:bodyPr wrap="square" lIns="0" tIns="0" rIns="0" bIns="0" rtlCol="0" anchor="ctr"/>
          <a:lstStyle/>
          <a:p>
            <a:pPr marL="0" indent="0" algn="ctr">
              <a:buNone/>
            </a:pPr>
            <a:r>
              <a:rPr lang="en-US" sz="2000" b="1" dirty="0">
                <a:solidFill>
                  <a:schemeClr val="tx2"/>
                </a:solidFill>
              </a:rPr>
              <a:t>2</a:t>
            </a:r>
            <a:endParaRPr lang="en-US" sz="2000" dirty="0"/>
          </a:p>
        </p:txBody>
      </p:sp>
      <p:sp>
        <p:nvSpPr>
          <p:cNvPr id="13" name="Explain text 2"/>
          <p:cNvSpPr txBox="1"/>
          <p:nvPr/>
        </p:nvSpPr>
        <p:spPr>
          <a:xfrm>
            <a:off x="8549640" y="3200400"/>
            <a:ext cx="2926080" cy="1188720"/>
          </a:xfrm>
          <a:prstGeom prst="rect">
            <a:avLst/>
          </a:prstGeom>
          <a:noFill/>
          <a:ln/>
        </p:spPr>
        <p:txBody>
          <a:bodyPr wrap="square" lIns="0" tIns="0" rIns="0" bIns="0" rtlCol="0" anchor="ctr"/>
          <a:lstStyle/>
          <a:p>
            <a:pPr marL="0" indent="0">
              <a:buNone/>
            </a:pPr>
            <a:r>
              <a:rPr lang="en-US" sz="1500" dirty="0">
                <a:solidFill>
                  <a:schemeClr val="tx1"/>
                </a:solidFill>
              </a:rPr>
              <a:t>requirements_met() loops through that list and checks what the player already knows.</a:t>
            </a:r>
            <a:endParaRPr lang="en-US" sz="1500" dirty="0"/>
          </a:p>
        </p:txBody>
      </p:sp>
      <p:sp>
        <p:nvSpPr>
          <p:cNvPr id="14" name="Explain card 3"/>
          <p:cNvSpPr/>
          <p:nvPr/>
        </p:nvSpPr>
        <p:spPr>
          <a:xfrm>
            <a:off x="7589520" y="4663440"/>
            <a:ext cx="4050792" cy="1463040"/>
          </a:xfrm>
          <a:prstGeom prst="roundRect">
            <a:avLst>
              <a:gd name="adj" fmla="val 7500"/>
            </a:avLst>
          </a:prstGeom>
          <a:solidFill>
            <a:schemeClr val="bg1"/>
          </a:solidFill>
          <a:ln/>
          <a:effectLst>
            <a:outerShdw blurRad="101600" dist="25400" dir="5400000" algn="bl" rotWithShape="0">
              <a:srgbClr val="000000">
                <a:alpha val="12000"/>
              </a:srgbClr>
            </a:outerShdw>
          </a:effectLst>
        </p:spPr>
      </p:sp>
      <p:sp>
        <p:nvSpPr>
          <p:cNvPr id="15" name="Explain number circle 3"/>
          <p:cNvSpPr/>
          <p:nvPr/>
        </p:nvSpPr>
        <p:spPr>
          <a:xfrm>
            <a:off x="7818120" y="4892040"/>
            <a:ext cx="548640" cy="548640"/>
          </a:xfrm>
          <a:prstGeom prst="ellipse">
            <a:avLst/>
          </a:prstGeom>
          <a:solidFill>
            <a:schemeClr val="accent1"/>
          </a:solidFill>
          <a:ln/>
        </p:spPr>
      </p:sp>
      <p:sp>
        <p:nvSpPr>
          <p:cNvPr id="16" name="Explain number 3"/>
          <p:cNvSpPr txBox="1"/>
          <p:nvPr/>
        </p:nvSpPr>
        <p:spPr>
          <a:xfrm>
            <a:off x="7818120" y="4892040"/>
            <a:ext cx="548640" cy="548640"/>
          </a:xfrm>
          <a:prstGeom prst="rect">
            <a:avLst/>
          </a:prstGeom>
          <a:noFill/>
          <a:ln/>
        </p:spPr>
        <p:txBody>
          <a:bodyPr wrap="square" lIns="0" tIns="0" rIns="0" bIns="0" rtlCol="0" anchor="ctr"/>
          <a:lstStyle/>
          <a:p>
            <a:pPr marL="0" indent="0" algn="ctr">
              <a:buNone/>
            </a:pPr>
            <a:r>
              <a:rPr lang="en-US" sz="2000" b="1" dirty="0">
                <a:solidFill>
                  <a:schemeClr val="tx2"/>
                </a:solidFill>
              </a:rPr>
              <a:t>3</a:t>
            </a:r>
            <a:endParaRPr lang="en-US" sz="2000" dirty="0"/>
          </a:p>
        </p:txBody>
      </p:sp>
      <p:sp>
        <p:nvSpPr>
          <p:cNvPr id="17" name="Explain text 3"/>
          <p:cNvSpPr txBox="1"/>
          <p:nvPr/>
        </p:nvSpPr>
        <p:spPr>
          <a:xfrm>
            <a:off x="8549640" y="4800600"/>
            <a:ext cx="2926080" cy="1188720"/>
          </a:xfrm>
          <a:prstGeom prst="rect">
            <a:avLst/>
          </a:prstGeom>
          <a:noFill/>
          <a:ln/>
        </p:spPr>
        <p:txBody>
          <a:bodyPr wrap="square" lIns="0" tIns="0" rIns="0" bIns="0" rtlCol="0" anchor="ctr"/>
          <a:lstStyle/>
          <a:p>
            <a:pPr marL="0" indent="0">
              <a:buNone/>
            </a:pPr>
            <a:r>
              <a:rPr lang="en-US" sz="1500" dirty="0">
                <a:solidFill>
                  <a:schemeClr val="tx1"/>
                </a:solidFill>
              </a:rPr>
              <a:t>If everything is known and the clue is new, it is added to the notebook for +10.</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Scoring system and ranks</a:t>
            </a:r>
            <a:endParaRPr lang="en-US" sz="3600" dirty="0"/>
          </a:p>
        </p:txBody>
      </p:sp>
      <p:sp>
        <p:nvSpPr>
          <p:cNvPr id="3" name="Chart card"/>
          <p:cNvSpPr/>
          <p:nvPr/>
        </p:nvSpPr>
        <p:spPr>
          <a:xfrm>
            <a:off x="548640" y="1463040"/>
            <a:ext cx="6675120" cy="4663440"/>
          </a:xfrm>
          <a:prstGeom prst="roundRect">
            <a:avLst>
              <a:gd name="adj" fmla="val 2353"/>
            </a:avLst>
          </a:prstGeom>
          <a:solidFill>
            <a:schemeClr val="bg1"/>
          </a:solidFill>
          <a:ln/>
          <a:effectLst>
            <a:outerShdw blurRad="101600" dist="25400" dir="5400000" algn="bl" rotWithShape="0">
              <a:srgbClr val="000000">
                <a:alpha val="12000"/>
              </a:srgbClr>
            </a:outerShdw>
          </a:effectLst>
        </p:spPr>
      </p:sp>
      <p:graphicFrame>
        <p:nvGraphicFramePr>
          <p:cNvPr id="4" name="Chart 0"/>
          <p:cNvGraphicFramePr/>
          <p:nvPr/>
        </p:nvGraphicFramePr>
        <p:xfrm>
          <a:off x="731520" y="1600200"/>
          <a:ext cx="63093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Ranks heading"/>
          <p:cNvSpPr txBox="1"/>
          <p:nvPr/>
        </p:nvSpPr>
        <p:spPr>
          <a:xfrm>
            <a:off x="7498080" y="1463040"/>
            <a:ext cx="4114800" cy="411480"/>
          </a:xfrm>
          <a:prstGeom prst="rect">
            <a:avLst/>
          </a:prstGeom>
          <a:noFill/>
          <a:ln/>
        </p:spPr>
        <p:txBody>
          <a:bodyPr wrap="square" lIns="0" tIns="0" rIns="0" bIns="0" rtlCol="0" anchor="t"/>
          <a:lstStyle/>
          <a:p>
            <a:pPr marL="0" indent="0">
              <a:buNone/>
            </a:pPr>
            <a:r>
              <a:rPr lang="en-US" sz="2000" b="1" dirty="0">
                <a:solidFill>
                  <a:schemeClr val="tx2"/>
                </a:solidFill>
              </a:rPr>
              <a:t>Final ranks (score needed)</a:t>
            </a:r>
            <a:endParaRPr lang="en-US" sz="2000" dirty="0"/>
          </a:p>
        </p:txBody>
      </p:sp>
      <p:graphicFrame>
        <p:nvGraphicFramePr>
          <p:cNvPr id="16" name="Rank table"/>
          <p:cNvGraphicFramePr>
            <a:graphicFrameLocks noGrp="1"/>
          </p:cNvGraphicFramePr>
          <p:nvPr>
            <p:extLst>
              <p:ext uri="{D42A27DB-BD31-4B8C-83A1-F6EECF244321}">
                <p14:modId xmlns:p14="http://schemas.microsoft.com/office/powerpoint/2010/main" val="1579011935"/>
              </p:ext>
            </p:extLst>
          </p:nvPr>
        </p:nvGraphicFramePr>
        <p:xfrm>
          <a:off x="7498080" y="1965960"/>
          <a:ext cx="4142232" cy="2834640"/>
        </p:xfrm>
        <a:graphic>
          <a:graphicData uri="http://schemas.openxmlformats.org/drawingml/2006/table">
            <a:tbl>
              <a:tblPr/>
              <a:tblGrid>
                <a:gridCol w="15087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gridCol w="877824">
                  <a:extLst>
                    <a:ext uri="{9D8B030D-6E8A-4147-A177-3AD203B41FA5}">
                      <a16:colId xmlns:a16="http://schemas.microsoft.com/office/drawing/2014/main" val="20002"/>
                    </a:ext>
                  </a:extLst>
                </a:gridCol>
                <a:gridCol w="877824">
                  <a:extLst>
                    <a:ext uri="{9D8B030D-6E8A-4147-A177-3AD203B41FA5}">
                      <a16:colId xmlns:a16="http://schemas.microsoft.com/office/drawing/2014/main" val="20003"/>
                    </a:ext>
                  </a:extLst>
                </a:gridCol>
              </a:tblGrid>
              <a:tr h="566928">
                <a:tc>
                  <a:txBody>
                    <a:bodyPr/>
                    <a:lstStyle/>
                    <a:p>
                      <a:pPr marL="0" indent="0">
                        <a:buNone/>
                      </a:pPr>
                      <a:r>
                        <a:rPr lang="en-US" sz="1300" b="1" dirty="0">
                          <a:solidFill>
                            <a:schemeClr val="bg1"/>
                          </a:solidFill>
                        </a:rPr>
                        <a:t>Rank</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tx2"/>
                          </a:solidFill>
                        </a:rPr>
                        <a:t>Easy</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tc>
                  <a:txBody>
                    <a:bodyPr/>
                    <a:lstStyle/>
                    <a:p>
                      <a:pPr marL="0" indent="0" algn="ctr">
                        <a:buNone/>
                      </a:pPr>
                      <a:r>
                        <a:rPr lang="en-US" sz="1300" b="1" dirty="0">
                          <a:solidFill>
                            <a:schemeClr val="tx2"/>
                          </a:solidFill>
                        </a:rPr>
                        <a:t>Medium</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1"/>
                    </a:solidFill>
                  </a:tcPr>
                </a:tc>
                <a:tc>
                  <a:txBody>
                    <a:bodyPr/>
                    <a:lstStyle/>
                    <a:p>
                      <a:pPr marL="0" indent="0" algn="ctr">
                        <a:buNone/>
                      </a:pPr>
                      <a:r>
                        <a:rPr lang="en-US" sz="1300" b="1" dirty="0">
                          <a:solidFill>
                            <a:schemeClr val="bg1"/>
                          </a:solidFill>
                        </a:rPr>
                        <a:t>Hard</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2"/>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chemeClr val="tx2"/>
                          </a:solidFill>
                        </a:rPr>
                        <a:t>Legendary Detective</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200+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230+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260+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chemeClr val="tx2"/>
                          </a:solidFill>
                        </a:rPr>
                        <a:t>Senior Inspector</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150+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180+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200+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chemeClr val="tx2"/>
                          </a:solidFill>
                        </a:rPr>
                        <a:t>Junior Detective</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100+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120+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140+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chemeClr val="tx2"/>
                          </a:solidFill>
                        </a:rPr>
                        <a:t>Rookie</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below 100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below 120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below 140</a:t>
                      </a:r>
                      <a:endParaRPr lang="en-US" sz="1300" dirty="0"/>
                    </a:p>
                  </a:txBody>
                  <a:tcPr marL="73152" marR="73152"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7" name="Bonus note"/>
          <p:cNvSpPr txBox="1"/>
          <p:nvPr/>
        </p:nvSpPr>
        <p:spPr>
          <a:xfrm>
            <a:off x="7498080" y="5029200"/>
            <a:ext cx="4114800" cy="914400"/>
          </a:xfrm>
          <a:prstGeom prst="rect">
            <a:avLst/>
          </a:prstGeom>
          <a:noFill/>
          <a:ln/>
        </p:spPr>
        <p:txBody>
          <a:bodyPr wrap="square" lIns="0" tIns="0" rIns="0" bIns="0" rtlCol="0" anchor="t"/>
          <a:lstStyle/>
          <a:p>
            <a:pPr marL="0" indent="0">
              <a:buNone/>
            </a:pPr>
            <a:r>
              <a:rPr lang="en-US" sz="1500" i="1" dirty="0">
                <a:solidFill>
                  <a:schemeClr val="accent6"/>
                </a:solidFill>
              </a:rPr>
              <a:t>Speed bonus: +1, +2 or +3 points for every unused action (Easy, Medium, Hard).</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Game screenshots</a:t>
            </a:r>
            <a:endParaRPr lang="en-US" sz="3600" dirty="0"/>
          </a:p>
        </p:txBody>
      </p:sp>
      <p:sp>
        <p:nvSpPr>
          <p:cNvPr id="3" name="Screenshot frame 1"/>
          <p:cNvSpPr/>
          <p:nvPr/>
        </p:nvSpPr>
        <p:spPr>
          <a:xfrm>
            <a:off x="475488" y="1435608"/>
            <a:ext cx="5586984" cy="3905319"/>
          </a:xfrm>
          <a:prstGeom prst="roundRect">
            <a:avLst>
              <a:gd name="adj" fmla="val 1873"/>
            </a:avLst>
          </a:prstGeom>
          <a:solidFill>
            <a:schemeClr val="bg1"/>
          </a:solidFill>
          <a:ln/>
          <a:effectLst>
            <a:outerShdw blurRad="101600" dist="25400" dir="5400000" algn="bl" rotWithShape="0">
              <a:srgbClr val="000000">
                <a:alpha val="12000"/>
              </a:srgbClr>
            </a:outerShdw>
          </a:effectLst>
        </p:spPr>
      </p:sp>
      <p:sp>
        <p:nvSpPr>
          <p:cNvPr id="5" name="Screenshot title 1"/>
          <p:cNvSpPr txBox="1"/>
          <p:nvPr/>
        </p:nvSpPr>
        <p:spPr>
          <a:xfrm>
            <a:off x="548640" y="5440680"/>
            <a:ext cx="5440680" cy="320040"/>
          </a:xfrm>
          <a:prstGeom prst="rect">
            <a:avLst/>
          </a:prstGeom>
          <a:noFill/>
          <a:ln/>
        </p:spPr>
        <p:txBody>
          <a:bodyPr wrap="square" lIns="0" tIns="0" rIns="0" bIns="0" rtlCol="0" anchor="t"/>
          <a:lstStyle/>
          <a:p>
            <a:pPr marL="0" indent="0">
              <a:buNone/>
            </a:pPr>
            <a:r>
              <a:rPr lang="en-US" sz="1800" b="1" dirty="0">
                <a:solidFill>
                  <a:schemeClr val="tx2"/>
                </a:solidFill>
              </a:rPr>
              <a:t>Main screen (Diamond case, Medium)</a:t>
            </a:r>
            <a:endParaRPr lang="en-US" sz="1800" dirty="0"/>
          </a:p>
        </p:txBody>
      </p:sp>
      <p:sp>
        <p:nvSpPr>
          <p:cNvPr id="6" name="Screenshot caption 1"/>
          <p:cNvSpPr txBox="1"/>
          <p:nvPr/>
        </p:nvSpPr>
        <p:spPr>
          <a:xfrm>
            <a:off x="548640" y="5779008"/>
            <a:ext cx="5440680" cy="457200"/>
          </a:xfrm>
          <a:prstGeom prst="rect">
            <a:avLst/>
          </a:prstGeom>
          <a:noFill/>
          <a:ln/>
        </p:spPr>
        <p:txBody>
          <a:bodyPr wrap="square" lIns="0" tIns="0" rIns="0" bIns="0" rtlCol="0" anchor="t"/>
          <a:lstStyle/>
          <a:p>
            <a:pPr marL="0" indent="0">
              <a:buNone/>
            </a:pPr>
            <a:r>
              <a:rPr lang="en-US" sz="1400" dirty="0">
                <a:solidFill>
                  <a:schemeClr val="tx1"/>
                </a:solidFill>
              </a:rPr>
              <a:t>Case menu, level buttons, hint button, live score, case feed and notebook.</a:t>
            </a:r>
            <a:endParaRPr lang="en-US" sz="1400" dirty="0"/>
          </a:p>
        </p:txBody>
      </p:sp>
      <p:sp>
        <p:nvSpPr>
          <p:cNvPr id="7" name="Screenshot frame 2"/>
          <p:cNvSpPr/>
          <p:nvPr/>
        </p:nvSpPr>
        <p:spPr>
          <a:xfrm>
            <a:off x="6126480" y="1435608"/>
            <a:ext cx="5586984" cy="3905319"/>
          </a:xfrm>
          <a:prstGeom prst="roundRect">
            <a:avLst>
              <a:gd name="adj" fmla="val 1873"/>
            </a:avLst>
          </a:prstGeom>
          <a:solidFill>
            <a:schemeClr val="bg1"/>
          </a:solidFill>
          <a:ln/>
          <a:effectLst>
            <a:outerShdw blurRad="101600" dist="25400" dir="5400000" algn="bl" rotWithShape="0">
              <a:srgbClr val="000000">
                <a:alpha val="12000"/>
              </a:srgbClr>
            </a:outerShdw>
          </a:effectLst>
        </p:spPr>
      </p:sp>
      <p:sp>
        <p:nvSpPr>
          <p:cNvPr id="9" name="Screenshot title 2"/>
          <p:cNvSpPr txBox="1"/>
          <p:nvPr/>
        </p:nvSpPr>
        <p:spPr>
          <a:xfrm>
            <a:off x="6199632" y="5440680"/>
            <a:ext cx="5440680" cy="320040"/>
          </a:xfrm>
          <a:prstGeom prst="rect">
            <a:avLst/>
          </a:prstGeom>
          <a:noFill/>
          <a:ln/>
        </p:spPr>
        <p:txBody>
          <a:bodyPr wrap="square" lIns="0" tIns="0" rIns="0" bIns="0" rtlCol="0" anchor="t"/>
          <a:lstStyle/>
          <a:p>
            <a:pPr marL="0" indent="0">
              <a:buNone/>
            </a:pPr>
            <a:r>
              <a:rPr lang="en-US" sz="1800" b="1" dirty="0">
                <a:solidFill>
                  <a:schemeClr val="tx2"/>
                </a:solidFill>
              </a:rPr>
              <a:t>Final question</a:t>
            </a:r>
            <a:endParaRPr lang="en-US" sz="1800" dirty="0"/>
          </a:p>
        </p:txBody>
      </p:sp>
      <p:sp>
        <p:nvSpPr>
          <p:cNvPr id="10" name="Screenshot caption 2"/>
          <p:cNvSpPr txBox="1"/>
          <p:nvPr/>
        </p:nvSpPr>
        <p:spPr>
          <a:xfrm>
            <a:off x="6199632" y="5779008"/>
            <a:ext cx="5440680" cy="457200"/>
          </a:xfrm>
          <a:prstGeom prst="rect">
            <a:avLst/>
          </a:prstGeom>
          <a:noFill/>
          <a:ln/>
        </p:spPr>
        <p:txBody>
          <a:bodyPr wrap="square" lIns="0" tIns="0" rIns="0" bIns="0" rtlCol="0" anchor="t"/>
          <a:lstStyle/>
          <a:p>
            <a:pPr marL="0" indent="0">
              <a:buNone/>
            </a:pPr>
            <a:r>
              <a:rPr lang="en-US" sz="1400" dirty="0">
                <a:solidFill>
                  <a:schemeClr val="tx1"/>
                </a:solidFill>
              </a:rPr>
              <a:t>After a correct accusation, questions appear with shuffled answers.</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pic>
        <p:nvPicPr>
          <p:cNvPr id="12" name="Picture 11">
            <a:extLst>
              <a:ext uri="{FF2B5EF4-FFF2-40B4-BE49-F238E27FC236}">
                <a16:creationId xmlns:a16="http://schemas.microsoft.com/office/drawing/2014/main" id="{35DB7277-1FA9-23DD-D604-D8EEF14AD2B9}"/>
              </a:ext>
            </a:extLst>
          </p:cNvPr>
          <p:cNvPicPr>
            <a:picLocks noChangeAspect="1"/>
          </p:cNvPicPr>
          <p:nvPr/>
        </p:nvPicPr>
        <p:blipFill>
          <a:blip r:embed="rId3"/>
          <a:stretch>
            <a:fillRect/>
          </a:stretch>
        </p:blipFill>
        <p:spPr>
          <a:xfrm>
            <a:off x="475488" y="1435608"/>
            <a:ext cx="5586984" cy="3914463"/>
          </a:xfrm>
          <a:prstGeom prst="rect">
            <a:avLst/>
          </a:prstGeom>
        </p:spPr>
      </p:pic>
      <p:pic>
        <p:nvPicPr>
          <p:cNvPr id="14" name="Picture 13">
            <a:extLst>
              <a:ext uri="{FF2B5EF4-FFF2-40B4-BE49-F238E27FC236}">
                <a16:creationId xmlns:a16="http://schemas.microsoft.com/office/drawing/2014/main" id="{ED9857EC-892B-068D-E905-884E5B322308}"/>
              </a:ext>
            </a:extLst>
          </p:cNvPr>
          <p:cNvPicPr>
            <a:picLocks noChangeAspect="1"/>
          </p:cNvPicPr>
          <p:nvPr/>
        </p:nvPicPr>
        <p:blipFill>
          <a:blip r:embed="rId4"/>
          <a:stretch>
            <a:fillRect/>
          </a:stretch>
        </p:blipFill>
        <p:spPr>
          <a:xfrm>
            <a:off x="6126480" y="1435608"/>
            <a:ext cx="5748692" cy="389216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Testing the game</a:t>
            </a:r>
            <a:endParaRPr lang="en-US" sz="3600" dirty="0"/>
          </a:p>
        </p:txBody>
      </p:sp>
      <p:graphicFrame>
        <p:nvGraphicFramePr>
          <p:cNvPr id="18" name="Test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931920"/>
        </p:xfrm>
        <a:graphic>
          <a:graphicData uri="http://schemas.openxmlformats.org/drawingml/2006/table">
            <a:tbl>
              <a:tblPr/>
              <a:tblGrid>
                <a:gridCol w="2286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776472">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93192">
                <a:tc>
                  <a:txBody>
                    <a:bodyPr/>
                    <a:lstStyle/>
                    <a:p>
                      <a:pPr marL="0" indent="0">
                        <a:buNone/>
                      </a:pPr>
                      <a:r>
                        <a:rPr lang="en-US" sz="1400" b="1" dirty="0">
                          <a:solidFill>
                            <a:schemeClr val="bg1"/>
                          </a:solidFill>
                        </a:rPr>
                        <a:t>Test case</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Action</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Expected result</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Status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93192">
                <a:tc>
                  <a:txBody>
                    <a:bodyPr/>
                    <a:lstStyle/>
                    <a:p>
                      <a:pPr marL="0" indent="0">
                        <a:buNone/>
                      </a:pPr>
                      <a:r>
                        <a:rPr lang="en-US" sz="1400" b="1" dirty="0">
                          <a:solidFill>
                            <a:schemeClr val="tx2"/>
                          </a:solidFill>
                        </a:rPr>
                        <a:t>Locked clue</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Search the Library at the start</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Nothing found, no clue added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1"/>
                  </a:ext>
                </a:extLst>
              </a:tr>
              <a:tr h="393192">
                <a:tc>
                  <a:txBody>
                    <a:bodyPr/>
                    <a:lstStyle/>
                    <a:p>
                      <a:pPr marL="0" indent="0">
                        <a:buNone/>
                      </a:pPr>
                      <a:r>
                        <a:rPr lang="en-US" sz="1400" b="1" dirty="0">
                          <a:solidFill>
                            <a:schemeClr val="tx2"/>
                          </a:solidFill>
                        </a:rPr>
                        <a:t>Clue chain</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Search the Study twice</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Safe clue, then glove clue unlocks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2"/>
                  </a:ext>
                </a:extLst>
              </a:tr>
              <a:tr h="393192">
                <a:tc>
                  <a:txBody>
                    <a:bodyPr/>
                    <a:lstStyle/>
                    <a:p>
                      <a:pPr marL="0" indent="0">
                        <a:buNone/>
                      </a:pPr>
                      <a:r>
                        <a:rPr lang="en-US" sz="1400" b="1" dirty="0">
                          <a:solidFill>
                            <a:schemeClr val="tx2"/>
                          </a:solidFill>
                        </a:rPr>
                        <a:t>Hard wasted move</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Search with nothing to find on Hard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1 extra action is lost</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3"/>
                  </a:ext>
                </a:extLst>
              </a:tr>
              <a:tr h="393192">
                <a:tc>
                  <a:txBody>
                    <a:bodyPr/>
                    <a:lstStyle/>
                    <a:p>
                      <a:pPr marL="0" indent="0">
                        <a:buNone/>
                      </a:pPr>
                      <a:r>
                        <a:rPr lang="en-US" sz="1400" b="1" dirty="0">
                          <a:solidFill>
                            <a:schemeClr val="tx2"/>
                          </a:solidFill>
                        </a:rPr>
                        <a:t>Hint</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Use a hint on Easy</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Hints left 2, score drops by 5</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4"/>
                  </a:ext>
                </a:extLst>
              </a:tr>
              <a:tr h="393192">
                <a:tc>
                  <a:txBody>
                    <a:bodyPr/>
                    <a:lstStyle/>
                    <a:p>
                      <a:pPr marL="0" indent="0">
                        <a:buNone/>
                      </a:pPr>
                      <a:r>
                        <a:rPr lang="en-US" sz="1400" b="1" dirty="0">
                          <a:solidFill>
                            <a:schemeClr val="tx2"/>
                          </a:solidFill>
                        </a:rPr>
                        <a:t>Wrong accusation</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Accuse Leo on each level</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Score drops by 10, 25 and 40</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5"/>
                  </a:ext>
                </a:extLst>
              </a:tr>
              <a:tr h="393192">
                <a:tc>
                  <a:txBody>
                    <a:bodyPr/>
                    <a:lstStyle/>
                    <a:p>
                      <a:pPr marL="0" indent="0">
                        <a:buNone/>
                      </a:pPr>
                      <a:r>
                        <a:rPr lang="en-US" sz="1400" b="1" dirty="0">
                          <a:solidFill>
                            <a:schemeClr val="tx2"/>
                          </a:solidFill>
                        </a:rPr>
                        <a:t>Correct accusation</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Accuse Dr. Ray, answer all questions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50 + 10 per answer + speed bonus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6"/>
                  </a:ext>
                </a:extLst>
              </a:tr>
              <a:tr h="393192">
                <a:tc>
                  <a:txBody>
                    <a:bodyPr/>
                    <a:lstStyle/>
                    <a:p>
                      <a:pPr marL="0" indent="0">
                        <a:buNone/>
                      </a:pPr>
                      <a:r>
                        <a:rPr lang="en-US" sz="1400" b="1" dirty="0">
                          <a:solidFill>
                            <a:schemeClr val="tx2"/>
                          </a:solidFill>
                        </a:rPr>
                        <a:t>Switch case</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Pick The Stolen Painting</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New game starts with new buttons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7"/>
                  </a:ext>
                </a:extLst>
              </a:tr>
              <a:tr h="393192">
                <a:tc>
                  <a:txBody>
                    <a:bodyPr/>
                    <a:lstStyle/>
                    <a:p>
                      <a:pPr marL="0" indent="0">
                        <a:buNone/>
                      </a:pPr>
                      <a:r>
                        <a:rPr lang="en-US" sz="1400" b="1" dirty="0">
                          <a:solidFill>
                            <a:schemeClr val="tx2"/>
                          </a:solidFill>
                        </a:rPr>
                        <a:t>Out of actions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Use all 20 actions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Accusation window opens by itself</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8"/>
                  </a:ext>
                </a:extLst>
              </a:tr>
              <a:tr h="393192">
                <a:tc>
                  <a:txBody>
                    <a:bodyPr/>
                    <a:lstStyle/>
                    <a:p>
                      <a:pPr marL="0" indent="0">
                        <a:buNone/>
                      </a:pPr>
                      <a:r>
                        <a:rPr lang="en-US" sz="1400" b="1" dirty="0">
                          <a:solidFill>
                            <a:schemeClr val="tx2"/>
                          </a:solidFill>
                        </a:rPr>
                        <a:t>Random questions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Start several new games</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Different question sets appear</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Passed</a:t>
                      </a:r>
                      <a:endParaRPr lang="en-US" sz="1400" dirty="0"/>
                    </a:p>
                  </a:txBody>
                  <a:tcPr marL="109728" marR="109728" marT="0" marB="0" anchor="ctr">
                    <a:lnL w="9525" cap="flat" cmpd="sng" algn="ctr">
                      <a:solidFill>
                        <a:srgbClr val="D5D9EA"/>
                      </a:solidFill>
                      <a:prstDash val="solid"/>
                      <a:round/>
                      <a:headEnd type="none" w="med" len="med"/>
                      <a:tailEnd type="none" w="med" len="med"/>
                    </a:lnL>
                    <a:lnR w="9525" cap="flat" cmpd="sng" algn="ctr">
                      <a:solidFill>
                        <a:srgbClr val="D5D9EA"/>
                      </a:solidFill>
                      <a:prstDash val="solid"/>
                      <a:round/>
                      <a:headEnd type="none" w="med" len="med"/>
                      <a:tailEnd type="none" w="med" len="med"/>
                    </a:lnR>
                    <a:lnT w="9525" cap="flat" cmpd="sng" algn="ctr">
                      <a:solidFill>
                        <a:srgbClr val="D5D9EA"/>
                      </a:solidFill>
                      <a:prstDash val="solid"/>
                      <a:round/>
                      <a:headEnd type="none" w="med" len="med"/>
                      <a:tailEnd type="none" w="med" len="med"/>
                    </a:lnT>
                    <a:lnB w="9525" cap="flat" cmpd="sng" algn="ctr">
                      <a:solidFill>
                        <a:srgbClr val="D5D9EA"/>
                      </a:solidFill>
                      <a:prstDash val="solid"/>
                      <a:round/>
                      <a:headEnd type="none" w="med" len="med"/>
                      <a:tailEnd type="none" w="med" len="med"/>
                    </a:lnB>
                    <a:solidFill>
                      <a:schemeClr val="accent3"/>
                    </a:solidFill>
                  </a:tcPr>
                </a:tc>
                <a:extLst>
                  <a:ext uri="{0D108BD9-81ED-4DB2-BD59-A6C34878D82A}">
                    <a16:rowId xmlns:a16="http://schemas.microsoft.com/office/drawing/2014/main" val="10009"/>
                  </a:ext>
                </a:extLst>
              </a:tr>
            </a:tbl>
          </a:graphicData>
        </a:graphic>
      </p:graphicFrame>
      <p:sp>
        <p:nvSpPr>
          <p:cNvPr id="4" name="Result banner"/>
          <p:cNvSpPr/>
          <p:nvPr/>
        </p:nvSpPr>
        <p:spPr>
          <a:xfrm>
            <a:off x="548640" y="5669280"/>
            <a:ext cx="11091672" cy="594360"/>
          </a:xfrm>
          <a:prstGeom prst="roundRect">
            <a:avLst>
              <a:gd name="adj" fmla="val 18462"/>
            </a:avLst>
          </a:prstGeom>
          <a:solidFill>
            <a:schemeClr val="tx2"/>
          </a:solidFill>
          <a:ln/>
        </p:spPr>
      </p:sp>
      <p:pic>
        <p:nvPicPr>
          <p:cNvPr id="5" name="Result check icon" descr="preencoded.png"/>
          <p:cNvPicPr>
            <a:picLocks noChangeAspect="1"/>
          </p:cNvPicPr>
          <p:nvPr/>
        </p:nvPicPr>
        <p:blipFill>
          <a:blip r:embed="rId3"/>
          <a:stretch>
            <a:fillRect/>
          </a:stretch>
        </p:blipFill>
        <p:spPr>
          <a:xfrm>
            <a:off x="868680" y="5806440"/>
            <a:ext cx="329184" cy="329184"/>
          </a:xfrm>
          <a:prstGeom prst="rect">
            <a:avLst/>
          </a:prstGeom>
        </p:spPr>
      </p:pic>
      <p:sp>
        <p:nvSpPr>
          <p:cNvPr id="6" name="Result text"/>
          <p:cNvSpPr txBox="1"/>
          <p:nvPr/>
        </p:nvSpPr>
        <p:spPr>
          <a:xfrm>
            <a:off x="1417320" y="5669280"/>
            <a:ext cx="9875520" cy="594360"/>
          </a:xfrm>
          <a:prstGeom prst="rect">
            <a:avLst/>
          </a:prstGeom>
          <a:noFill/>
          <a:ln/>
        </p:spPr>
        <p:txBody>
          <a:bodyPr wrap="square" lIns="0" tIns="0" rIns="0" bIns="0" rtlCol="0" anchor="ctr"/>
          <a:lstStyle/>
          <a:p>
            <a:pPr marL="0" indent="0">
              <a:buNone/>
            </a:pPr>
            <a:r>
              <a:rPr lang="en-US" sz="1800" b="1" dirty="0">
                <a:solidFill>
                  <a:schemeClr val="bg1"/>
                </a:solidFill>
              </a:rPr>
              <a:t>9 of 9 tests passed. Every clue in all 4 cases can be reached.</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tx2"/>
                </a:solidFill>
              </a:rPr>
              <a:t>Future scope</a:t>
            </a:r>
            <a:endParaRPr lang="en-US" sz="3600" dirty="0"/>
          </a:p>
        </p:txBody>
      </p:sp>
      <p:sp>
        <p:nvSpPr>
          <p:cNvPr id="3" name="Future card 1"/>
          <p:cNvSpPr/>
          <p:nvPr/>
        </p:nvSpPr>
        <p:spPr>
          <a:xfrm>
            <a:off x="548640" y="1508760"/>
            <a:ext cx="3511296" cy="2194560"/>
          </a:xfrm>
          <a:prstGeom prst="roundRect">
            <a:avLst>
              <a:gd name="adj" fmla="val 5000"/>
            </a:avLst>
          </a:prstGeom>
          <a:solidFill>
            <a:schemeClr val="tx2"/>
          </a:solidFill>
          <a:ln/>
        </p:spPr>
      </p:sp>
      <p:sp>
        <p:nvSpPr>
          <p:cNvPr id="4" name="Future 1 circle"/>
          <p:cNvSpPr/>
          <p:nvPr/>
        </p:nvSpPr>
        <p:spPr>
          <a:xfrm>
            <a:off x="822960" y="1783080"/>
            <a:ext cx="731520" cy="731520"/>
          </a:xfrm>
          <a:prstGeom prst="ellipse">
            <a:avLst/>
          </a:prstGeom>
          <a:solidFill>
            <a:schemeClr val="accent5"/>
          </a:solidFill>
          <a:ln/>
        </p:spPr>
      </p:sp>
      <p:pic>
        <p:nvPicPr>
          <p:cNvPr id="5" name="Future 1 icon" descr="preencoded.png"/>
          <p:cNvPicPr>
            <a:picLocks noChangeAspect="1"/>
          </p:cNvPicPr>
          <p:nvPr/>
        </p:nvPicPr>
        <p:blipFill>
          <a:blip r:embed="rId3"/>
          <a:stretch>
            <a:fillRect/>
          </a:stretch>
        </p:blipFill>
        <p:spPr>
          <a:xfrm>
            <a:off x="1005840" y="1965960"/>
            <a:ext cx="365760" cy="365760"/>
          </a:xfrm>
          <a:prstGeom prst="rect">
            <a:avLst/>
          </a:prstGeom>
        </p:spPr>
      </p:pic>
      <p:sp>
        <p:nvSpPr>
          <p:cNvPr id="6" name="Future title 1"/>
          <p:cNvSpPr txBox="1"/>
          <p:nvPr/>
        </p:nvSpPr>
        <p:spPr>
          <a:xfrm>
            <a:off x="1737360" y="1783080"/>
            <a:ext cx="2194560" cy="731520"/>
          </a:xfrm>
          <a:prstGeom prst="rect">
            <a:avLst/>
          </a:prstGeom>
          <a:noFill/>
          <a:ln/>
        </p:spPr>
        <p:txBody>
          <a:bodyPr wrap="square" lIns="0" tIns="0" rIns="0" bIns="0" rtlCol="0" anchor="ctr"/>
          <a:lstStyle/>
          <a:p>
            <a:pPr marL="0" indent="0">
              <a:buNone/>
            </a:pPr>
            <a:r>
              <a:rPr lang="en-US" sz="2000" b="1" dirty="0">
                <a:solidFill>
                  <a:schemeClr val="bg1"/>
                </a:solidFill>
              </a:rPr>
              <a:t>High scores</a:t>
            </a:r>
            <a:endParaRPr lang="en-US" sz="2000" dirty="0"/>
          </a:p>
        </p:txBody>
      </p:sp>
      <p:sp>
        <p:nvSpPr>
          <p:cNvPr id="7" name="Future text 1"/>
          <p:cNvSpPr txBox="1"/>
          <p:nvPr/>
        </p:nvSpPr>
        <p:spPr>
          <a:xfrm>
            <a:off x="822960" y="2743200"/>
            <a:ext cx="2971800" cy="822960"/>
          </a:xfrm>
          <a:prstGeom prst="rect">
            <a:avLst/>
          </a:prstGeom>
          <a:noFill/>
          <a:ln/>
        </p:spPr>
        <p:txBody>
          <a:bodyPr wrap="square" lIns="0" tIns="0" rIns="0" bIns="0" rtlCol="0" anchor="t"/>
          <a:lstStyle/>
          <a:p>
            <a:pPr marL="0" indent="0">
              <a:buNone/>
            </a:pPr>
            <a:r>
              <a:rPr lang="en-US" sz="1500" dirty="0">
                <a:solidFill>
                  <a:schemeClr val="bg2"/>
                </a:solidFill>
              </a:rPr>
              <a:t>Save the best scores in a text file.</a:t>
            </a:r>
            <a:endParaRPr lang="en-US" sz="1500" dirty="0"/>
          </a:p>
        </p:txBody>
      </p:sp>
      <p:sp>
        <p:nvSpPr>
          <p:cNvPr id="8" name="Future card 2"/>
          <p:cNvSpPr/>
          <p:nvPr/>
        </p:nvSpPr>
        <p:spPr>
          <a:xfrm>
            <a:off x="4338828" y="1508760"/>
            <a:ext cx="3511296" cy="2194560"/>
          </a:xfrm>
          <a:prstGeom prst="roundRect">
            <a:avLst>
              <a:gd name="adj" fmla="val 5000"/>
            </a:avLst>
          </a:prstGeom>
          <a:solidFill>
            <a:schemeClr val="tx2"/>
          </a:solidFill>
          <a:ln/>
        </p:spPr>
      </p:sp>
      <p:sp>
        <p:nvSpPr>
          <p:cNvPr id="9" name="Future 2 circle"/>
          <p:cNvSpPr/>
          <p:nvPr/>
        </p:nvSpPr>
        <p:spPr>
          <a:xfrm>
            <a:off x="4613148" y="1783080"/>
            <a:ext cx="731520" cy="731520"/>
          </a:xfrm>
          <a:prstGeom prst="ellipse">
            <a:avLst/>
          </a:prstGeom>
          <a:solidFill>
            <a:schemeClr val="accent5"/>
          </a:solidFill>
          <a:ln/>
        </p:spPr>
      </p:sp>
      <p:pic>
        <p:nvPicPr>
          <p:cNvPr id="10" name="Future 2 icon" descr="preencoded.png"/>
          <p:cNvPicPr>
            <a:picLocks noChangeAspect="1"/>
          </p:cNvPicPr>
          <p:nvPr/>
        </p:nvPicPr>
        <p:blipFill>
          <a:blip r:embed="rId4"/>
          <a:stretch>
            <a:fillRect/>
          </a:stretch>
        </p:blipFill>
        <p:spPr>
          <a:xfrm>
            <a:off x="4796028" y="1965960"/>
            <a:ext cx="365760" cy="365760"/>
          </a:xfrm>
          <a:prstGeom prst="rect">
            <a:avLst/>
          </a:prstGeom>
        </p:spPr>
      </p:pic>
      <p:sp>
        <p:nvSpPr>
          <p:cNvPr id="11" name="Future title 2"/>
          <p:cNvSpPr txBox="1"/>
          <p:nvPr/>
        </p:nvSpPr>
        <p:spPr>
          <a:xfrm>
            <a:off x="5527548" y="1783080"/>
            <a:ext cx="2194560" cy="731520"/>
          </a:xfrm>
          <a:prstGeom prst="rect">
            <a:avLst/>
          </a:prstGeom>
          <a:noFill/>
          <a:ln/>
        </p:spPr>
        <p:txBody>
          <a:bodyPr wrap="square" lIns="0" tIns="0" rIns="0" bIns="0" rtlCol="0" anchor="ctr"/>
          <a:lstStyle/>
          <a:p>
            <a:pPr marL="0" indent="0">
              <a:buNone/>
            </a:pPr>
            <a:r>
              <a:rPr lang="en-US" sz="2000" b="1" dirty="0">
                <a:solidFill>
                  <a:schemeClr val="bg1"/>
                </a:solidFill>
              </a:rPr>
              <a:t>Pictures and sound</a:t>
            </a:r>
            <a:endParaRPr lang="en-US" sz="2000" dirty="0"/>
          </a:p>
        </p:txBody>
      </p:sp>
      <p:sp>
        <p:nvSpPr>
          <p:cNvPr id="12" name="Future text 2"/>
          <p:cNvSpPr txBox="1"/>
          <p:nvPr/>
        </p:nvSpPr>
        <p:spPr>
          <a:xfrm>
            <a:off x="4613148" y="2743200"/>
            <a:ext cx="2971800" cy="822960"/>
          </a:xfrm>
          <a:prstGeom prst="rect">
            <a:avLst/>
          </a:prstGeom>
          <a:noFill/>
          <a:ln/>
        </p:spPr>
        <p:txBody>
          <a:bodyPr wrap="square" lIns="0" tIns="0" rIns="0" bIns="0" rtlCol="0" anchor="t"/>
          <a:lstStyle/>
          <a:p>
            <a:pPr marL="0" indent="0">
              <a:buNone/>
            </a:pPr>
            <a:r>
              <a:rPr lang="en-US" sz="1500" dirty="0">
                <a:solidFill>
                  <a:schemeClr val="bg2"/>
                </a:solidFill>
              </a:rPr>
              <a:t>Add suspect photos and background music.</a:t>
            </a:r>
            <a:endParaRPr lang="en-US" sz="1500" dirty="0"/>
          </a:p>
        </p:txBody>
      </p:sp>
      <p:sp>
        <p:nvSpPr>
          <p:cNvPr id="13" name="Future card 3"/>
          <p:cNvSpPr/>
          <p:nvPr/>
        </p:nvSpPr>
        <p:spPr>
          <a:xfrm>
            <a:off x="8129016" y="1508760"/>
            <a:ext cx="3511296" cy="2194560"/>
          </a:xfrm>
          <a:prstGeom prst="roundRect">
            <a:avLst>
              <a:gd name="adj" fmla="val 5000"/>
            </a:avLst>
          </a:prstGeom>
          <a:solidFill>
            <a:schemeClr val="tx2"/>
          </a:solidFill>
          <a:ln/>
        </p:spPr>
      </p:sp>
      <p:sp>
        <p:nvSpPr>
          <p:cNvPr id="14" name="Future 3 circle"/>
          <p:cNvSpPr/>
          <p:nvPr/>
        </p:nvSpPr>
        <p:spPr>
          <a:xfrm>
            <a:off x="8403336" y="1783080"/>
            <a:ext cx="731520" cy="731520"/>
          </a:xfrm>
          <a:prstGeom prst="ellipse">
            <a:avLst/>
          </a:prstGeom>
          <a:solidFill>
            <a:schemeClr val="accent5"/>
          </a:solidFill>
          <a:ln/>
        </p:spPr>
      </p:sp>
      <p:pic>
        <p:nvPicPr>
          <p:cNvPr id="15" name="Future 3 icon" descr="preencoded.png"/>
          <p:cNvPicPr>
            <a:picLocks noChangeAspect="1"/>
          </p:cNvPicPr>
          <p:nvPr/>
        </p:nvPicPr>
        <p:blipFill>
          <a:blip r:embed="rId5"/>
          <a:stretch>
            <a:fillRect/>
          </a:stretch>
        </p:blipFill>
        <p:spPr>
          <a:xfrm>
            <a:off x="8586216" y="1965960"/>
            <a:ext cx="365760" cy="365760"/>
          </a:xfrm>
          <a:prstGeom prst="rect">
            <a:avLst/>
          </a:prstGeom>
        </p:spPr>
      </p:pic>
      <p:sp>
        <p:nvSpPr>
          <p:cNvPr id="16" name="Future title 3"/>
          <p:cNvSpPr txBox="1"/>
          <p:nvPr/>
        </p:nvSpPr>
        <p:spPr>
          <a:xfrm>
            <a:off x="9317736" y="1783080"/>
            <a:ext cx="2194560" cy="731520"/>
          </a:xfrm>
          <a:prstGeom prst="rect">
            <a:avLst/>
          </a:prstGeom>
          <a:noFill/>
          <a:ln/>
        </p:spPr>
        <p:txBody>
          <a:bodyPr wrap="square" lIns="0" tIns="0" rIns="0" bIns="0" rtlCol="0" anchor="ctr"/>
          <a:lstStyle/>
          <a:p>
            <a:pPr marL="0" indent="0">
              <a:buNone/>
            </a:pPr>
            <a:r>
              <a:rPr lang="en-US" sz="2000" b="1" dirty="0">
                <a:solidFill>
                  <a:schemeClr val="bg1"/>
                </a:solidFill>
              </a:rPr>
              <a:t>Cases in files</a:t>
            </a:r>
            <a:endParaRPr lang="en-US" sz="2000" dirty="0"/>
          </a:p>
        </p:txBody>
      </p:sp>
      <p:sp>
        <p:nvSpPr>
          <p:cNvPr id="17" name="Future text 3"/>
          <p:cNvSpPr txBox="1"/>
          <p:nvPr/>
        </p:nvSpPr>
        <p:spPr>
          <a:xfrm>
            <a:off x="8403336" y="2743200"/>
            <a:ext cx="2971800" cy="822960"/>
          </a:xfrm>
          <a:prstGeom prst="rect">
            <a:avLst/>
          </a:prstGeom>
          <a:noFill/>
          <a:ln/>
        </p:spPr>
        <p:txBody>
          <a:bodyPr wrap="square" lIns="0" tIns="0" rIns="0" bIns="0" rtlCol="0" anchor="t"/>
          <a:lstStyle/>
          <a:p>
            <a:pPr marL="0" indent="0">
              <a:buNone/>
            </a:pPr>
            <a:r>
              <a:rPr lang="en-US" sz="1500" dirty="0">
                <a:solidFill>
                  <a:schemeClr val="bg2"/>
                </a:solidFill>
              </a:rPr>
              <a:t>Load new cases from a JSON file without changing the code.</a:t>
            </a:r>
            <a:endParaRPr lang="en-US" sz="1500" dirty="0"/>
          </a:p>
        </p:txBody>
      </p:sp>
      <p:sp>
        <p:nvSpPr>
          <p:cNvPr id="18" name="Future card 4"/>
          <p:cNvSpPr/>
          <p:nvPr/>
        </p:nvSpPr>
        <p:spPr>
          <a:xfrm>
            <a:off x="548640" y="3886200"/>
            <a:ext cx="3511296" cy="2194560"/>
          </a:xfrm>
          <a:prstGeom prst="roundRect">
            <a:avLst>
              <a:gd name="adj" fmla="val 5000"/>
            </a:avLst>
          </a:prstGeom>
          <a:solidFill>
            <a:schemeClr val="tx2"/>
          </a:solidFill>
          <a:ln/>
        </p:spPr>
      </p:sp>
      <p:sp>
        <p:nvSpPr>
          <p:cNvPr id="19" name="Future 4 circle"/>
          <p:cNvSpPr/>
          <p:nvPr/>
        </p:nvSpPr>
        <p:spPr>
          <a:xfrm>
            <a:off x="822960" y="4160520"/>
            <a:ext cx="731520" cy="731520"/>
          </a:xfrm>
          <a:prstGeom prst="ellipse">
            <a:avLst/>
          </a:prstGeom>
          <a:solidFill>
            <a:schemeClr val="accent5"/>
          </a:solidFill>
          <a:ln/>
        </p:spPr>
      </p:sp>
      <p:pic>
        <p:nvPicPr>
          <p:cNvPr id="20" name="Future 4 icon" descr="preencoded.png"/>
          <p:cNvPicPr>
            <a:picLocks noChangeAspect="1"/>
          </p:cNvPicPr>
          <p:nvPr/>
        </p:nvPicPr>
        <p:blipFill>
          <a:blip r:embed="rId6"/>
          <a:stretch>
            <a:fillRect/>
          </a:stretch>
        </p:blipFill>
        <p:spPr>
          <a:xfrm>
            <a:off x="1005840" y="4343400"/>
            <a:ext cx="365760" cy="365760"/>
          </a:xfrm>
          <a:prstGeom prst="rect">
            <a:avLst/>
          </a:prstGeom>
        </p:spPr>
      </p:pic>
      <p:sp>
        <p:nvSpPr>
          <p:cNvPr id="21" name="Future title 4"/>
          <p:cNvSpPr txBox="1"/>
          <p:nvPr/>
        </p:nvSpPr>
        <p:spPr>
          <a:xfrm>
            <a:off x="1737360" y="4160520"/>
            <a:ext cx="2194560" cy="731520"/>
          </a:xfrm>
          <a:prstGeom prst="rect">
            <a:avLst/>
          </a:prstGeom>
          <a:noFill/>
          <a:ln/>
        </p:spPr>
        <p:txBody>
          <a:bodyPr wrap="square" lIns="0" tIns="0" rIns="0" bIns="0" rtlCol="0" anchor="ctr"/>
          <a:lstStyle/>
          <a:p>
            <a:pPr marL="0" indent="0">
              <a:buNone/>
            </a:pPr>
            <a:r>
              <a:rPr lang="en-US" sz="2000" b="1" dirty="0">
                <a:solidFill>
                  <a:schemeClr val="bg1"/>
                </a:solidFill>
              </a:rPr>
              <a:t>Timer mode</a:t>
            </a:r>
            <a:endParaRPr lang="en-US" sz="2000" dirty="0"/>
          </a:p>
        </p:txBody>
      </p:sp>
      <p:sp>
        <p:nvSpPr>
          <p:cNvPr id="22" name="Future text 4"/>
          <p:cNvSpPr txBox="1"/>
          <p:nvPr/>
        </p:nvSpPr>
        <p:spPr>
          <a:xfrm>
            <a:off x="822960" y="5120640"/>
            <a:ext cx="2971800" cy="822960"/>
          </a:xfrm>
          <a:prstGeom prst="rect">
            <a:avLst/>
          </a:prstGeom>
          <a:noFill/>
          <a:ln/>
        </p:spPr>
        <p:txBody>
          <a:bodyPr wrap="square" lIns="0" tIns="0" rIns="0" bIns="0" rtlCol="0" anchor="t"/>
          <a:lstStyle/>
          <a:p>
            <a:pPr marL="0" indent="0">
              <a:buNone/>
            </a:pPr>
            <a:r>
              <a:rPr lang="en-US" sz="1500" dirty="0">
                <a:solidFill>
                  <a:schemeClr val="bg2"/>
                </a:solidFill>
              </a:rPr>
              <a:t>Add a real countdown clock for extra pressure.</a:t>
            </a:r>
            <a:endParaRPr lang="en-US" sz="1500" dirty="0"/>
          </a:p>
        </p:txBody>
      </p:sp>
      <p:sp>
        <p:nvSpPr>
          <p:cNvPr id="23" name="Future card 5"/>
          <p:cNvSpPr/>
          <p:nvPr/>
        </p:nvSpPr>
        <p:spPr>
          <a:xfrm>
            <a:off x="4338828" y="3886200"/>
            <a:ext cx="3511296" cy="2194560"/>
          </a:xfrm>
          <a:prstGeom prst="roundRect">
            <a:avLst>
              <a:gd name="adj" fmla="val 5000"/>
            </a:avLst>
          </a:prstGeom>
          <a:solidFill>
            <a:schemeClr val="tx2"/>
          </a:solidFill>
          <a:ln/>
        </p:spPr>
      </p:sp>
      <p:sp>
        <p:nvSpPr>
          <p:cNvPr id="24" name="Future 5 circle"/>
          <p:cNvSpPr/>
          <p:nvPr/>
        </p:nvSpPr>
        <p:spPr>
          <a:xfrm>
            <a:off x="4613148" y="4160520"/>
            <a:ext cx="731520" cy="731520"/>
          </a:xfrm>
          <a:prstGeom prst="ellipse">
            <a:avLst/>
          </a:prstGeom>
          <a:solidFill>
            <a:schemeClr val="accent5"/>
          </a:solidFill>
          <a:ln/>
        </p:spPr>
      </p:sp>
      <p:pic>
        <p:nvPicPr>
          <p:cNvPr id="25" name="Future 5 icon" descr="preencoded.png"/>
          <p:cNvPicPr>
            <a:picLocks noChangeAspect="1"/>
          </p:cNvPicPr>
          <p:nvPr/>
        </p:nvPicPr>
        <p:blipFill>
          <a:blip r:embed="rId7"/>
          <a:stretch>
            <a:fillRect/>
          </a:stretch>
        </p:blipFill>
        <p:spPr>
          <a:xfrm>
            <a:off x="4796028" y="4343400"/>
            <a:ext cx="365760" cy="365760"/>
          </a:xfrm>
          <a:prstGeom prst="rect">
            <a:avLst/>
          </a:prstGeom>
        </p:spPr>
      </p:pic>
      <p:sp>
        <p:nvSpPr>
          <p:cNvPr id="26" name="Future title 5"/>
          <p:cNvSpPr txBox="1"/>
          <p:nvPr/>
        </p:nvSpPr>
        <p:spPr>
          <a:xfrm>
            <a:off x="5527548" y="4160520"/>
            <a:ext cx="2194560" cy="731520"/>
          </a:xfrm>
          <a:prstGeom prst="rect">
            <a:avLst/>
          </a:prstGeom>
          <a:noFill/>
          <a:ln/>
        </p:spPr>
        <p:txBody>
          <a:bodyPr wrap="square" lIns="0" tIns="0" rIns="0" bIns="0" rtlCol="0" anchor="ctr"/>
          <a:lstStyle/>
          <a:p>
            <a:pPr marL="0" indent="0">
              <a:buNone/>
            </a:pPr>
            <a:r>
              <a:rPr lang="en-US" sz="2000" b="1" dirty="0">
                <a:solidFill>
                  <a:schemeClr val="bg1"/>
                </a:solidFill>
              </a:rPr>
              <a:t>Two-player mode</a:t>
            </a:r>
            <a:endParaRPr lang="en-US" sz="2000" dirty="0"/>
          </a:p>
        </p:txBody>
      </p:sp>
      <p:sp>
        <p:nvSpPr>
          <p:cNvPr id="27" name="Future text 5"/>
          <p:cNvSpPr txBox="1"/>
          <p:nvPr/>
        </p:nvSpPr>
        <p:spPr>
          <a:xfrm>
            <a:off x="4613148" y="5120640"/>
            <a:ext cx="2971800" cy="822960"/>
          </a:xfrm>
          <a:prstGeom prst="rect">
            <a:avLst/>
          </a:prstGeom>
          <a:noFill/>
          <a:ln/>
        </p:spPr>
        <p:txBody>
          <a:bodyPr wrap="square" lIns="0" tIns="0" rIns="0" bIns="0" rtlCol="0" anchor="t"/>
          <a:lstStyle/>
          <a:p>
            <a:pPr marL="0" indent="0">
              <a:buNone/>
            </a:pPr>
            <a:r>
              <a:rPr lang="en-US" sz="1500" dirty="0">
                <a:solidFill>
                  <a:schemeClr val="bg2"/>
                </a:solidFill>
              </a:rPr>
              <a:t>Two detectives compete on the same case.</a:t>
            </a:r>
            <a:endParaRPr lang="en-US" sz="1500" dirty="0"/>
          </a:p>
        </p:txBody>
      </p:sp>
      <p:sp>
        <p:nvSpPr>
          <p:cNvPr id="28" name="Future card 6"/>
          <p:cNvSpPr/>
          <p:nvPr/>
        </p:nvSpPr>
        <p:spPr>
          <a:xfrm>
            <a:off x="8129016" y="3886200"/>
            <a:ext cx="3511296" cy="2194560"/>
          </a:xfrm>
          <a:prstGeom prst="roundRect">
            <a:avLst>
              <a:gd name="adj" fmla="val 5000"/>
            </a:avLst>
          </a:prstGeom>
          <a:solidFill>
            <a:schemeClr val="tx2"/>
          </a:solidFill>
          <a:ln/>
        </p:spPr>
      </p:sp>
      <p:sp>
        <p:nvSpPr>
          <p:cNvPr id="29" name="Future 6 circle"/>
          <p:cNvSpPr/>
          <p:nvPr/>
        </p:nvSpPr>
        <p:spPr>
          <a:xfrm>
            <a:off x="8403336" y="4160520"/>
            <a:ext cx="731520" cy="731520"/>
          </a:xfrm>
          <a:prstGeom prst="ellipse">
            <a:avLst/>
          </a:prstGeom>
          <a:solidFill>
            <a:schemeClr val="accent5"/>
          </a:solidFill>
          <a:ln/>
        </p:spPr>
      </p:sp>
      <p:pic>
        <p:nvPicPr>
          <p:cNvPr id="30" name="Future 6 icon" descr="preencoded.png"/>
          <p:cNvPicPr>
            <a:picLocks noChangeAspect="1"/>
          </p:cNvPicPr>
          <p:nvPr/>
        </p:nvPicPr>
        <p:blipFill>
          <a:blip r:embed="rId8"/>
          <a:stretch>
            <a:fillRect/>
          </a:stretch>
        </p:blipFill>
        <p:spPr>
          <a:xfrm>
            <a:off x="8586216" y="4343400"/>
            <a:ext cx="365760" cy="365760"/>
          </a:xfrm>
          <a:prstGeom prst="rect">
            <a:avLst/>
          </a:prstGeom>
        </p:spPr>
      </p:pic>
      <p:sp>
        <p:nvSpPr>
          <p:cNvPr id="31" name="Future title 6"/>
          <p:cNvSpPr txBox="1"/>
          <p:nvPr/>
        </p:nvSpPr>
        <p:spPr>
          <a:xfrm>
            <a:off x="9317736" y="4160520"/>
            <a:ext cx="2194560" cy="731520"/>
          </a:xfrm>
          <a:prstGeom prst="rect">
            <a:avLst/>
          </a:prstGeom>
          <a:noFill/>
          <a:ln/>
        </p:spPr>
        <p:txBody>
          <a:bodyPr wrap="square" lIns="0" tIns="0" rIns="0" bIns="0" rtlCol="0" anchor="ctr"/>
          <a:lstStyle/>
          <a:p>
            <a:pPr marL="0" indent="0">
              <a:buNone/>
            </a:pPr>
            <a:r>
              <a:rPr lang="en-US" sz="2000" b="1" dirty="0">
                <a:solidFill>
                  <a:schemeClr val="bg1"/>
                </a:solidFill>
              </a:rPr>
              <a:t>Random culprit</a:t>
            </a:r>
            <a:endParaRPr lang="en-US" sz="2000" dirty="0"/>
          </a:p>
        </p:txBody>
      </p:sp>
      <p:sp>
        <p:nvSpPr>
          <p:cNvPr id="32" name="Future text 6"/>
          <p:cNvSpPr txBox="1"/>
          <p:nvPr/>
        </p:nvSpPr>
        <p:spPr>
          <a:xfrm>
            <a:off x="8403336" y="5120640"/>
            <a:ext cx="2971800" cy="822960"/>
          </a:xfrm>
          <a:prstGeom prst="rect">
            <a:avLst/>
          </a:prstGeom>
          <a:noFill/>
          <a:ln/>
        </p:spPr>
        <p:txBody>
          <a:bodyPr wrap="square" lIns="0" tIns="0" rIns="0" bIns="0" rtlCol="0" anchor="t"/>
          <a:lstStyle/>
          <a:p>
            <a:pPr marL="0" indent="0">
              <a:buNone/>
            </a:pPr>
            <a:r>
              <a:rPr lang="en-US" sz="1500" dirty="0">
                <a:solidFill>
                  <a:schemeClr val="bg2"/>
                </a:solidFill>
              </a:rPr>
              <a:t>A different thief in every new game.</a:t>
            </a:r>
            <a:endParaRPr lang="en-US" sz="1500" dirty="0"/>
          </a:p>
        </p:txBody>
      </p:sp>
      <p:sp>
        <p:nvSpPr>
          <p:cNvPr id="33"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600" b="1" dirty="0">
                <a:solidFill>
                  <a:schemeClr val="bg1"/>
                </a:solidFill>
              </a:rPr>
              <a:t>Conclusion</a:t>
            </a:r>
            <a:endParaRPr lang="en-US" sz="3600" dirty="0"/>
          </a:p>
        </p:txBody>
      </p:sp>
      <p:sp>
        <p:nvSpPr>
          <p:cNvPr id="3" name="Conclusion card 1"/>
          <p:cNvSpPr/>
          <p:nvPr/>
        </p:nvSpPr>
        <p:spPr>
          <a:xfrm>
            <a:off x="548640" y="1508760"/>
            <a:ext cx="3511296" cy="3291840"/>
          </a:xfrm>
          <a:prstGeom prst="roundRect">
            <a:avLst>
              <a:gd name="adj" fmla="val 3333"/>
            </a:avLst>
          </a:prstGeom>
          <a:solidFill>
            <a:schemeClr val="accent5"/>
          </a:solidFill>
          <a:ln/>
        </p:spPr>
      </p:sp>
      <p:sp>
        <p:nvSpPr>
          <p:cNvPr id="4" name="Conclusion 1 circle"/>
          <p:cNvSpPr/>
          <p:nvPr/>
        </p:nvSpPr>
        <p:spPr>
          <a:xfrm>
            <a:off x="822960" y="1783080"/>
            <a:ext cx="777240" cy="777240"/>
          </a:xfrm>
          <a:prstGeom prst="ellipse">
            <a:avLst/>
          </a:prstGeom>
          <a:solidFill>
            <a:schemeClr val="tx2"/>
          </a:solidFill>
          <a:ln/>
        </p:spPr>
      </p:sp>
      <p:pic>
        <p:nvPicPr>
          <p:cNvPr id="5" name="Conclusion 1 icon" descr="preencoded.png"/>
          <p:cNvPicPr>
            <a:picLocks noChangeAspect="1"/>
          </p:cNvPicPr>
          <p:nvPr/>
        </p:nvPicPr>
        <p:blipFill>
          <a:blip r:embed="rId3"/>
          <a:stretch>
            <a:fillRect/>
          </a:stretch>
        </p:blipFill>
        <p:spPr>
          <a:xfrm>
            <a:off x="1017270" y="1977390"/>
            <a:ext cx="388620" cy="388620"/>
          </a:xfrm>
          <a:prstGeom prst="rect">
            <a:avLst/>
          </a:prstGeom>
        </p:spPr>
      </p:pic>
      <p:sp>
        <p:nvSpPr>
          <p:cNvPr id="6" name="Conclusion title 1"/>
          <p:cNvSpPr txBox="1"/>
          <p:nvPr/>
        </p:nvSpPr>
        <p:spPr>
          <a:xfrm>
            <a:off x="1828800" y="1783080"/>
            <a:ext cx="2103120" cy="777240"/>
          </a:xfrm>
          <a:prstGeom prst="rect">
            <a:avLst/>
          </a:prstGeom>
          <a:noFill/>
          <a:ln/>
        </p:spPr>
        <p:txBody>
          <a:bodyPr wrap="square" lIns="0" tIns="0" rIns="0" bIns="0" rtlCol="0" anchor="ctr"/>
          <a:lstStyle/>
          <a:p>
            <a:pPr marL="0" indent="0">
              <a:buNone/>
            </a:pPr>
            <a:r>
              <a:rPr lang="en-US" sz="2000" b="1" dirty="0">
                <a:solidFill>
                  <a:schemeClr val="accent1"/>
                </a:solidFill>
              </a:rPr>
              <a:t>What we built</a:t>
            </a:r>
            <a:endParaRPr lang="en-US" sz="2000" dirty="0"/>
          </a:p>
        </p:txBody>
      </p:sp>
      <p:sp>
        <p:nvSpPr>
          <p:cNvPr id="7" name="Conclusion bullets 1"/>
          <p:cNvSpPr txBox="1"/>
          <p:nvPr/>
        </p:nvSpPr>
        <p:spPr>
          <a:xfrm>
            <a:off x="822960" y="2788920"/>
            <a:ext cx="30175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A complete detective game in one Python file</a:t>
            </a:r>
            <a:endParaRPr lang="en-US" sz="1500" dirty="0"/>
          </a:p>
          <a:p>
            <a:pPr marL="342900" indent="-342900">
              <a:spcAft>
                <a:spcPts val="800"/>
              </a:spcAft>
              <a:buSzPct val="100000"/>
              <a:buChar char="•"/>
            </a:pPr>
            <a:r>
              <a:rPr lang="en-US" sz="1500" dirty="0">
                <a:solidFill>
                  <a:schemeClr val="bg1"/>
                </a:solidFill>
              </a:rPr>
              <a:t>4 cases, 3 levels and a hint system</a:t>
            </a:r>
            <a:endParaRPr lang="en-US" sz="1500" dirty="0"/>
          </a:p>
          <a:p>
            <a:pPr marL="342900" indent="-342900">
              <a:spcAft>
                <a:spcPts val="800"/>
              </a:spcAft>
              <a:buSzPct val="100000"/>
              <a:buChar char="•"/>
            </a:pPr>
            <a:r>
              <a:rPr lang="en-US" sz="1500" dirty="0">
                <a:solidFill>
                  <a:schemeClr val="bg1"/>
                </a:solidFill>
              </a:rPr>
              <a:t>Clean window with notebook and live score</a:t>
            </a:r>
            <a:endParaRPr lang="en-US" sz="1500" dirty="0"/>
          </a:p>
        </p:txBody>
      </p:sp>
      <p:sp>
        <p:nvSpPr>
          <p:cNvPr id="8" name="Conclusion card 2"/>
          <p:cNvSpPr/>
          <p:nvPr/>
        </p:nvSpPr>
        <p:spPr>
          <a:xfrm>
            <a:off x="4338828" y="1508760"/>
            <a:ext cx="3511296" cy="3291840"/>
          </a:xfrm>
          <a:prstGeom prst="roundRect">
            <a:avLst>
              <a:gd name="adj" fmla="val 3333"/>
            </a:avLst>
          </a:prstGeom>
          <a:solidFill>
            <a:schemeClr val="accent5"/>
          </a:solidFill>
          <a:ln/>
        </p:spPr>
      </p:sp>
      <p:sp>
        <p:nvSpPr>
          <p:cNvPr id="9" name="Conclusion 2 circle"/>
          <p:cNvSpPr/>
          <p:nvPr/>
        </p:nvSpPr>
        <p:spPr>
          <a:xfrm>
            <a:off x="4613148" y="1783080"/>
            <a:ext cx="777240" cy="777240"/>
          </a:xfrm>
          <a:prstGeom prst="ellipse">
            <a:avLst/>
          </a:prstGeom>
          <a:solidFill>
            <a:schemeClr val="tx2"/>
          </a:solidFill>
          <a:ln/>
        </p:spPr>
      </p:sp>
      <p:pic>
        <p:nvPicPr>
          <p:cNvPr id="10" name="Conclusion 2 icon" descr="preencoded.png"/>
          <p:cNvPicPr>
            <a:picLocks noChangeAspect="1"/>
          </p:cNvPicPr>
          <p:nvPr/>
        </p:nvPicPr>
        <p:blipFill>
          <a:blip r:embed="rId4"/>
          <a:stretch>
            <a:fillRect/>
          </a:stretch>
        </p:blipFill>
        <p:spPr>
          <a:xfrm>
            <a:off x="4807458" y="1977390"/>
            <a:ext cx="388620" cy="388620"/>
          </a:xfrm>
          <a:prstGeom prst="rect">
            <a:avLst/>
          </a:prstGeom>
        </p:spPr>
      </p:pic>
      <p:sp>
        <p:nvSpPr>
          <p:cNvPr id="11" name="Conclusion title 2"/>
          <p:cNvSpPr txBox="1"/>
          <p:nvPr/>
        </p:nvSpPr>
        <p:spPr>
          <a:xfrm>
            <a:off x="5618988" y="1783080"/>
            <a:ext cx="2103120" cy="777240"/>
          </a:xfrm>
          <a:prstGeom prst="rect">
            <a:avLst/>
          </a:prstGeom>
          <a:noFill/>
          <a:ln/>
        </p:spPr>
        <p:txBody>
          <a:bodyPr wrap="square" lIns="0" tIns="0" rIns="0" bIns="0" rtlCol="0" anchor="ctr"/>
          <a:lstStyle/>
          <a:p>
            <a:pPr marL="0" indent="0">
              <a:buNone/>
            </a:pPr>
            <a:r>
              <a:rPr lang="en-US" sz="2000" b="1" dirty="0">
                <a:solidFill>
                  <a:schemeClr val="accent1"/>
                </a:solidFill>
              </a:rPr>
              <a:t>What we learned</a:t>
            </a:r>
            <a:endParaRPr lang="en-US" sz="2000" dirty="0"/>
          </a:p>
        </p:txBody>
      </p:sp>
      <p:sp>
        <p:nvSpPr>
          <p:cNvPr id="12" name="Conclusion bullets 2"/>
          <p:cNvSpPr txBox="1"/>
          <p:nvPr/>
        </p:nvSpPr>
        <p:spPr>
          <a:xfrm>
            <a:off x="4613148" y="2788920"/>
            <a:ext cx="30175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Dictionaries, lists, functions and loops</a:t>
            </a:r>
            <a:endParaRPr lang="en-US" sz="1500" dirty="0"/>
          </a:p>
          <a:p>
            <a:pPr marL="342900" indent="-342900">
              <a:spcAft>
                <a:spcPts val="800"/>
              </a:spcAft>
              <a:buSzPct val="100000"/>
              <a:buChar char="•"/>
            </a:pPr>
            <a:r>
              <a:rPr lang="en-US" sz="1500" dirty="0">
                <a:solidFill>
                  <a:schemeClr val="bg1"/>
                </a:solidFill>
              </a:rPr>
              <a:t>Building a GUI with tkinter</a:t>
            </a:r>
            <a:endParaRPr lang="en-US" sz="1500" dirty="0"/>
          </a:p>
          <a:p>
            <a:pPr marL="342900" indent="-342900">
              <a:spcAft>
                <a:spcPts val="800"/>
              </a:spcAft>
              <a:buSzPct val="100000"/>
              <a:buChar char="•"/>
            </a:pPr>
            <a:r>
              <a:rPr lang="en-US" sz="1500" dirty="0">
                <a:solidFill>
                  <a:schemeClr val="bg1"/>
                </a:solidFill>
              </a:rPr>
              <a:t>Testing and fixing a real program</a:t>
            </a:r>
            <a:endParaRPr lang="en-US" sz="1500" dirty="0"/>
          </a:p>
        </p:txBody>
      </p:sp>
      <p:sp>
        <p:nvSpPr>
          <p:cNvPr id="13" name="Conclusion card 3"/>
          <p:cNvSpPr/>
          <p:nvPr/>
        </p:nvSpPr>
        <p:spPr>
          <a:xfrm>
            <a:off x="8129016" y="1508760"/>
            <a:ext cx="3511296" cy="3291840"/>
          </a:xfrm>
          <a:prstGeom prst="roundRect">
            <a:avLst>
              <a:gd name="adj" fmla="val 3333"/>
            </a:avLst>
          </a:prstGeom>
          <a:solidFill>
            <a:schemeClr val="accent5"/>
          </a:solidFill>
          <a:ln/>
        </p:spPr>
      </p:sp>
      <p:sp>
        <p:nvSpPr>
          <p:cNvPr id="14" name="Conclusion 3 circle"/>
          <p:cNvSpPr/>
          <p:nvPr/>
        </p:nvSpPr>
        <p:spPr>
          <a:xfrm>
            <a:off x="8403336" y="1783080"/>
            <a:ext cx="777240" cy="777240"/>
          </a:xfrm>
          <a:prstGeom prst="ellipse">
            <a:avLst/>
          </a:prstGeom>
          <a:solidFill>
            <a:schemeClr val="tx2"/>
          </a:solidFill>
          <a:ln/>
        </p:spPr>
      </p:sp>
      <p:pic>
        <p:nvPicPr>
          <p:cNvPr id="15" name="Conclusion 3 icon" descr="preencoded.png"/>
          <p:cNvPicPr>
            <a:picLocks noChangeAspect="1"/>
          </p:cNvPicPr>
          <p:nvPr/>
        </p:nvPicPr>
        <p:blipFill>
          <a:blip r:embed="rId5"/>
          <a:stretch>
            <a:fillRect/>
          </a:stretch>
        </p:blipFill>
        <p:spPr>
          <a:xfrm>
            <a:off x="8597646" y="1977390"/>
            <a:ext cx="388620" cy="388620"/>
          </a:xfrm>
          <a:prstGeom prst="rect">
            <a:avLst/>
          </a:prstGeom>
        </p:spPr>
      </p:pic>
      <p:sp>
        <p:nvSpPr>
          <p:cNvPr id="16" name="Conclusion title 3"/>
          <p:cNvSpPr txBox="1"/>
          <p:nvPr/>
        </p:nvSpPr>
        <p:spPr>
          <a:xfrm>
            <a:off x="9409176" y="1783080"/>
            <a:ext cx="2103120" cy="777240"/>
          </a:xfrm>
          <a:prstGeom prst="rect">
            <a:avLst/>
          </a:prstGeom>
          <a:noFill/>
          <a:ln/>
        </p:spPr>
        <p:txBody>
          <a:bodyPr wrap="square" lIns="0" tIns="0" rIns="0" bIns="0" rtlCol="0" anchor="ctr"/>
          <a:lstStyle/>
          <a:p>
            <a:pPr marL="0" indent="0">
              <a:buNone/>
            </a:pPr>
            <a:r>
              <a:rPr lang="en-US" sz="2000" b="1" dirty="0">
                <a:solidFill>
                  <a:schemeClr val="accent1"/>
                </a:solidFill>
              </a:rPr>
              <a:t>Result</a:t>
            </a:r>
            <a:endParaRPr lang="en-US" sz="2000" dirty="0"/>
          </a:p>
        </p:txBody>
      </p:sp>
      <p:sp>
        <p:nvSpPr>
          <p:cNvPr id="17" name="Conclusion bullets 3"/>
          <p:cNvSpPr txBox="1"/>
          <p:nvPr/>
        </p:nvSpPr>
        <p:spPr>
          <a:xfrm>
            <a:off x="8403336" y="2788920"/>
            <a:ext cx="301752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All 4 project objectives achieved</a:t>
            </a:r>
            <a:endParaRPr lang="en-US" sz="1500" dirty="0"/>
          </a:p>
          <a:p>
            <a:pPr marL="342900" indent="-342900">
              <a:spcAft>
                <a:spcPts val="800"/>
              </a:spcAft>
              <a:buSzPct val="100000"/>
              <a:buChar char="•"/>
            </a:pPr>
            <a:r>
              <a:rPr lang="en-US" sz="1500" dirty="0">
                <a:solidFill>
                  <a:schemeClr val="bg1"/>
                </a:solidFill>
              </a:rPr>
              <a:t>9 of 9 test cases passed</a:t>
            </a:r>
            <a:endParaRPr lang="en-US" sz="1500" dirty="0"/>
          </a:p>
          <a:p>
            <a:pPr marL="342900" indent="-342900">
              <a:spcAft>
                <a:spcPts val="800"/>
              </a:spcAft>
              <a:buSzPct val="100000"/>
              <a:buChar char="•"/>
            </a:pPr>
            <a:r>
              <a:rPr lang="en-US" sz="1500" dirty="0">
                <a:solidFill>
                  <a:schemeClr val="bg1"/>
                </a:solidFill>
              </a:rPr>
              <a:t>Easy to extend with new cases</a:t>
            </a:r>
            <a:endParaRPr lang="en-US" sz="1500" dirty="0"/>
          </a:p>
        </p:txBody>
      </p:sp>
      <p:sp>
        <p:nvSpPr>
          <p:cNvPr id="18" name="Closing line"/>
          <p:cNvSpPr txBox="1"/>
          <p:nvPr/>
        </p:nvSpPr>
        <p:spPr>
          <a:xfrm>
            <a:off x="548640" y="5212080"/>
            <a:ext cx="11091672" cy="731520"/>
          </a:xfrm>
          <a:prstGeom prst="rect">
            <a:avLst/>
          </a:prstGeom>
          <a:noFill/>
          <a:ln/>
        </p:spPr>
        <p:txBody>
          <a:bodyPr wrap="square" lIns="0" tIns="0" rIns="0" bIns="0" rtlCol="0" anchor="ctr"/>
          <a:lstStyle/>
          <a:p>
            <a:pPr marL="0" indent="0" algn="ctr">
              <a:buNone/>
            </a:pPr>
            <a:r>
              <a:rPr lang="en-US" sz="2400" i="1" dirty="0">
                <a:solidFill>
                  <a:schemeClr val="accent1"/>
                </a:solidFill>
              </a:rPr>
              <a:t>MysteryBox turns basic Python concepts into a game people enjoy playing.</a:t>
            </a:r>
            <a:endParaRPr lang="en-US" sz="2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6583680" cy="1371600"/>
          </a:xfrm>
          <a:prstGeom prst="rect">
            <a:avLst/>
          </a:prstGeom>
          <a:noFill/>
          <a:ln/>
        </p:spPr>
        <p:txBody>
          <a:bodyPr wrap="square" lIns="0" tIns="0" rIns="0" bIns="0" rtlCol="0" anchor="b"/>
          <a:lstStyle/>
          <a:p>
            <a:pPr marL="0" indent="0" algn="l">
              <a:buNone/>
            </a:pPr>
            <a:r>
              <a:rPr lang="en-US" sz="6400" b="1" dirty="0">
                <a:solidFill>
                  <a:schemeClr val="bg1"/>
                </a:solidFill>
              </a:rPr>
              <a:t>Thank You</a:t>
            </a:r>
            <a:endParaRPr lang="en-US" sz="6400" dirty="0"/>
          </a:p>
        </p:txBody>
      </p:sp>
      <p:sp>
        <p:nvSpPr>
          <p:cNvPr id="3" name="Text 0"/>
          <p:cNvSpPr>
            <a:spLocks noGrp="1"/>
          </p:cNvSpPr>
          <p:nvPr>
            <p:ph type="body" idx="101" hasCustomPrompt="1"/>
          </p:nvPr>
        </p:nvSpPr>
        <p:spPr>
          <a:xfrm>
            <a:off x="731520" y="3246120"/>
            <a:ext cx="6400800" cy="822960"/>
          </a:xfrm>
          <a:prstGeom prst="rect">
            <a:avLst/>
          </a:prstGeom>
          <a:noFill/>
          <a:ln/>
        </p:spPr>
        <p:txBody>
          <a:bodyPr wrap="square" lIns="0" tIns="0" rIns="0" bIns="0" rtlCol="0" anchor="t"/>
          <a:lstStyle/>
          <a:p>
            <a:pPr marL="0" indent="0" algn="l">
              <a:buNone/>
            </a:pPr>
            <a:r>
              <a:rPr lang="en-US" sz="2800" dirty="0">
                <a:solidFill>
                  <a:schemeClr val="accent1"/>
                </a:solidFill>
              </a:rPr>
              <a:t>Any questions?</a:t>
            </a:r>
            <a:endParaRPr lang="en-US" sz="2800" dirty="0"/>
          </a:p>
        </p:txBody>
      </p:sp>
      <p:sp>
        <p:nvSpPr>
          <p:cNvPr id="4" name="Closing project line"/>
          <p:cNvSpPr txBox="1"/>
          <p:nvPr/>
        </p:nvSpPr>
        <p:spPr>
          <a:xfrm>
            <a:off x="731520" y="4160520"/>
            <a:ext cx="6400800" cy="365760"/>
          </a:xfrm>
          <a:prstGeom prst="rect">
            <a:avLst/>
          </a:prstGeom>
          <a:noFill/>
          <a:ln/>
        </p:spPr>
        <p:txBody>
          <a:bodyPr wrap="square" lIns="0" tIns="0" rIns="0" bIns="0" rtlCol="0" anchor="t"/>
          <a:lstStyle/>
          <a:p>
            <a:pPr marL="0" indent="0">
              <a:buNone/>
            </a:pPr>
            <a:r>
              <a:rPr lang="en-US" sz="1800" dirty="0">
                <a:solidFill>
                  <a:schemeClr val="bg2"/>
                </a:solidFill>
              </a:rPr>
              <a:t>MysteryBox  |  Python Mini Project</a:t>
            </a:r>
            <a:endParaRPr lang="en-US" sz="1800" dirty="0"/>
          </a:p>
        </p:txBody>
      </p:sp>
      <p:sp>
        <p:nvSpPr>
          <p:cNvPr id="5" name="Closing hero circle"/>
          <p:cNvSpPr/>
          <p:nvPr/>
        </p:nvSpPr>
        <p:spPr>
          <a:xfrm>
            <a:off x="7589520" y="1234440"/>
            <a:ext cx="4114800" cy="4114800"/>
          </a:xfrm>
          <a:prstGeom prst="ellipse">
            <a:avLst/>
          </a:prstGeom>
          <a:solidFill>
            <a:schemeClr val="accent5"/>
          </a:solidFill>
          <a:ln/>
        </p:spPr>
      </p:sp>
      <p:pic>
        <p:nvPicPr>
          <p:cNvPr id="6" name="Closing gem" descr="preencoded.png"/>
          <p:cNvPicPr>
            <a:picLocks noChangeAspect="1"/>
          </p:cNvPicPr>
          <p:nvPr/>
        </p:nvPicPr>
        <p:blipFill>
          <a:blip r:embed="rId3"/>
          <a:stretch>
            <a:fillRect/>
          </a:stretch>
        </p:blipFill>
        <p:spPr>
          <a:xfrm>
            <a:off x="8732520" y="2377440"/>
            <a:ext cx="1828800" cy="1828800"/>
          </a:xfrm>
          <a:prstGeom prst="rect">
            <a:avLst/>
          </a:prstGeom>
        </p:spPr>
      </p:pic>
    </p:spTree>
  </p:cSld>
  <p:clrMapOvr>
    <a:masterClrMapping/>
  </p:clrMapOvr>
</p:sld>
</file>

<file path=ppt/theme/theme1.xml><?xml version="1.0" encoding="utf-8"?>
<a:theme xmlns:a="http://schemas.openxmlformats.org/drawingml/2006/main" name="MysteryBox Noir">
  <a:themeElements>
    <a:clrScheme name="MysteryBox Noir">
      <a:dk1>
        <a:srgbClr val="1D2140"/>
      </a:dk1>
      <a:lt1>
        <a:srgbClr val="FFFFFF"/>
      </a:lt1>
      <a:dk2>
        <a:srgbClr val="141831"/>
      </a:dk2>
      <a:lt2>
        <a:srgbClr val="F3F4FA"/>
      </a:lt2>
      <a:accent1>
        <a:srgbClr val="F2B632"/>
      </a:accent1>
      <a:accent2>
        <a:srgbClr val="D6485A"/>
      </a:accent2>
      <a:accent3>
        <a:srgbClr val="3FBF8A"/>
      </a:accent3>
      <a:accent4>
        <a:srgbClr val="5B8DEF"/>
      </a:accent4>
      <a:accent5>
        <a:srgbClr val="2B3157"/>
      </a:accent5>
      <a:accent6>
        <a:srgbClr val="6B7194"/>
      </a:accent6>
      <a:hlink>
        <a:srgbClr val="5B8DEF"/>
      </a:hlink>
      <a:folHlink>
        <a:srgbClr val="6B7194"/>
      </a:folHlink>
    </a:clrScheme>
    <a:fontScheme name="MysteryBox Noi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3148</Words>
  <Application>Microsoft Office PowerPoint</Application>
  <PresentationFormat>Widescreen</PresentationFormat>
  <Paragraphs>434</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MysteryBox Noir</vt:lpstr>
      <vt:lpstr>MysteryBox</vt:lpstr>
      <vt:lpstr>About</vt:lpstr>
      <vt:lpstr>What is MysteryBox?</vt:lpstr>
      <vt:lpstr>Project objectives</vt:lpstr>
      <vt:lpstr>Tools and Python concepts</vt:lpstr>
      <vt:lpstr>Four mystery cases</vt:lpstr>
      <vt:lpstr>Example: The Missing Blue Diamond</vt:lpstr>
      <vt:lpstr>How the game works</vt:lpstr>
      <vt:lpstr>Three difficulty levels</vt:lpstr>
      <vt:lpstr>How clues unlock each other</vt:lpstr>
      <vt:lpstr>Program structure: 5 simple parts</vt:lpstr>
      <vt:lpstr>Key functions</vt:lpstr>
      <vt:lpstr>Python concepts in the code</vt:lpstr>
      <vt:lpstr>Core logic: unlocking a clue</vt:lpstr>
      <vt:lpstr>Scoring system and ranks</vt:lpstr>
      <vt:lpstr>Game screenshots</vt:lpstr>
      <vt:lpstr>Testing the game</vt:lpstr>
      <vt:lpstr>Future scope</vt:lpstr>
      <vt:lpstr>Conclusion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MysteryBox - Interactive Detective Game</dc:title>
  <dc:subject>PptxGenJS Presentation</dc:subject>
  <dc:creator>Python Mini Project</dc:creator>
  <cp:lastModifiedBy>Megha Suthar</cp:lastModifiedBy>
  <cp:revision>2</cp:revision>
  <dcterms:created xsi:type="dcterms:W3CDTF">2026-10-21T06:52:44Z</dcterms:created>
  <dcterms:modified xsi:type="dcterms:W3CDTF">2026-10-26T10:40:08Z</dcterms:modified>
</cp:coreProperties>
</file>